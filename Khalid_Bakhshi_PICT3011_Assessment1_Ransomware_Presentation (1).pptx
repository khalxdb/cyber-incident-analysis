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4"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723D88-9A54-4064-B033-A9DD8188473A}" v="224" dt="2026-09-15T12:03:46.1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29" autoAdjust="0"/>
    <p:restoredTop sz="93831" autoAdjust="0"/>
  </p:normalViewPr>
  <p:slideViewPr>
    <p:cSldViewPr>
      <p:cViewPr varScale="1">
        <p:scale>
          <a:sx n="67" d="100"/>
          <a:sy n="67" d="100"/>
        </p:scale>
        <p:origin x="1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alid Bakhshi" userId="f1e8cb38fe6bba3e" providerId="LiveId" clId="{9906BF5C-B375-4E04-A86C-65A9BB9DF913}"/>
    <pc:docChg chg="undo custSel addSld delSld modSld">
      <pc:chgData name="Khalid Bakhshi" userId="f1e8cb38fe6bba3e" providerId="LiveId" clId="{9906BF5C-B375-4E04-A86C-65A9BB9DF913}" dt="2026-09-15T12:03:49.128" v="14233" actId="2696"/>
      <pc:docMkLst>
        <pc:docMk/>
      </pc:docMkLst>
      <pc:sldChg chg="addSp modSp mod">
        <pc:chgData name="Khalid Bakhshi" userId="f1e8cb38fe6bba3e" providerId="LiveId" clId="{9906BF5C-B375-4E04-A86C-65A9BB9DF913}" dt="2026-09-15T12:03:32.050" v="14231" actId="122"/>
        <pc:sldMkLst>
          <pc:docMk/>
          <pc:sldMk cId="1638047083" sldId="256"/>
        </pc:sldMkLst>
        <pc:spChg chg="mod">
          <ac:chgData name="Khalid Bakhshi" userId="f1e8cb38fe6bba3e" providerId="LiveId" clId="{9906BF5C-B375-4E04-A86C-65A9BB9DF913}" dt="2026-09-15T11:53:55.151" v="14228" actId="313"/>
          <ac:spMkLst>
            <pc:docMk/>
            <pc:sldMk cId="1638047083" sldId="256"/>
            <ac:spMk id="3" creationId="{E514F19C-62D8-D6F2-DC39-C490C7255BBF}"/>
          </ac:spMkLst>
        </pc:spChg>
        <pc:spChg chg="add mod">
          <ac:chgData name="Khalid Bakhshi" userId="f1e8cb38fe6bba3e" providerId="LiveId" clId="{9906BF5C-B375-4E04-A86C-65A9BB9DF913}" dt="2026-09-15T12:03:32.050" v="14231" actId="122"/>
          <ac:spMkLst>
            <pc:docMk/>
            <pc:sldMk cId="1638047083" sldId="256"/>
            <ac:spMk id="9" creationId="{9471A819-ABA8-36F5-6AAF-83C8BB1624BC}"/>
          </ac:spMkLst>
        </pc:spChg>
      </pc:sldChg>
      <pc:sldChg chg="modNotesTx">
        <pc:chgData name="Khalid Bakhshi" userId="f1e8cb38fe6bba3e" providerId="LiveId" clId="{9906BF5C-B375-4E04-A86C-65A9BB9DF913}" dt="2026-09-15T11:30:33.380" v="13152" actId="20577"/>
        <pc:sldMkLst>
          <pc:docMk/>
          <pc:sldMk cId="3596930193" sldId="257"/>
        </pc:sldMkLst>
      </pc:sldChg>
      <pc:sldChg chg="modSp mod modNotesTx">
        <pc:chgData name="Khalid Bakhshi" userId="f1e8cb38fe6bba3e" providerId="LiveId" clId="{9906BF5C-B375-4E04-A86C-65A9BB9DF913}" dt="2026-09-15T11:32:43.581" v="13167" actId="20577"/>
        <pc:sldMkLst>
          <pc:docMk/>
          <pc:sldMk cId="3072638782" sldId="258"/>
        </pc:sldMkLst>
        <pc:spChg chg="mod">
          <ac:chgData name="Khalid Bakhshi" userId="f1e8cb38fe6bba3e" providerId="LiveId" clId="{9906BF5C-B375-4E04-A86C-65A9BB9DF913}" dt="2026-09-15T08:59:32.513" v="13126" actId="1076"/>
          <ac:spMkLst>
            <pc:docMk/>
            <pc:sldMk cId="3072638782" sldId="258"/>
            <ac:spMk id="2" creationId="{8DAF2A22-0FF2-D06D-87B4-8E45FAD97797}"/>
          </ac:spMkLst>
        </pc:spChg>
      </pc:sldChg>
      <pc:sldChg chg="modNotesTx">
        <pc:chgData name="Khalid Bakhshi" userId="f1e8cb38fe6bba3e" providerId="LiveId" clId="{9906BF5C-B375-4E04-A86C-65A9BB9DF913}" dt="2026-09-15T11:34:24.790" v="13180" actId="20577"/>
        <pc:sldMkLst>
          <pc:docMk/>
          <pc:sldMk cId="2656610729" sldId="259"/>
        </pc:sldMkLst>
      </pc:sldChg>
      <pc:sldChg chg="modSp mod modNotesTx">
        <pc:chgData name="Khalid Bakhshi" userId="f1e8cb38fe6bba3e" providerId="LiveId" clId="{9906BF5C-B375-4E04-A86C-65A9BB9DF913}" dt="2026-09-15T11:35:40.527" v="13194" actId="20577"/>
        <pc:sldMkLst>
          <pc:docMk/>
          <pc:sldMk cId="136748415" sldId="260"/>
        </pc:sldMkLst>
        <pc:graphicFrameChg chg="modGraphic">
          <ac:chgData name="Khalid Bakhshi" userId="f1e8cb38fe6bba3e" providerId="LiveId" clId="{9906BF5C-B375-4E04-A86C-65A9BB9DF913}" dt="2026-09-15T03:40:07.996" v="828" actId="13926"/>
          <ac:graphicFrameMkLst>
            <pc:docMk/>
            <pc:sldMk cId="136748415" sldId="260"/>
            <ac:graphicFrameMk id="4" creationId="{4F661679-66EF-0174-6041-5E486885B4EA}"/>
          </ac:graphicFrameMkLst>
        </pc:graphicFrameChg>
      </pc:sldChg>
      <pc:sldChg chg="modSp mod modNotesTx">
        <pc:chgData name="Khalid Bakhshi" userId="f1e8cb38fe6bba3e" providerId="LiveId" clId="{9906BF5C-B375-4E04-A86C-65A9BB9DF913}" dt="2026-09-15T11:36:56.199" v="13222" actId="20577"/>
        <pc:sldMkLst>
          <pc:docMk/>
          <pc:sldMk cId="2774720799" sldId="261"/>
        </pc:sldMkLst>
        <pc:spChg chg="mod">
          <ac:chgData name="Khalid Bakhshi" userId="f1e8cb38fe6bba3e" providerId="LiveId" clId="{9906BF5C-B375-4E04-A86C-65A9BB9DF913}" dt="2026-09-15T04:18:57.295" v="2596" actId="20577"/>
          <ac:spMkLst>
            <pc:docMk/>
            <pc:sldMk cId="2774720799" sldId="261"/>
            <ac:spMk id="13" creationId="{EF20FB1A-030F-EA6B-5614-18C239668F5F}"/>
          </ac:spMkLst>
        </pc:spChg>
      </pc:sldChg>
      <pc:sldChg chg="modSp mod modNotesTx">
        <pc:chgData name="Khalid Bakhshi" userId="f1e8cb38fe6bba3e" providerId="LiveId" clId="{9906BF5C-B375-4E04-A86C-65A9BB9DF913}" dt="2026-09-15T11:38:17.785" v="13266" actId="20577"/>
        <pc:sldMkLst>
          <pc:docMk/>
          <pc:sldMk cId="35044360" sldId="262"/>
        </pc:sldMkLst>
        <pc:spChg chg="mod">
          <ac:chgData name="Khalid Bakhshi" userId="f1e8cb38fe6bba3e" providerId="LiveId" clId="{9906BF5C-B375-4E04-A86C-65A9BB9DF913}" dt="2026-09-15T04:15:45.879" v="2471" actId="113"/>
          <ac:spMkLst>
            <pc:docMk/>
            <pc:sldMk cId="35044360" sldId="262"/>
            <ac:spMk id="2" creationId="{817AFFD5-0DD7-ED9D-965F-1D2181D7D192}"/>
          </ac:spMkLst>
        </pc:spChg>
        <pc:spChg chg="mod">
          <ac:chgData name="Khalid Bakhshi" userId="f1e8cb38fe6bba3e" providerId="LiveId" clId="{9906BF5C-B375-4E04-A86C-65A9BB9DF913}" dt="2026-09-15T08:52:43.156" v="12748" actId="20577"/>
          <ac:spMkLst>
            <pc:docMk/>
            <pc:sldMk cId="35044360" sldId="262"/>
            <ac:spMk id="7" creationId="{F94EBFE6-D7C7-FAA2-73CE-680F65203B19}"/>
          </ac:spMkLst>
        </pc:spChg>
        <pc:spChg chg="mod">
          <ac:chgData name="Khalid Bakhshi" userId="f1e8cb38fe6bba3e" providerId="LiveId" clId="{9906BF5C-B375-4E04-A86C-65A9BB9DF913}" dt="2026-09-15T08:23:31.591" v="12516" actId="20577"/>
          <ac:spMkLst>
            <pc:docMk/>
            <pc:sldMk cId="35044360" sldId="262"/>
            <ac:spMk id="8" creationId="{36EAEDCD-FA0C-B791-500E-A8142E0AF974}"/>
          </ac:spMkLst>
        </pc:spChg>
      </pc:sldChg>
      <pc:sldChg chg="addSp delSp modSp mod modNotesTx">
        <pc:chgData name="Khalid Bakhshi" userId="f1e8cb38fe6bba3e" providerId="LiveId" clId="{9906BF5C-B375-4E04-A86C-65A9BB9DF913}" dt="2026-09-15T11:38:56.625" v="13277" actId="20577"/>
        <pc:sldMkLst>
          <pc:docMk/>
          <pc:sldMk cId="585689926" sldId="263"/>
        </pc:sldMkLst>
        <pc:spChg chg="mod">
          <ac:chgData name="Khalid Bakhshi" userId="f1e8cb38fe6bba3e" providerId="LiveId" clId="{9906BF5C-B375-4E04-A86C-65A9BB9DF913}" dt="2026-09-15T03:26:00.048" v="61" actId="1076"/>
          <ac:spMkLst>
            <pc:docMk/>
            <pc:sldMk cId="585689926" sldId="263"/>
            <ac:spMk id="2" creationId="{F61577B9-26F0-187D-5BD8-BB4C1AE3AD7D}"/>
          </ac:spMkLst>
        </pc:spChg>
        <pc:spChg chg="del">
          <ac:chgData name="Khalid Bakhshi" userId="f1e8cb38fe6bba3e" providerId="LiveId" clId="{9906BF5C-B375-4E04-A86C-65A9BB9DF913}" dt="2026-09-15T03:25:50.935" v="57" actId="478"/>
          <ac:spMkLst>
            <pc:docMk/>
            <pc:sldMk cId="585689926" sldId="263"/>
            <ac:spMk id="3" creationId="{FD46C6C0-D266-1AB5-0C47-FBBF04A6374F}"/>
          </ac:spMkLst>
        </pc:spChg>
        <pc:spChg chg="add del mod">
          <ac:chgData name="Khalid Bakhshi" userId="f1e8cb38fe6bba3e" providerId="LiveId" clId="{9906BF5C-B375-4E04-A86C-65A9BB9DF913}" dt="2026-09-15T03:27:10.713" v="68"/>
          <ac:spMkLst>
            <pc:docMk/>
            <pc:sldMk cId="585689926" sldId="263"/>
            <ac:spMk id="6" creationId="{D9B1C757-91CB-D0C8-6656-AACBFB51DD3D}"/>
          </ac:spMkLst>
        </pc:spChg>
        <pc:spChg chg="add mod">
          <ac:chgData name="Khalid Bakhshi" userId="f1e8cb38fe6bba3e" providerId="LiveId" clId="{9906BF5C-B375-4E04-A86C-65A9BB9DF913}" dt="2026-09-15T03:27:14.555" v="71" actId="1076"/>
          <ac:spMkLst>
            <pc:docMk/>
            <pc:sldMk cId="585689926" sldId="263"/>
            <ac:spMk id="7" creationId="{A665F943-592C-820E-B709-17BEE8DCE5CE}"/>
          </ac:spMkLst>
        </pc:spChg>
        <pc:picChg chg="add mod">
          <ac:chgData name="Khalid Bakhshi" userId="f1e8cb38fe6bba3e" providerId="LiveId" clId="{9906BF5C-B375-4E04-A86C-65A9BB9DF913}" dt="2026-09-15T03:26:56.396" v="65" actId="1076"/>
          <ac:picMkLst>
            <pc:docMk/>
            <pc:sldMk cId="585689926" sldId="263"/>
            <ac:picMk id="5" creationId="{0875BC99-7BD4-C015-E2A7-575FC5DACF3A}"/>
          </ac:picMkLst>
        </pc:picChg>
      </pc:sldChg>
      <pc:sldChg chg="addSp modSp new mod modNotesTx">
        <pc:chgData name="Khalid Bakhshi" userId="f1e8cb38fe6bba3e" providerId="LiveId" clId="{9906BF5C-B375-4E04-A86C-65A9BB9DF913}" dt="2026-09-15T11:40:15.818" v="13568" actId="20577"/>
        <pc:sldMkLst>
          <pc:docMk/>
          <pc:sldMk cId="4250326590" sldId="264"/>
        </pc:sldMkLst>
        <pc:spChg chg="mod">
          <ac:chgData name="Khalid Bakhshi" userId="f1e8cb38fe6bba3e" providerId="LiveId" clId="{9906BF5C-B375-4E04-A86C-65A9BB9DF913}" dt="2026-09-15T03:33:41.275" v="441" actId="20577"/>
          <ac:spMkLst>
            <pc:docMk/>
            <pc:sldMk cId="4250326590" sldId="264"/>
            <ac:spMk id="2" creationId="{628FEA2D-CF61-BB4C-73BF-0D11FA11D580}"/>
          </ac:spMkLst>
        </pc:spChg>
        <pc:spChg chg="mod">
          <ac:chgData name="Khalid Bakhshi" userId="f1e8cb38fe6bba3e" providerId="LiveId" clId="{9906BF5C-B375-4E04-A86C-65A9BB9DF913}" dt="2026-09-15T03:32:09.020" v="400" actId="27636"/>
          <ac:spMkLst>
            <pc:docMk/>
            <pc:sldMk cId="4250326590" sldId="264"/>
            <ac:spMk id="3" creationId="{2786D6AB-0403-ED7C-094F-575DABE34AF3}"/>
          </ac:spMkLst>
        </pc:spChg>
        <pc:spChg chg="add mod">
          <ac:chgData name="Khalid Bakhshi" userId="f1e8cb38fe6bba3e" providerId="LiveId" clId="{9906BF5C-B375-4E04-A86C-65A9BB9DF913}" dt="2026-09-15T03:33:13.036" v="424" actId="20577"/>
          <ac:spMkLst>
            <pc:docMk/>
            <pc:sldMk cId="4250326590" sldId="264"/>
            <ac:spMk id="4" creationId="{06909D65-8E6F-C897-9ADA-C934E13E44AD}"/>
          </ac:spMkLst>
        </pc:spChg>
        <pc:spChg chg="add mod">
          <ac:chgData name="Khalid Bakhshi" userId="f1e8cb38fe6bba3e" providerId="LiveId" clId="{9906BF5C-B375-4E04-A86C-65A9BB9DF913}" dt="2026-09-15T03:32:46.376" v="414" actId="1076"/>
          <ac:spMkLst>
            <pc:docMk/>
            <pc:sldMk cId="4250326590" sldId="264"/>
            <ac:spMk id="5" creationId="{33C1AA91-326B-42D3-3933-89EF3CD58ACA}"/>
          </ac:spMkLst>
        </pc:spChg>
      </pc:sldChg>
      <pc:sldChg chg="addSp delSp modSp new mod modNotesTx">
        <pc:chgData name="Khalid Bakhshi" userId="f1e8cb38fe6bba3e" providerId="LiveId" clId="{9906BF5C-B375-4E04-A86C-65A9BB9DF913}" dt="2026-09-15T11:41:21.051" v="13583" actId="20577"/>
        <pc:sldMkLst>
          <pc:docMk/>
          <pc:sldMk cId="1656455235" sldId="265"/>
        </pc:sldMkLst>
        <pc:spChg chg="mod">
          <ac:chgData name="Khalid Bakhshi" userId="f1e8cb38fe6bba3e" providerId="LiveId" clId="{9906BF5C-B375-4E04-A86C-65A9BB9DF913}" dt="2026-09-15T03:35:38.564" v="449" actId="1076"/>
          <ac:spMkLst>
            <pc:docMk/>
            <pc:sldMk cId="1656455235" sldId="265"/>
            <ac:spMk id="2" creationId="{278626B8-C2E8-8C41-F784-0C2E7D0E93A3}"/>
          </ac:spMkLst>
        </pc:spChg>
        <pc:spChg chg="del">
          <ac:chgData name="Khalid Bakhshi" userId="f1e8cb38fe6bba3e" providerId="LiveId" clId="{9906BF5C-B375-4E04-A86C-65A9BB9DF913}" dt="2026-09-15T03:35:33.732" v="448" actId="478"/>
          <ac:spMkLst>
            <pc:docMk/>
            <pc:sldMk cId="1656455235" sldId="265"/>
            <ac:spMk id="3" creationId="{46C062CE-4C97-E4B3-4B89-174F3B4A7C16}"/>
          </ac:spMkLst>
        </pc:spChg>
        <pc:graphicFrameChg chg="add mod modGraphic">
          <ac:chgData name="Khalid Bakhshi" userId="f1e8cb38fe6bba3e" providerId="LiveId" clId="{9906BF5C-B375-4E04-A86C-65A9BB9DF913}" dt="2026-09-15T04:06:22.309" v="1345" actId="1076"/>
          <ac:graphicFrameMkLst>
            <pc:docMk/>
            <pc:sldMk cId="1656455235" sldId="265"/>
            <ac:graphicFrameMk id="4" creationId="{592FA1A8-4785-7EEC-7DD9-75688C8BECF6}"/>
          </ac:graphicFrameMkLst>
        </pc:graphicFrameChg>
      </pc:sldChg>
      <pc:sldChg chg="addSp delSp modSp new mod modNotesTx">
        <pc:chgData name="Khalid Bakhshi" userId="f1e8cb38fe6bba3e" providerId="LiveId" clId="{9906BF5C-B375-4E04-A86C-65A9BB9DF913}" dt="2026-09-15T11:42:11.780" v="13749" actId="20577"/>
        <pc:sldMkLst>
          <pc:docMk/>
          <pc:sldMk cId="1042076540" sldId="266"/>
        </pc:sldMkLst>
        <pc:spChg chg="mod">
          <ac:chgData name="Khalid Bakhshi" userId="f1e8cb38fe6bba3e" providerId="LiveId" clId="{9906BF5C-B375-4E04-A86C-65A9BB9DF913}" dt="2026-09-15T04:07:22.993" v="1414" actId="1076"/>
          <ac:spMkLst>
            <pc:docMk/>
            <pc:sldMk cId="1042076540" sldId="266"/>
            <ac:spMk id="2" creationId="{0FD56ED8-057E-06E6-275B-1C7A9879D2DF}"/>
          </ac:spMkLst>
        </pc:spChg>
        <pc:spChg chg="del">
          <ac:chgData name="Khalid Bakhshi" userId="f1e8cb38fe6bba3e" providerId="LiveId" clId="{9906BF5C-B375-4E04-A86C-65A9BB9DF913}" dt="2026-09-15T04:06:38.248" v="1350" actId="478"/>
          <ac:spMkLst>
            <pc:docMk/>
            <pc:sldMk cId="1042076540" sldId="266"/>
            <ac:spMk id="3" creationId="{F9F7A0AF-9273-FFF7-156D-544508725845}"/>
          </ac:spMkLst>
        </pc:spChg>
        <pc:spChg chg="add mod">
          <ac:chgData name="Khalid Bakhshi" userId="f1e8cb38fe6bba3e" providerId="LiveId" clId="{9906BF5C-B375-4E04-A86C-65A9BB9DF913}" dt="2026-09-15T08:50:24.342" v="12707" actId="20577"/>
          <ac:spMkLst>
            <pc:docMk/>
            <pc:sldMk cId="1042076540" sldId="266"/>
            <ac:spMk id="5" creationId="{71686C44-A38E-06B3-4767-57A8317857D5}"/>
          </ac:spMkLst>
        </pc:spChg>
        <pc:spChg chg="add mod">
          <ac:chgData name="Khalid Bakhshi" userId="f1e8cb38fe6bba3e" providerId="LiveId" clId="{9906BF5C-B375-4E04-A86C-65A9BB9DF913}" dt="2026-09-15T06:50:46.072" v="10880" actId="20577"/>
          <ac:spMkLst>
            <pc:docMk/>
            <pc:sldMk cId="1042076540" sldId="266"/>
            <ac:spMk id="6" creationId="{8EE8B776-37C9-9111-6D4B-D96CB1C09DFD}"/>
          </ac:spMkLst>
        </pc:spChg>
        <pc:graphicFrameChg chg="add mod modGraphic">
          <ac:chgData name="Khalid Bakhshi" userId="f1e8cb38fe6bba3e" providerId="LiveId" clId="{9906BF5C-B375-4E04-A86C-65A9BB9DF913}" dt="2026-09-15T04:10:10.795" v="2089" actId="1076"/>
          <ac:graphicFrameMkLst>
            <pc:docMk/>
            <pc:sldMk cId="1042076540" sldId="266"/>
            <ac:graphicFrameMk id="4" creationId="{1733CB8C-CF1F-8564-6272-254CA04AB623}"/>
          </ac:graphicFrameMkLst>
        </pc:graphicFrameChg>
      </pc:sldChg>
      <pc:sldChg chg="addSp delSp modSp new mod modNotesTx">
        <pc:chgData name="Khalid Bakhshi" userId="f1e8cb38fe6bba3e" providerId="LiveId" clId="{9906BF5C-B375-4E04-A86C-65A9BB9DF913}" dt="2026-09-15T11:42:55.083" v="13758" actId="20577"/>
        <pc:sldMkLst>
          <pc:docMk/>
          <pc:sldMk cId="1276284067" sldId="267"/>
        </pc:sldMkLst>
        <pc:spChg chg="mod">
          <ac:chgData name="Khalid Bakhshi" userId="f1e8cb38fe6bba3e" providerId="LiveId" clId="{9906BF5C-B375-4E04-A86C-65A9BB9DF913}" dt="2026-09-15T04:16:26.049" v="2473" actId="1076"/>
          <ac:spMkLst>
            <pc:docMk/>
            <pc:sldMk cId="1276284067" sldId="267"/>
            <ac:spMk id="2" creationId="{85CC6A2C-567B-46FC-727F-9FFFE3047F37}"/>
          </ac:spMkLst>
        </pc:spChg>
        <pc:spChg chg="del">
          <ac:chgData name="Khalid Bakhshi" userId="f1e8cb38fe6bba3e" providerId="LiveId" clId="{9906BF5C-B375-4E04-A86C-65A9BB9DF913}" dt="2026-09-15T04:16:22.030" v="2472" actId="478"/>
          <ac:spMkLst>
            <pc:docMk/>
            <pc:sldMk cId="1276284067" sldId="267"/>
            <ac:spMk id="3" creationId="{8A7F1F69-246E-A04F-34E1-E6F75900822C}"/>
          </ac:spMkLst>
        </pc:spChg>
        <pc:spChg chg="add mod">
          <ac:chgData name="Khalid Bakhshi" userId="f1e8cb38fe6bba3e" providerId="LiveId" clId="{9906BF5C-B375-4E04-A86C-65A9BB9DF913}" dt="2026-09-15T04:19:26.680" v="2642" actId="1076"/>
          <ac:spMkLst>
            <pc:docMk/>
            <pc:sldMk cId="1276284067" sldId="267"/>
            <ac:spMk id="6" creationId="{04B58927-073D-67DE-9FA3-50B312854E7A}"/>
          </ac:spMkLst>
        </pc:spChg>
        <pc:spChg chg="add mod">
          <ac:chgData name="Khalid Bakhshi" userId="f1e8cb38fe6bba3e" providerId="LiveId" clId="{9906BF5C-B375-4E04-A86C-65A9BB9DF913}" dt="2026-09-15T04:19:30.490" v="2644" actId="1076"/>
          <ac:spMkLst>
            <pc:docMk/>
            <pc:sldMk cId="1276284067" sldId="267"/>
            <ac:spMk id="8" creationId="{588D0057-A6C9-9F31-505E-360094417BE5}"/>
          </ac:spMkLst>
        </pc:spChg>
        <pc:spChg chg="add mod">
          <ac:chgData name="Khalid Bakhshi" userId="f1e8cb38fe6bba3e" providerId="LiveId" clId="{9906BF5C-B375-4E04-A86C-65A9BB9DF913}" dt="2026-09-15T05:03:54.896" v="4321" actId="1076"/>
          <ac:spMkLst>
            <pc:docMk/>
            <pc:sldMk cId="1276284067" sldId="267"/>
            <ac:spMk id="10" creationId="{D08E202B-AE42-A1FE-58EE-479E21EB639A}"/>
          </ac:spMkLst>
        </pc:spChg>
        <pc:picChg chg="add mod">
          <ac:chgData name="Khalid Bakhshi" userId="f1e8cb38fe6bba3e" providerId="LiveId" clId="{9906BF5C-B375-4E04-A86C-65A9BB9DF913}" dt="2026-09-15T04:17:34.202" v="2532" actId="14100"/>
          <ac:picMkLst>
            <pc:docMk/>
            <pc:sldMk cId="1276284067" sldId="267"/>
            <ac:picMk id="5" creationId="{F0A82C59-85B4-1CDB-303C-24C7D806C429}"/>
          </ac:picMkLst>
        </pc:picChg>
        <pc:picChg chg="add mod">
          <ac:chgData name="Khalid Bakhshi" userId="f1e8cb38fe6bba3e" providerId="LiveId" clId="{9906BF5C-B375-4E04-A86C-65A9BB9DF913}" dt="2026-09-15T04:18:29.862" v="2544" actId="14100"/>
          <ac:picMkLst>
            <pc:docMk/>
            <pc:sldMk cId="1276284067" sldId="267"/>
            <ac:picMk id="7" creationId="{FCF3AC06-5D71-AF95-8217-87B038F5B275}"/>
          </ac:picMkLst>
        </pc:picChg>
      </pc:sldChg>
      <pc:sldChg chg="addSp delSp modSp new mod modNotesTx">
        <pc:chgData name="Khalid Bakhshi" userId="f1e8cb38fe6bba3e" providerId="LiveId" clId="{9906BF5C-B375-4E04-A86C-65A9BB9DF913}" dt="2026-09-15T11:44:02.637" v="13822" actId="20577"/>
        <pc:sldMkLst>
          <pc:docMk/>
          <pc:sldMk cId="388528882" sldId="268"/>
        </pc:sldMkLst>
        <pc:spChg chg="mod">
          <ac:chgData name="Khalid Bakhshi" userId="f1e8cb38fe6bba3e" providerId="LiveId" clId="{9906BF5C-B375-4E04-A86C-65A9BB9DF913}" dt="2026-09-15T04:20:20.877" v="2674" actId="1076"/>
          <ac:spMkLst>
            <pc:docMk/>
            <pc:sldMk cId="388528882" sldId="268"/>
            <ac:spMk id="2" creationId="{E911324C-E7B8-7CD9-A8FD-D810FD4F98AA}"/>
          </ac:spMkLst>
        </pc:spChg>
        <pc:spChg chg="del">
          <ac:chgData name="Khalid Bakhshi" userId="f1e8cb38fe6bba3e" providerId="LiveId" clId="{9906BF5C-B375-4E04-A86C-65A9BB9DF913}" dt="2026-09-15T04:20:27.129" v="2677" actId="478"/>
          <ac:spMkLst>
            <pc:docMk/>
            <pc:sldMk cId="388528882" sldId="268"/>
            <ac:spMk id="3" creationId="{AD7F3911-35E2-D0E9-AD13-E6E763D16409}"/>
          </ac:spMkLst>
        </pc:spChg>
        <pc:spChg chg="add del mod">
          <ac:chgData name="Khalid Bakhshi" userId="f1e8cb38fe6bba3e" providerId="LiveId" clId="{9906BF5C-B375-4E04-A86C-65A9BB9DF913}" dt="2026-09-15T04:20:15.782" v="2671"/>
          <ac:spMkLst>
            <pc:docMk/>
            <pc:sldMk cId="388528882" sldId="268"/>
            <ac:spMk id="4" creationId="{86AD55FB-4229-ABF8-F24A-7C2A4B9FED64}"/>
          </ac:spMkLst>
        </pc:spChg>
        <pc:spChg chg="add del mod">
          <ac:chgData name="Khalid Bakhshi" userId="f1e8cb38fe6bba3e" providerId="LiveId" clId="{9906BF5C-B375-4E04-A86C-65A9BB9DF913}" dt="2026-09-15T04:20:21.121" v="2676"/>
          <ac:spMkLst>
            <pc:docMk/>
            <pc:sldMk cId="388528882" sldId="268"/>
            <ac:spMk id="5" creationId="{8A52552F-1C88-F7BD-95B0-FAA3C36B9BBF}"/>
          </ac:spMkLst>
        </pc:spChg>
        <pc:spChg chg="add del mod">
          <ac:chgData name="Khalid Bakhshi" userId="f1e8cb38fe6bba3e" providerId="LiveId" clId="{9906BF5C-B375-4E04-A86C-65A9BB9DF913}" dt="2026-09-15T04:25:14.456" v="3744"/>
          <ac:spMkLst>
            <pc:docMk/>
            <pc:sldMk cId="388528882" sldId="268"/>
            <ac:spMk id="7" creationId="{EADE3E21-A0FD-A404-DD1D-5C692B8E2359}"/>
          </ac:spMkLst>
        </pc:spChg>
        <pc:spChg chg="add mod">
          <ac:chgData name="Khalid Bakhshi" userId="f1e8cb38fe6bba3e" providerId="LiveId" clId="{9906BF5C-B375-4E04-A86C-65A9BB9DF913}" dt="2026-09-15T08:52:11.219" v="12726" actId="20577"/>
          <ac:spMkLst>
            <pc:docMk/>
            <pc:sldMk cId="388528882" sldId="268"/>
            <ac:spMk id="8" creationId="{533EA254-B7E0-2B7B-B04A-60D03DE7C095}"/>
          </ac:spMkLst>
        </pc:spChg>
        <pc:spChg chg="add del mod">
          <ac:chgData name="Khalid Bakhshi" userId="f1e8cb38fe6bba3e" providerId="LiveId" clId="{9906BF5C-B375-4E04-A86C-65A9BB9DF913}" dt="2026-09-15T04:30:20.559" v="4120"/>
          <ac:spMkLst>
            <pc:docMk/>
            <pc:sldMk cId="388528882" sldId="268"/>
            <ac:spMk id="9" creationId="{19D61EF3-5C26-0FFF-A04C-9B1B66F2388D}"/>
          </ac:spMkLst>
        </pc:spChg>
        <pc:spChg chg="add mod">
          <ac:chgData name="Khalid Bakhshi" userId="f1e8cb38fe6bba3e" providerId="LiveId" clId="{9906BF5C-B375-4E04-A86C-65A9BB9DF913}" dt="2026-09-15T08:23:45.239" v="12538" actId="20577"/>
          <ac:spMkLst>
            <pc:docMk/>
            <pc:sldMk cId="388528882" sldId="268"/>
            <ac:spMk id="10" creationId="{E96ACD14-B300-566A-32AF-3ACFE8CD4BE6}"/>
          </ac:spMkLst>
        </pc:spChg>
        <pc:graphicFrameChg chg="add mod modGraphic">
          <ac:chgData name="Khalid Bakhshi" userId="f1e8cb38fe6bba3e" providerId="LiveId" clId="{9906BF5C-B375-4E04-A86C-65A9BB9DF913}" dt="2026-09-15T04:25:08.457" v="3741" actId="1076"/>
          <ac:graphicFrameMkLst>
            <pc:docMk/>
            <pc:sldMk cId="388528882" sldId="268"/>
            <ac:graphicFrameMk id="6" creationId="{33B5DA63-F594-D6D5-7930-7C48477932CF}"/>
          </ac:graphicFrameMkLst>
        </pc:graphicFrameChg>
      </pc:sldChg>
      <pc:sldChg chg="addSp delSp modSp new mod modNotesTx">
        <pc:chgData name="Khalid Bakhshi" userId="f1e8cb38fe6bba3e" providerId="LiveId" clId="{9906BF5C-B375-4E04-A86C-65A9BB9DF913}" dt="2026-09-15T11:44:42.212" v="13841" actId="20577"/>
        <pc:sldMkLst>
          <pc:docMk/>
          <pc:sldMk cId="706544547" sldId="269"/>
        </pc:sldMkLst>
        <pc:spChg chg="del mod">
          <ac:chgData name="Khalid Bakhshi" userId="f1e8cb38fe6bba3e" providerId="LiveId" clId="{9906BF5C-B375-4E04-A86C-65A9BB9DF913}" dt="2026-09-15T04:58:46.353" v="4138" actId="478"/>
          <ac:spMkLst>
            <pc:docMk/>
            <pc:sldMk cId="706544547" sldId="269"/>
            <ac:spMk id="2" creationId="{CAB31786-EB20-9CB1-7F3C-DBF9223663CA}"/>
          </ac:spMkLst>
        </pc:spChg>
        <pc:spChg chg="del">
          <ac:chgData name="Khalid Bakhshi" userId="f1e8cb38fe6bba3e" providerId="LiveId" clId="{9906BF5C-B375-4E04-A86C-65A9BB9DF913}" dt="2026-09-15T04:59:44.634" v="4219" actId="478"/>
          <ac:spMkLst>
            <pc:docMk/>
            <pc:sldMk cId="706544547" sldId="269"/>
            <ac:spMk id="3" creationId="{A16AF06A-1C41-1826-9A0E-D06A48626CA0}"/>
          </ac:spMkLst>
        </pc:spChg>
        <pc:spChg chg="add mod">
          <ac:chgData name="Khalid Bakhshi" userId="f1e8cb38fe6bba3e" providerId="LiveId" clId="{9906BF5C-B375-4E04-A86C-65A9BB9DF913}" dt="2026-09-15T05:00:31.762" v="4223" actId="20577"/>
          <ac:spMkLst>
            <pc:docMk/>
            <pc:sldMk cId="706544547" sldId="269"/>
            <ac:spMk id="5" creationId="{EA133859-0BDD-2314-5125-23B0BF7B7E82}"/>
          </ac:spMkLst>
        </pc:spChg>
        <pc:spChg chg="add mod">
          <ac:chgData name="Khalid Bakhshi" userId="f1e8cb38fe6bba3e" providerId="LiveId" clId="{9906BF5C-B375-4E04-A86C-65A9BB9DF913}" dt="2026-09-15T05:04:38.245" v="4327" actId="1076"/>
          <ac:spMkLst>
            <pc:docMk/>
            <pc:sldMk cId="706544547" sldId="269"/>
            <ac:spMk id="8" creationId="{E7C41265-1E51-67AE-511A-D1FFE048AD7E}"/>
          </ac:spMkLst>
        </pc:spChg>
        <pc:picChg chg="add mod">
          <ac:chgData name="Khalid Bakhshi" userId="f1e8cb38fe6bba3e" providerId="LiveId" clId="{9906BF5C-B375-4E04-A86C-65A9BB9DF913}" dt="2026-09-15T05:01:26.014" v="4226" actId="1076"/>
          <ac:picMkLst>
            <pc:docMk/>
            <pc:sldMk cId="706544547" sldId="269"/>
            <ac:picMk id="7" creationId="{D7F0C416-1FAA-EC77-41E7-962E85EF753B}"/>
          </ac:picMkLst>
        </pc:picChg>
      </pc:sldChg>
      <pc:sldChg chg="addSp delSp modSp new mod modNotesTx">
        <pc:chgData name="Khalid Bakhshi" userId="f1e8cb38fe6bba3e" providerId="LiveId" clId="{9906BF5C-B375-4E04-A86C-65A9BB9DF913}" dt="2026-09-15T11:46:05.909" v="14100" actId="20577"/>
        <pc:sldMkLst>
          <pc:docMk/>
          <pc:sldMk cId="1351902268" sldId="270"/>
        </pc:sldMkLst>
        <pc:spChg chg="mod">
          <ac:chgData name="Khalid Bakhshi" userId="f1e8cb38fe6bba3e" providerId="LiveId" clId="{9906BF5C-B375-4E04-A86C-65A9BB9DF913}" dt="2026-09-15T05:06:34.034" v="4358" actId="1076"/>
          <ac:spMkLst>
            <pc:docMk/>
            <pc:sldMk cId="1351902268" sldId="270"/>
            <ac:spMk id="2" creationId="{116437D8-1C91-548B-7737-DE87EB7A7A4F}"/>
          </ac:spMkLst>
        </pc:spChg>
        <pc:spChg chg="del">
          <ac:chgData name="Khalid Bakhshi" userId="f1e8cb38fe6bba3e" providerId="LiveId" clId="{9906BF5C-B375-4E04-A86C-65A9BB9DF913}" dt="2026-09-15T05:06:01.750" v="4336" actId="478"/>
          <ac:spMkLst>
            <pc:docMk/>
            <pc:sldMk cId="1351902268" sldId="270"/>
            <ac:spMk id="3" creationId="{1E80CD48-F7AC-9524-B90B-30AD7A49EF85}"/>
          </ac:spMkLst>
        </pc:spChg>
        <pc:spChg chg="add mod">
          <ac:chgData name="Khalid Bakhshi" userId="f1e8cb38fe6bba3e" providerId="LiveId" clId="{9906BF5C-B375-4E04-A86C-65A9BB9DF913}" dt="2026-09-15T05:16:34.654" v="5409" actId="20577"/>
          <ac:spMkLst>
            <pc:docMk/>
            <pc:sldMk cId="1351902268" sldId="270"/>
            <ac:spMk id="4" creationId="{EF8E7DB6-9F00-E77B-43D6-31B11456A6F7}"/>
          </ac:spMkLst>
        </pc:spChg>
        <pc:spChg chg="add mod">
          <ac:chgData name="Khalid Bakhshi" userId="f1e8cb38fe6bba3e" providerId="LiveId" clId="{9906BF5C-B375-4E04-A86C-65A9BB9DF913}" dt="2026-09-15T05:16:42.786" v="5410" actId="1076"/>
          <ac:spMkLst>
            <pc:docMk/>
            <pc:sldMk cId="1351902268" sldId="270"/>
            <ac:spMk id="5" creationId="{F52E294A-51E8-F819-FD18-0AC48E3A42F7}"/>
          </ac:spMkLst>
        </pc:spChg>
        <pc:spChg chg="add mod">
          <ac:chgData name="Khalid Bakhshi" userId="f1e8cb38fe6bba3e" providerId="LiveId" clId="{9906BF5C-B375-4E04-A86C-65A9BB9DF913}" dt="2026-09-15T05:16:45.103" v="5411" actId="1076"/>
          <ac:spMkLst>
            <pc:docMk/>
            <pc:sldMk cId="1351902268" sldId="270"/>
            <ac:spMk id="6" creationId="{6DB88A44-6AF7-DC42-6E0E-62E1615FE494}"/>
          </ac:spMkLst>
        </pc:spChg>
        <pc:spChg chg="add mod">
          <ac:chgData name="Khalid Bakhshi" userId="f1e8cb38fe6bba3e" providerId="LiveId" clId="{9906BF5C-B375-4E04-A86C-65A9BB9DF913}" dt="2026-09-15T05:17:49.828" v="5635" actId="1076"/>
          <ac:spMkLst>
            <pc:docMk/>
            <pc:sldMk cId="1351902268" sldId="270"/>
            <ac:spMk id="7" creationId="{2CEA7213-D821-0EA1-5282-CB6A1362F9F5}"/>
          </ac:spMkLst>
        </pc:spChg>
        <pc:spChg chg="add mod">
          <ac:chgData name="Khalid Bakhshi" userId="f1e8cb38fe6bba3e" providerId="LiveId" clId="{9906BF5C-B375-4E04-A86C-65A9BB9DF913}" dt="2026-09-15T08:23:38.751" v="12527" actId="20577"/>
          <ac:spMkLst>
            <pc:docMk/>
            <pc:sldMk cId="1351902268" sldId="270"/>
            <ac:spMk id="8" creationId="{84360A82-52E7-5B31-DF12-219B8E929D87}"/>
          </ac:spMkLst>
        </pc:spChg>
      </pc:sldChg>
      <pc:sldChg chg="addSp delSp modSp new mod modNotesTx">
        <pc:chgData name="Khalid Bakhshi" userId="f1e8cb38fe6bba3e" providerId="LiveId" clId="{9906BF5C-B375-4E04-A86C-65A9BB9DF913}" dt="2026-09-15T11:47:48.336" v="14123" actId="20577"/>
        <pc:sldMkLst>
          <pc:docMk/>
          <pc:sldMk cId="3734446023" sldId="271"/>
        </pc:sldMkLst>
        <pc:spChg chg="mod">
          <ac:chgData name="Khalid Bakhshi" userId="f1e8cb38fe6bba3e" providerId="LiveId" clId="{9906BF5C-B375-4E04-A86C-65A9BB9DF913}" dt="2026-09-15T05:31:57.306" v="5759" actId="1076"/>
          <ac:spMkLst>
            <pc:docMk/>
            <pc:sldMk cId="3734446023" sldId="271"/>
            <ac:spMk id="2" creationId="{8D24A459-856B-B0ED-FF57-3E9A1D981D76}"/>
          </ac:spMkLst>
        </pc:spChg>
        <pc:spChg chg="del">
          <ac:chgData name="Khalid Bakhshi" userId="f1e8cb38fe6bba3e" providerId="LiveId" clId="{9906BF5C-B375-4E04-A86C-65A9BB9DF913}" dt="2026-09-15T05:32:27.703" v="5760" actId="478"/>
          <ac:spMkLst>
            <pc:docMk/>
            <pc:sldMk cId="3734446023" sldId="271"/>
            <ac:spMk id="3" creationId="{7557915C-892F-6908-F705-7A15E9AAABEC}"/>
          </ac:spMkLst>
        </pc:spChg>
        <pc:spChg chg="add mod">
          <ac:chgData name="Khalid Bakhshi" userId="f1e8cb38fe6bba3e" providerId="LiveId" clId="{9906BF5C-B375-4E04-A86C-65A9BB9DF913}" dt="2026-09-15T05:41:03.414" v="7808" actId="1076"/>
          <ac:spMkLst>
            <pc:docMk/>
            <pc:sldMk cId="3734446023" sldId="271"/>
            <ac:spMk id="5" creationId="{94CC202B-C70C-0105-AF08-200B47B56C99}"/>
          </ac:spMkLst>
        </pc:spChg>
        <pc:spChg chg="add mod">
          <ac:chgData name="Khalid Bakhshi" userId="f1e8cb38fe6bba3e" providerId="LiveId" clId="{9906BF5C-B375-4E04-A86C-65A9BB9DF913}" dt="2026-09-15T05:41:40.413" v="7820" actId="114"/>
          <ac:spMkLst>
            <pc:docMk/>
            <pc:sldMk cId="3734446023" sldId="271"/>
            <ac:spMk id="6" creationId="{8F160ECF-6D0D-46FC-0D45-3E47A52BD1DC}"/>
          </ac:spMkLst>
        </pc:spChg>
        <pc:graphicFrameChg chg="add mod modGraphic">
          <ac:chgData name="Khalid Bakhshi" userId="f1e8cb38fe6bba3e" providerId="LiveId" clId="{9906BF5C-B375-4E04-A86C-65A9BB9DF913}" dt="2026-09-15T05:41:08.072" v="7809" actId="1076"/>
          <ac:graphicFrameMkLst>
            <pc:docMk/>
            <pc:sldMk cId="3734446023" sldId="271"/>
            <ac:graphicFrameMk id="4" creationId="{BC3BF296-17B6-0B90-4852-2FD62AA3AFF0}"/>
          </ac:graphicFrameMkLst>
        </pc:graphicFrameChg>
      </pc:sldChg>
      <pc:sldChg chg="addSp delSp modSp new mod modNotesTx">
        <pc:chgData name="Khalid Bakhshi" userId="f1e8cb38fe6bba3e" providerId="LiveId" clId="{9906BF5C-B375-4E04-A86C-65A9BB9DF913}" dt="2026-09-15T11:49:09.937" v="14150" actId="20577"/>
        <pc:sldMkLst>
          <pc:docMk/>
          <pc:sldMk cId="172387279" sldId="272"/>
        </pc:sldMkLst>
        <pc:spChg chg="mod">
          <ac:chgData name="Khalid Bakhshi" userId="f1e8cb38fe6bba3e" providerId="LiveId" clId="{9906BF5C-B375-4E04-A86C-65A9BB9DF913}" dt="2026-09-15T05:51:08.314" v="7902" actId="113"/>
          <ac:spMkLst>
            <pc:docMk/>
            <pc:sldMk cId="172387279" sldId="272"/>
            <ac:spMk id="2" creationId="{D2FFF6A1-0B0B-44BB-A4A7-C86308A057AE}"/>
          </ac:spMkLst>
        </pc:spChg>
        <pc:spChg chg="del">
          <ac:chgData name="Khalid Bakhshi" userId="f1e8cb38fe6bba3e" providerId="LiveId" clId="{9906BF5C-B375-4E04-A86C-65A9BB9DF913}" dt="2026-09-15T05:50:41.929" v="7892" actId="478"/>
          <ac:spMkLst>
            <pc:docMk/>
            <pc:sldMk cId="172387279" sldId="272"/>
            <ac:spMk id="3" creationId="{637575AC-4A68-086A-A583-301A197FD5FD}"/>
          </ac:spMkLst>
        </pc:spChg>
        <pc:spChg chg="add del mod">
          <ac:chgData name="Khalid Bakhshi" userId="f1e8cb38fe6bba3e" providerId="LiveId" clId="{9906BF5C-B375-4E04-A86C-65A9BB9DF913}" dt="2026-09-15T05:51:05.842" v="7901"/>
          <ac:spMkLst>
            <pc:docMk/>
            <pc:sldMk cId="172387279" sldId="272"/>
            <ac:spMk id="4" creationId="{56DD618F-6C00-654B-9FCA-6E7854665C5B}"/>
          </ac:spMkLst>
        </pc:spChg>
        <pc:spChg chg="add mod">
          <ac:chgData name="Khalid Bakhshi" userId="f1e8cb38fe6bba3e" providerId="LiveId" clId="{9906BF5C-B375-4E04-A86C-65A9BB9DF913}" dt="2026-09-15T08:53:27.424" v="12753" actId="1076"/>
          <ac:spMkLst>
            <pc:docMk/>
            <pc:sldMk cId="172387279" sldId="272"/>
            <ac:spMk id="8" creationId="{74400AC1-7A4D-A3EE-5E2E-67F1520AD269}"/>
          </ac:spMkLst>
        </pc:spChg>
        <pc:spChg chg="add del mod">
          <ac:chgData name="Khalid Bakhshi" userId="f1e8cb38fe6bba3e" providerId="LiveId" clId="{9906BF5C-B375-4E04-A86C-65A9BB9DF913}" dt="2026-09-15T05:53:57.074" v="7927"/>
          <ac:spMkLst>
            <pc:docMk/>
            <pc:sldMk cId="172387279" sldId="272"/>
            <ac:spMk id="9" creationId="{0F219EA2-1B04-C92D-EF3C-24755984AB25}"/>
          </ac:spMkLst>
        </pc:spChg>
        <pc:spChg chg="add del mod">
          <ac:chgData name="Khalid Bakhshi" userId="f1e8cb38fe6bba3e" providerId="LiveId" clId="{9906BF5C-B375-4E04-A86C-65A9BB9DF913}" dt="2026-09-15T05:53:58.277" v="7930"/>
          <ac:spMkLst>
            <pc:docMk/>
            <pc:sldMk cId="172387279" sldId="272"/>
            <ac:spMk id="10" creationId="{1A02E252-41A4-74B4-2CD6-ED30CBD48E73}"/>
          </ac:spMkLst>
        </pc:spChg>
        <pc:spChg chg="add mod">
          <ac:chgData name="Khalid Bakhshi" userId="f1e8cb38fe6bba3e" providerId="LiveId" clId="{9906BF5C-B375-4E04-A86C-65A9BB9DF913}" dt="2026-09-15T05:56:13.287" v="8538" actId="113"/>
          <ac:spMkLst>
            <pc:docMk/>
            <pc:sldMk cId="172387279" sldId="272"/>
            <ac:spMk id="11" creationId="{FEBB3A67-9832-2893-0638-34C656A3E2BD}"/>
          </ac:spMkLst>
        </pc:spChg>
        <pc:spChg chg="add mod">
          <ac:chgData name="Khalid Bakhshi" userId="f1e8cb38fe6bba3e" providerId="LiveId" clId="{9906BF5C-B375-4E04-A86C-65A9BB9DF913}" dt="2026-09-15T08:53:22.741" v="12752" actId="20577"/>
          <ac:spMkLst>
            <pc:docMk/>
            <pc:sldMk cId="172387279" sldId="272"/>
            <ac:spMk id="12" creationId="{B0E76EA7-E946-458C-75A2-1182852A370C}"/>
          </ac:spMkLst>
        </pc:spChg>
        <pc:spChg chg="add mod">
          <ac:chgData name="Khalid Bakhshi" userId="f1e8cb38fe6bba3e" providerId="LiveId" clId="{9906BF5C-B375-4E04-A86C-65A9BB9DF913}" dt="2026-09-15T05:58:38.723" v="9042" actId="14100"/>
          <ac:spMkLst>
            <pc:docMk/>
            <pc:sldMk cId="172387279" sldId="272"/>
            <ac:spMk id="13" creationId="{DE11AAEE-B976-E174-76C2-DDC5E11F9E65}"/>
          </ac:spMkLst>
        </pc:spChg>
        <pc:spChg chg="add mod">
          <ac:chgData name="Khalid Bakhshi" userId="f1e8cb38fe6bba3e" providerId="LiveId" clId="{9906BF5C-B375-4E04-A86C-65A9BB9DF913}" dt="2026-09-15T08:23:52.015" v="12549" actId="20577"/>
          <ac:spMkLst>
            <pc:docMk/>
            <pc:sldMk cId="172387279" sldId="272"/>
            <ac:spMk id="14" creationId="{631733C9-524B-74E8-3D09-E948DFB03ED6}"/>
          </ac:spMkLst>
        </pc:spChg>
        <pc:picChg chg="add mod">
          <ac:chgData name="Khalid Bakhshi" userId="f1e8cb38fe6bba3e" providerId="LiveId" clId="{9906BF5C-B375-4E04-A86C-65A9BB9DF913}" dt="2026-09-15T05:53:52.871" v="7923" actId="1076"/>
          <ac:picMkLst>
            <pc:docMk/>
            <pc:sldMk cId="172387279" sldId="272"/>
            <ac:picMk id="6" creationId="{29A92290-13EB-954C-8D42-522FC7055B98}"/>
          </ac:picMkLst>
        </pc:picChg>
      </pc:sldChg>
      <pc:sldChg chg="addSp delSp modSp new mod modNotesTx">
        <pc:chgData name="Khalid Bakhshi" userId="f1e8cb38fe6bba3e" providerId="LiveId" clId="{9906BF5C-B375-4E04-A86C-65A9BB9DF913}" dt="2026-09-15T11:50:37.658" v="14183" actId="20577"/>
        <pc:sldMkLst>
          <pc:docMk/>
          <pc:sldMk cId="3615649532" sldId="273"/>
        </pc:sldMkLst>
        <pc:spChg chg="mod">
          <ac:chgData name="Khalid Bakhshi" userId="f1e8cb38fe6bba3e" providerId="LiveId" clId="{9906BF5C-B375-4E04-A86C-65A9BB9DF913}" dt="2026-09-15T06:06:16.886" v="9111" actId="1076"/>
          <ac:spMkLst>
            <pc:docMk/>
            <pc:sldMk cId="3615649532" sldId="273"/>
            <ac:spMk id="2" creationId="{49399F95-35CA-F8CB-752A-73AB61D3CD5F}"/>
          </ac:spMkLst>
        </pc:spChg>
        <pc:spChg chg="del mod">
          <ac:chgData name="Khalid Bakhshi" userId="f1e8cb38fe6bba3e" providerId="LiveId" clId="{9906BF5C-B375-4E04-A86C-65A9BB9DF913}" dt="2026-09-15T06:06:20.708" v="9113" actId="478"/>
          <ac:spMkLst>
            <pc:docMk/>
            <pc:sldMk cId="3615649532" sldId="273"/>
            <ac:spMk id="3" creationId="{3B2FA615-3699-06E8-756A-CF9DBCD8567E}"/>
          </ac:spMkLst>
        </pc:spChg>
        <pc:spChg chg="add mod">
          <ac:chgData name="Khalid Bakhshi" userId="f1e8cb38fe6bba3e" providerId="LiveId" clId="{9906BF5C-B375-4E04-A86C-65A9BB9DF913}" dt="2026-09-15T06:14:01.236" v="9970" actId="404"/>
          <ac:spMkLst>
            <pc:docMk/>
            <pc:sldMk cId="3615649532" sldId="273"/>
            <ac:spMk id="5" creationId="{78F8C68F-C9E4-4E4D-ADEA-DBE915909009}"/>
          </ac:spMkLst>
        </pc:spChg>
        <pc:spChg chg="add mod">
          <ac:chgData name="Khalid Bakhshi" userId="f1e8cb38fe6bba3e" providerId="LiveId" clId="{9906BF5C-B375-4E04-A86C-65A9BB9DF913}" dt="2026-09-15T06:14:59.026" v="10109" actId="1076"/>
          <ac:spMkLst>
            <pc:docMk/>
            <pc:sldMk cId="3615649532" sldId="273"/>
            <ac:spMk id="6" creationId="{D2248C9C-D0FA-5768-0A76-404131A83BC2}"/>
          </ac:spMkLst>
        </pc:spChg>
        <pc:spChg chg="add mod">
          <ac:chgData name="Khalid Bakhshi" userId="f1e8cb38fe6bba3e" providerId="LiveId" clId="{9906BF5C-B375-4E04-A86C-65A9BB9DF913}" dt="2026-09-15T07:05:39.593" v="11296" actId="20577"/>
          <ac:spMkLst>
            <pc:docMk/>
            <pc:sldMk cId="3615649532" sldId="273"/>
            <ac:spMk id="7" creationId="{0B40236F-D731-DE86-1201-67EC4A792F85}"/>
          </ac:spMkLst>
        </pc:spChg>
        <pc:graphicFrameChg chg="add mod modGraphic">
          <ac:chgData name="Khalid Bakhshi" userId="f1e8cb38fe6bba3e" providerId="LiveId" clId="{9906BF5C-B375-4E04-A86C-65A9BB9DF913}" dt="2026-09-15T08:57:07.503" v="13111" actId="20577"/>
          <ac:graphicFrameMkLst>
            <pc:docMk/>
            <pc:sldMk cId="3615649532" sldId="273"/>
            <ac:graphicFrameMk id="4" creationId="{BCC49A7F-B1B1-430D-6AE2-CA2897774605}"/>
          </ac:graphicFrameMkLst>
        </pc:graphicFrameChg>
      </pc:sldChg>
      <pc:sldChg chg="addSp delSp modSp new mod modNotesTx">
        <pc:chgData name="Khalid Bakhshi" userId="f1e8cb38fe6bba3e" providerId="LiveId" clId="{9906BF5C-B375-4E04-A86C-65A9BB9DF913}" dt="2026-09-15T11:52:06.066" v="14214" actId="20577"/>
        <pc:sldMkLst>
          <pc:docMk/>
          <pc:sldMk cId="1855724763" sldId="274"/>
        </pc:sldMkLst>
        <pc:spChg chg="mod">
          <ac:chgData name="Khalid Bakhshi" userId="f1e8cb38fe6bba3e" providerId="LiveId" clId="{9906BF5C-B375-4E04-A86C-65A9BB9DF913}" dt="2026-09-15T06:22:40.792" v="10176" actId="1076"/>
          <ac:spMkLst>
            <pc:docMk/>
            <pc:sldMk cId="1855724763" sldId="274"/>
            <ac:spMk id="2" creationId="{DB8ECD10-BA08-2832-E30E-85248932CB1A}"/>
          </ac:spMkLst>
        </pc:spChg>
        <pc:spChg chg="del">
          <ac:chgData name="Khalid Bakhshi" userId="f1e8cb38fe6bba3e" providerId="LiveId" clId="{9906BF5C-B375-4E04-A86C-65A9BB9DF913}" dt="2026-09-15T06:22:47.382" v="10177" actId="478"/>
          <ac:spMkLst>
            <pc:docMk/>
            <pc:sldMk cId="1855724763" sldId="274"/>
            <ac:spMk id="3" creationId="{BA8BCBA6-CD12-C9BE-8A68-36DACA8DC6CD}"/>
          </ac:spMkLst>
        </pc:spChg>
        <pc:spChg chg="add mod">
          <ac:chgData name="Khalid Bakhshi" userId="f1e8cb38fe6bba3e" providerId="LiveId" clId="{9906BF5C-B375-4E04-A86C-65A9BB9DF913}" dt="2026-09-15T06:28:24.174" v="10587" actId="1076"/>
          <ac:spMkLst>
            <pc:docMk/>
            <pc:sldMk cId="1855724763" sldId="274"/>
            <ac:spMk id="5" creationId="{36A0B4CE-5C6C-CBBC-980C-70ABDD914B4F}"/>
          </ac:spMkLst>
        </pc:spChg>
        <pc:spChg chg="add del mod">
          <ac:chgData name="Khalid Bakhshi" userId="f1e8cb38fe6bba3e" providerId="LiveId" clId="{9906BF5C-B375-4E04-A86C-65A9BB9DF913}" dt="2026-09-15T06:28:38.153" v="10590"/>
          <ac:spMkLst>
            <pc:docMk/>
            <pc:sldMk cId="1855724763" sldId="274"/>
            <ac:spMk id="6" creationId="{D1641335-AAFC-00EE-9C87-7F24D1F51C59}"/>
          </ac:spMkLst>
        </pc:spChg>
        <pc:spChg chg="add del mod">
          <ac:chgData name="Khalid Bakhshi" userId="f1e8cb38fe6bba3e" providerId="LiveId" clId="{9906BF5C-B375-4E04-A86C-65A9BB9DF913}" dt="2026-09-15T06:28:41.211" v="10594"/>
          <ac:spMkLst>
            <pc:docMk/>
            <pc:sldMk cId="1855724763" sldId="274"/>
            <ac:spMk id="7" creationId="{245CF1D3-9AB1-5681-4974-B609F131DFEA}"/>
          </ac:spMkLst>
        </pc:spChg>
        <pc:spChg chg="add del mod">
          <ac:chgData name="Khalid Bakhshi" userId="f1e8cb38fe6bba3e" providerId="LiveId" clId="{9906BF5C-B375-4E04-A86C-65A9BB9DF913}" dt="2026-09-15T06:28:55.906" v="10598" actId="478"/>
          <ac:spMkLst>
            <pc:docMk/>
            <pc:sldMk cId="1855724763" sldId="274"/>
            <ac:spMk id="8" creationId="{87D05B9F-3DDB-1BB2-41D5-0450F74D2626}"/>
          </ac:spMkLst>
        </pc:spChg>
        <pc:spChg chg="add mod">
          <ac:chgData name="Khalid Bakhshi" userId="f1e8cb38fe6bba3e" providerId="LiveId" clId="{9906BF5C-B375-4E04-A86C-65A9BB9DF913}" dt="2026-09-15T06:29:18.068" v="10608" actId="114"/>
          <ac:spMkLst>
            <pc:docMk/>
            <pc:sldMk cId="1855724763" sldId="274"/>
            <ac:spMk id="9" creationId="{36967377-DAE8-9B84-9133-6C703BCEB35A}"/>
          </ac:spMkLst>
        </pc:spChg>
        <pc:graphicFrameChg chg="add mod modGraphic">
          <ac:chgData name="Khalid Bakhshi" userId="f1e8cb38fe6bba3e" providerId="LiveId" clId="{9906BF5C-B375-4E04-A86C-65A9BB9DF913}" dt="2026-09-15T06:28:16.896" v="10585" actId="122"/>
          <ac:graphicFrameMkLst>
            <pc:docMk/>
            <pc:sldMk cId="1855724763" sldId="274"/>
            <ac:graphicFrameMk id="4" creationId="{CD4696C2-4519-D140-B369-EE04AA8B7853}"/>
          </ac:graphicFrameMkLst>
        </pc:graphicFrameChg>
      </pc:sldChg>
      <pc:sldChg chg="addSp delSp modSp new mod modNotesTx">
        <pc:chgData name="Khalid Bakhshi" userId="f1e8cb38fe6bba3e" providerId="LiveId" clId="{9906BF5C-B375-4E04-A86C-65A9BB9DF913}" dt="2026-09-15T11:52:53.155" v="14226" actId="20577"/>
        <pc:sldMkLst>
          <pc:docMk/>
          <pc:sldMk cId="4251900852" sldId="275"/>
        </pc:sldMkLst>
        <pc:spChg chg="mod">
          <ac:chgData name="Khalid Bakhshi" userId="f1e8cb38fe6bba3e" providerId="LiveId" clId="{9906BF5C-B375-4E04-A86C-65A9BB9DF913}" dt="2026-09-15T06:31:40.784" v="10672" actId="1076"/>
          <ac:spMkLst>
            <pc:docMk/>
            <pc:sldMk cId="4251900852" sldId="275"/>
            <ac:spMk id="2" creationId="{E091B80A-0411-DAD8-6180-9474B9EB36B3}"/>
          </ac:spMkLst>
        </pc:spChg>
        <pc:spChg chg="del">
          <ac:chgData name="Khalid Bakhshi" userId="f1e8cb38fe6bba3e" providerId="LiveId" clId="{9906BF5C-B375-4E04-A86C-65A9BB9DF913}" dt="2026-09-15T06:31:47.156" v="10673" actId="478"/>
          <ac:spMkLst>
            <pc:docMk/>
            <pc:sldMk cId="4251900852" sldId="275"/>
            <ac:spMk id="3" creationId="{A1529FD8-0DDA-ABE7-2D84-E9CD271A03D0}"/>
          </ac:spMkLst>
        </pc:spChg>
        <pc:spChg chg="add mod">
          <ac:chgData name="Khalid Bakhshi" userId="f1e8cb38fe6bba3e" providerId="LiveId" clId="{9906BF5C-B375-4E04-A86C-65A9BB9DF913}" dt="2026-09-15T08:55:10.486" v="12973" actId="20577"/>
          <ac:spMkLst>
            <pc:docMk/>
            <pc:sldMk cId="4251900852" sldId="275"/>
            <ac:spMk id="4" creationId="{15029820-0B91-E373-4B20-4D8C58A2E0E3}"/>
          </ac:spMkLst>
        </pc:spChg>
        <pc:spChg chg="add mod">
          <ac:chgData name="Khalid Bakhshi" userId="f1e8cb38fe6bba3e" providerId="LiveId" clId="{9906BF5C-B375-4E04-A86C-65A9BB9DF913}" dt="2026-09-15T08:55:24.814" v="13055" actId="20577"/>
          <ac:spMkLst>
            <pc:docMk/>
            <pc:sldMk cId="4251900852" sldId="275"/>
            <ac:spMk id="5" creationId="{B4F51333-D746-B8E4-EDB4-4454572B585E}"/>
          </ac:spMkLst>
        </pc:spChg>
        <pc:spChg chg="add mod">
          <ac:chgData name="Khalid Bakhshi" userId="f1e8cb38fe6bba3e" providerId="LiveId" clId="{9906BF5C-B375-4E04-A86C-65A9BB9DF913}" dt="2026-09-15T08:56:49.903" v="13092" actId="20577"/>
          <ac:spMkLst>
            <pc:docMk/>
            <pc:sldMk cId="4251900852" sldId="275"/>
            <ac:spMk id="6" creationId="{A95059D3-BB62-B65E-414C-416B23B5E8A5}"/>
          </ac:spMkLst>
        </pc:spChg>
        <pc:spChg chg="add mod">
          <ac:chgData name="Khalid Bakhshi" userId="f1e8cb38fe6bba3e" providerId="LiveId" clId="{9906BF5C-B375-4E04-A86C-65A9BB9DF913}" dt="2026-09-15T06:35:11.069" v="10775" actId="1076"/>
          <ac:spMkLst>
            <pc:docMk/>
            <pc:sldMk cId="4251900852" sldId="275"/>
            <ac:spMk id="7" creationId="{8D580142-8820-8170-2CF9-F5FDD2B6AE70}"/>
          </ac:spMkLst>
        </pc:spChg>
        <pc:spChg chg="add mod">
          <ac:chgData name="Khalid Bakhshi" userId="f1e8cb38fe6bba3e" providerId="LiveId" clId="{9906BF5C-B375-4E04-A86C-65A9BB9DF913}" dt="2026-09-15T06:35:47.383" v="10792" actId="1076"/>
          <ac:spMkLst>
            <pc:docMk/>
            <pc:sldMk cId="4251900852" sldId="275"/>
            <ac:spMk id="8" creationId="{D3A5280A-CF8A-CB56-94CA-8966682287EC}"/>
          </ac:spMkLst>
        </pc:spChg>
        <pc:spChg chg="add del mod">
          <ac:chgData name="Khalid Bakhshi" userId="f1e8cb38fe6bba3e" providerId="LiveId" clId="{9906BF5C-B375-4E04-A86C-65A9BB9DF913}" dt="2026-09-15T06:35:28.547" v="10779"/>
          <ac:spMkLst>
            <pc:docMk/>
            <pc:sldMk cId="4251900852" sldId="275"/>
            <ac:spMk id="9" creationId="{11B93E39-2673-961D-250E-BA9F5E5B7905}"/>
          </ac:spMkLst>
        </pc:spChg>
        <pc:spChg chg="add mod">
          <ac:chgData name="Khalid Bakhshi" userId="f1e8cb38fe6bba3e" providerId="LiveId" clId="{9906BF5C-B375-4E04-A86C-65A9BB9DF913}" dt="2026-09-15T06:50:18.224" v="10878" actId="114"/>
          <ac:spMkLst>
            <pc:docMk/>
            <pc:sldMk cId="4251900852" sldId="275"/>
            <ac:spMk id="10" creationId="{BAFB8046-1D35-739E-38BA-5533912B3475}"/>
          </ac:spMkLst>
        </pc:spChg>
      </pc:sldChg>
      <pc:sldChg chg="addSp delSp modSp new mod modNotesTx">
        <pc:chgData name="Khalid Bakhshi" userId="f1e8cb38fe6bba3e" providerId="LiveId" clId="{9906BF5C-B375-4E04-A86C-65A9BB9DF913}" dt="2026-09-15T11:53:11.714" v="14227" actId="20577"/>
        <pc:sldMkLst>
          <pc:docMk/>
          <pc:sldMk cId="1207468544" sldId="276"/>
        </pc:sldMkLst>
        <pc:spChg chg="mod">
          <ac:chgData name="Khalid Bakhshi" userId="f1e8cb38fe6bba3e" providerId="LiveId" clId="{9906BF5C-B375-4E04-A86C-65A9BB9DF913}" dt="2026-09-15T06:56:17.661" v="11062" actId="1076"/>
          <ac:spMkLst>
            <pc:docMk/>
            <pc:sldMk cId="1207468544" sldId="276"/>
            <ac:spMk id="2" creationId="{EF50ED10-C647-323F-8719-A68DCD4B3562}"/>
          </ac:spMkLst>
        </pc:spChg>
        <pc:spChg chg="del">
          <ac:chgData name="Khalid Bakhshi" userId="f1e8cb38fe6bba3e" providerId="LiveId" clId="{9906BF5C-B375-4E04-A86C-65A9BB9DF913}" dt="2026-09-15T06:43:12.683" v="10804" actId="478"/>
          <ac:spMkLst>
            <pc:docMk/>
            <pc:sldMk cId="1207468544" sldId="276"/>
            <ac:spMk id="3" creationId="{EA68E1D0-C110-4D75-BBB8-E36A58F0A3EC}"/>
          </ac:spMkLst>
        </pc:spChg>
        <pc:spChg chg="add mod">
          <ac:chgData name="Khalid Bakhshi" userId="f1e8cb38fe6bba3e" providerId="LiveId" clId="{9906BF5C-B375-4E04-A86C-65A9BB9DF913}" dt="2026-09-15T06:56:22.124" v="11063" actId="1076"/>
          <ac:spMkLst>
            <pc:docMk/>
            <pc:sldMk cId="1207468544" sldId="276"/>
            <ac:spMk id="4" creationId="{D9CD1E1C-A647-6292-EBD0-49B3E96BF2E1}"/>
          </ac:spMkLst>
        </pc:spChg>
        <pc:spChg chg="add mod">
          <ac:chgData name="Khalid Bakhshi" userId="f1e8cb38fe6bba3e" providerId="LiveId" clId="{9906BF5C-B375-4E04-A86C-65A9BB9DF913}" dt="2026-09-15T06:56:25.410" v="11064" actId="1076"/>
          <ac:spMkLst>
            <pc:docMk/>
            <pc:sldMk cId="1207468544" sldId="276"/>
            <ac:spMk id="6" creationId="{6642A608-7C2B-2110-8052-74F34AA9ADF2}"/>
          </ac:spMkLst>
        </pc:spChg>
        <pc:spChg chg="add mod">
          <ac:chgData name="Khalid Bakhshi" userId="f1e8cb38fe6bba3e" providerId="LiveId" clId="{9906BF5C-B375-4E04-A86C-65A9BB9DF913}" dt="2026-09-15T06:56:31.167" v="11065" actId="1076"/>
          <ac:spMkLst>
            <pc:docMk/>
            <pc:sldMk cId="1207468544" sldId="276"/>
            <ac:spMk id="8" creationId="{F4E223DA-A6CB-FA46-ACF3-C436401CA04A}"/>
          </ac:spMkLst>
        </pc:spChg>
        <pc:spChg chg="add mod">
          <ac:chgData name="Khalid Bakhshi" userId="f1e8cb38fe6bba3e" providerId="LiveId" clId="{9906BF5C-B375-4E04-A86C-65A9BB9DF913}" dt="2026-09-15T06:56:33.406" v="11066" actId="1076"/>
          <ac:spMkLst>
            <pc:docMk/>
            <pc:sldMk cId="1207468544" sldId="276"/>
            <ac:spMk id="9" creationId="{AA51A462-8239-9334-DBFD-55424AD35F86}"/>
          </ac:spMkLst>
        </pc:spChg>
        <pc:spChg chg="add mod">
          <ac:chgData name="Khalid Bakhshi" userId="f1e8cb38fe6bba3e" providerId="LiveId" clId="{9906BF5C-B375-4E04-A86C-65A9BB9DF913}" dt="2026-09-15T06:56:40.718" v="11067" actId="1076"/>
          <ac:spMkLst>
            <pc:docMk/>
            <pc:sldMk cId="1207468544" sldId="276"/>
            <ac:spMk id="10" creationId="{089B3501-4FE5-85F9-E776-DFEF41263088}"/>
          </ac:spMkLst>
        </pc:spChg>
        <pc:spChg chg="add del mod">
          <ac:chgData name="Khalid Bakhshi" userId="f1e8cb38fe6bba3e" providerId="LiveId" clId="{9906BF5C-B375-4E04-A86C-65A9BB9DF913}" dt="2026-09-15T06:53:39.691" v="10953"/>
          <ac:spMkLst>
            <pc:docMk/>
            <pc:sldMk cId="1207468544" sldId="276"/>
            <ac:spMk id="11" creationId="{CEEED0CC-4248-12CE-8AAC-F5C0F7D4896C}"/>
          </ac:spMkLst>
        </pc:spChg>
        <pc:spChg chg="add mod">
          <ac:chgData name="Khalid Bakhshi" userId="f1e8cb38fe6bba3e" providerId="LiveId" clId="{9906BF5C-B375-4E04-A86C-65A9BB9DF913}" dt="2026-09-15T08:20:12.686" v="12414" actId="1076"/>
          <ac:spMkLst>
            <pc:docMk/>
            <pc:sldMk cId="1207468544" sldId="276"/>
            <ac:spMk id="12" creationId="{9E913433-DB38-5DDC-895E-CC09DAD8D8EC}"/>
          </ac:spMkLst>
        </pc:spChg>
        <pc:spChg chg="add mod">
          <ac:chgData name="Khalid Bakhshi" userId="f1e8cb38fe6bba3e" providerId="LiveId" clId="{9906BF5C-B375-4E04-A86C-65A9BB9DF913}" dt="2026-09-15T08:20:10.903" v="12413" actId="1076"/>
          <ac:spMkLst>
            <pc:docMk/>
            <pc:sldMk cId="1207468544" sldId="276"/>
            <ac:spMk id="13" creationId="{676F1299-3439-6504-9616-3C0873E7109F}"/>
          </ac:spMkLst>
        </pc:spChg>
        <pc:spChg chg="add mod">
          <ac:chgData name="Khalid Bakhshi" userId="f1e8cb38fe6bba3e" providerId="LiveId" clId="{9906BF5C-B375-4E04-A86C-65A9BB9DF913}" dt="2026-09-15T08:20:04.749" v="12411" actId="1076"/>
          <ac:spMkLst>
            <pc:docMk/>
            <pc:sldMk cId="1207468544" sldId="276"/>
            <ac:spMk id="14" creationId="{A7178A07-FF5B-7201-3480-069A30BD8A43}"/>
          </ac:spMkLst>
        </pc:spChg>
        <pc:spChg chg="add mod">
          <ac:chgData name="Khalid Bakhshi" userId="f1e8cb38fe6bba3e" providerId="LiveId" clId="{9906BF5C-B375-4E04-A86C-65A9BB9DF913}" dt="2026-09-15T08:20:01.227" v="12410" actId="1076"/>
          <ac:spMkLst>
            <pc:docMk/>
            <pc:sldMk cId="1207468544" sldId="276"/>
            <ac:spMk id="15" creationId="{4183CF65-BCD3-242F-B919-3C0DC4A8D79D}"/>
          </ac:spMkLst>
        </pc:spChg>
        <pc:spChg chg="add mod">
          <ac:chgData name="Khalid Bakhshi" userId="f1e8cb38fe6bba3e" providerId="LiveId" clId="{9906BF5C-B375-4E04-A86C-65A9BB9DF913}" dt="2026-09-15T08:20:43.635" v="12447" actId="20577"/>
          <ac:spMkLst>
            <pc:docMk/>
            <pc:sldMk cId="1207468544" sldId="276"/>
            <ac:spMk id="16" creationId="{251A509B-52EC-AC3F-442D-9D272D3AF6A3}"/>
          </ac:spMkLst>
        </pc:spChg>
      </pc:sldChg>
      <pc:sldChg chg="addSp delSp modSp new mod">
        <pc:chgData name="Khalid Bakhshi" userId="f1e8cb38fe6bba3e" providerId="LiveId" clId="{9906BF5C-B375-4E04-A86C-65A9BB9DF913}" dt="2026-09-15T07:07:46.500" v="11412" actId="20577"/>
        <pc:sldMkLst>
          <pc:docMk/>
          <pc:sldMk cId="1810387273" sldId="277"/>
        </pc:sldMkLst>
        <pc:spChg chg="mod">
          <ac:chgData name="Khalid Bakhshi" userId="f1e8cb38fe6bba3e" providerId="LiveId" clId="{9906BF5C-B375-4E04-A86C-65A9BB9DF913}" dt="2026-09-15T07:01:47.320" v="11172" actId="1076"/>
          <ac:spMkLst>
            <pc:docMk/>
            <pc:sldMk cId="1810387273" sldId="277"/>
            <ac:spMk id="2" creationId="{22828035-E7D7-DA19-9FDF-8AD757C84DF4}"/>
          </ac:spMkLst>
        </pc:spChg>
        <pc:spChg chg="del">
          <ac:chgData name="Khalid Bakhshi" userId="f1e8cb38fe6bba3e" providerId="LiveId" clId="{9906BF5C-B375-4E04-A86C-65A9BB9DF913}" dt="2026-09-15T07:01:52.319" v="11173" actId="478"/>
          <ac:spMkLst>
            <pc:docMk/>
            <pc:sldMk cId="1810387273" sldId="277"/>
            <ac:spMk id="3" creationId="{58FFEF6D-0C24-10BA-B924-5E8888C011AF}"/>
          </ac:spMkLst>
        </pc:spChg>
        <pc:spChg chg="add mod">
          <ac:chgData name="Khalid Bakhshi" userId="f1e8cb38fe6bba3e" providerId="LiveId" clId="{9906BF5C-B375-4E04-A86C-65A9BB9DF913}" dt="2026-09-15T07:07:46.500" v="11412" actId="20577"/>
          <ac:spMkLst>
            <pc:docMk/>
            <pc:sldMk cId="1810387273" sldId="277"/>
            <ac:spMk id="4" creationId="{A9C3B628-9BBB-3135-137E-78596AC61884}"/>
          </ac:spMkLst>
        </pc:spChg>
        <pc:spChg chg="add del mod">
          <ac:chgData name="Khalid Bakhshi" userId="f1e8cb38fe6bba3e" providerId="LiveId" clId="{9906BF5C-B375-4E04-A86C-65A9BB9DF913}" dt="2026-09-15T07:04:13.338" v="11238"/>
          <ac:spMkLst>
            <pc:docMk/>
            <pc:sldMk cId="1810387273" sldId="277"/>
            <ac:spMk id="5" creationId="{73617A7E-9BA8-ECC2-8D1E-28D06A7CEC4D}"/>
          </ac:spMkLst>
        </pc:spChg>
      </pc:sldChg>
      <pc:sldChg chg="addSp delSp modSp new mod">
        <pc:chgData name="Khalid Bakhshi" userId="f1e8cb38fe6bba3e" providerId="LiveId" clId="{9906BF5C-B375-4E04-A86C-65A9BB9DF913}" dt="2026-09-15T07:47:13.732" v="11734" actId="14100"/>
        <pc:sldMkLst>
          <pc:docMk/>
          <pc:sldMk cId="1416140293" sldId="278"/>
        </pc:sldMkLst>
        <pc:spChg chg="mod">
          <ac:chgData name="Khalid Bakhshi" userId="f1e8cb38fe6bba3e" providerId="LiveId" clId="{9906BF5C-B375-4E04-A86C-65A9BB9DF913}" dt="2026-09-15T07:37:00.342" v="11495" actId="1076"/>
          <ac:spMkLst>
            <pc:docMk/>
            <pc:sldMk cId="1416140293" sldId="278"/>
            <ac:spMk id="2" creationId="{53F3D889-1FC5-A30F-E8E1-7792247DDF01}"/>
          </ac:spMkLst>
        </pc:spChg>
        <pc:spChg chg="del">
          <ac:chgData name="Khalid Bakhshi" userId="f1e8cb38fe6bba3e" providerId="LiveId" clId="{9906BF5C-B375-4E04-A86C-65A9BB9DF913}" dt="2026-09-15T07:08:49.403" v="11430" actId="478"/>
          <ac:spMkLst>
            <pc:docMk/>
            <pc:sldMk cId="1416140293" sldId="278"/>
            <ac:spMk id="3" creationId="{5896EF4A-94C5-CD29-1D7F-90A32A9D7926}"/>
          </ac:spMkLst>
        </pc:spChg>
        <pc:spChg chg="add mod">
          <ac:chgData name="Khalid Bakhshi" userId="f1e8cb38fe6bba3e" providerId="LiveId" clId="{9906BF5C-B375-4E04-A86C-65A9BB9DF913}" dt="2026-09-15T07:33:31.427" v="11464" actId="1076"/>
          <ac:spMkLst>
            <pc:docMk/>
            <pc:sldMk cId="1416140293" sldId="278"/>
            <ac:spMk id="6" creationId="{E045E07D-FBAB-8C5B-89F6-A17C242B2ED5}"/>
          </ac:spMkLst>
        </pc:spChg>
        <pc:picChg chg="add mod">
          <ac:chgData name="Khalid Bakhshi" userId="f1e8cb38fe6bba3e" providerId="LiveId" clId="{9906BF5C-B375-4E04-A86C-65A9BB9DF913}" dt="2026-09-15T07:47:13.732" v="11734" actId="14100"/>
          <ac:picMkLst>
            <pc:docMk/>
            <pc:sldMk cId="1416140293" sldId="278"/>
            <ac:picMk id="5" creationId="{BAFB2A80-BF62-900E-EC5C-D5AB5D933488}"/>
          </ac:picMkLst>
        </pc:picChg>
      </pc:sldChg>
      <pc:sldChg chg="addSp delSp modSp new mod">
        <pc:chgData name="Khalid Bakhshi" userId="f1e8cb38fe6bba3e" providerId="LiveId" clId="{9906BF5C-B375-4E04-A86C-65A9BB9DF913}" dt="2026-09-15T07:47:31.651" v="11738" actId="14100"/>
        <pc:sldMkLst>
          <pc:docMk/>
          <pc:sldMk cId="2161473534" sldId="279"/>
        </pc:sldMkLst>
        <pc:spChg chg="mod">
          <ac:chgData name="Khalid Bakhshi" userId="f1e8cb38fe6bba3e" providerId="LiveId" clId="{9906BF5C-B375-4E04-A86C-65A9BB9DF913}" dt="2026-09-15T07:37:43.801" v="11548" actId="1076"/>
          <ac:spMkLst>
            <pc:docMk/>
            <pc:sldMk cId="2161473534" sldId="279"/>
            <ac:spMk id="2" creationId="{31E1832A-901A-9892-7DCD-AA92E6C67427}"/>
          </ac:spMkLst>
        </pc:spChg>
        <pc:spChg chg="del">
          <ac:chgData name="Khalid Bakhshi" userId="f1e8cb38fe6bba3e" providerId="LiveId" clId="{9906BF5C-B375-4E04-A86C-65A9BB9DF913}" dt="2026-09-15T07:37:34.918" v="11545" actId="478"/>
          <ac:spMkLst>
            <pc:docMk/>
            <pc:sldMk cId="2161473534" sldId="279"/>
            <ac:spMk id="3" creationId="{A309CC3E-34A0-C338-ADA6-AFE94405ED88}"/>
          </ac:spMkLst>
        </pc:spChg>
        <pc:spChg chg="add mod">
          <ac:chgData name="Khalid Bakhshi" userId="f1e8cb38fe6bba3e" providerId="LiveId" clId="{9906BF5C-B375-4E04-A86C-65A9BB9DF913}" dt="2026-09-15T07:44:54.174" v="11652" actId="20577"/>
          <ac:spMkLst>
            <pc:docMk/>
            <pc:sldMk cId="2161473534" sldId="279"/>
            <ac:spMk id="4" creationId="{0526ECFC-9493-F329-07CA-B9996E42972C}"/>
          </ac:spMkLst>
        </pc:spChg>
        <pc:spChg chg="add mod">
          <ac:chgData name="Khalid Bakhshi" userId="f1e8cb38fe6bba3e" providerId="LiveId" clId="{9906BF5C-B375-4E04-A86C-65A9BB9DF913}" dt="2026-09-15T07:40:19.195" v="11612" actId="14100"/>
          <ac:spMkLst>
            <pc:docMk/>
            <pc:sldMk cId="2161473534" sldId="279"/>
            <ac:spMk id="5" creationId="{9DA00500-8B0C-50D6-2AD3-2AC2894EA6FF}"/>
          </ac:spMkLst>
        </pc:spChg>
        <pc:spChg chg="add mod">
          <ac:chgData name="Khalid Bakhshi" userId="f1e8cb38fe6bba3e" providerId="LiveId" clId="{9906BF5C-B375-4E04-A86C-65A9BB9DF913}" dt="2026-09-15T07:43:46.443" v="11636" actId="1076"/>
          <ac:spMkLst>
            <pc:docMk/>
            <pc:sldMk cId="2161473534" sldId="279"/>
            <ac:spMk id="8" creationId="{761E0A6C-7D8D-36D6-5C1C-46C925AE06F9}"/>
          </ac:spMkLst>
        </pc:spChg>
        <pc:picChg chg="add mod">
          <ac:chgData name="Khalid Bakhshi" userId="f1e8cb38fe6bba3e" providerId="LiveId" clId="{9906BF5C-B375-4E04-A86C-65A9BB9DF913}" dt="2026-09-15T07:47:31.651" v="11738" actId="14100"/>
          <ac:picMkLst>
            <pc:docMk/>
            <pc:sldMk cId="2161473534" sldId="279"/>
            <ac:picMk id="7" creationId="{37DDAA78-AAC2-941F-861F-DA34808FB797}"/>
          </ac:picMkLst>
        </pc:picChg>
      </pc:sldChg>
      <pc:sldChg chg="new del">
        <pc:chgData name="Khalid Bakhshi" userId="f1e8cb38fe6bba3e" providerId="LiveId" clId="{9906BF5C-B375-4E04-A86C-65A9BB9DF913}" dt="2026-09-15T07:33:37.685" v="11466" actId="680"/>
        <pc:sldMkLst>
          <pc:docMk/>
          <pc:sldMk cId="2999893485" sldId="280"/>
        </pc:sldMkLst>
      </pc:sldChg>
      <pc:sldChg chg="addSp delSp modSp new mod">
        <pc:chgData name="Khalid Bakhshi" userId="f1e8cb38fe6bba3e" providerId="LiveId" clId="{9906BF5C-B375-4E04-A86C-65A9BB9DF913}" dt="2026-09-15T07:49:27.103" v="11747" actId="1076"/>
        <pc:sldMkLst>
          <pc:docMk/>
          <pc:sldMk cId="3027809844" sldId="280"/>
        </pc:sldMkLst>
        <pc:spChg chg="mod">
          <ac:chgData name="Khalid Bakhshi" userId="f1e8cb38fe6bba3e" providerId="LiveId" clId="{9906BF5C-B375-4E04-A86C-65A9BB9DF913}" dt="2026-09-15T07:45:33.510" v="11720" actId="1076"/>
          <ac:spMkLst>
            <pc:docMk/>
            <pc:sldMk cId="3027809844" sldId="280"/>
            <ac:spMk id="2" creationId="{C72AD7EC-1F8F-C1B8-2DE6-D62E16A6B4D5}"/>
          </ac:spMkLst>
        </pc:spChg>
        <pc:spChg chg="del">
          <ac:chgData name="Khalid Bakhshi" userId="f1e8cb38fe6bba3e" providerId="LiveId" clId="{9906BF5C-B375-4E04-A86C-65A9BB9DF913}" dt="2026-09-15T07:45:38.695" v="11721" actId="478"/>
          <ac:spMkLst>
            <pc:docMk/>
            <pc:sldMk cId="3027809844" sldId="280"/>
            <ac:spMk id="3" creationId="{6110EBD9-DDD0-DBDF-08A5-EE363AF9B2EE}"/>
          </ac:spMkLst>
        </pc:spChg>
        <pc:spChg chg="add del mod">
          <ac:chgData name="Khalid Bakhshi" userId="f1e8cb38fe6bba3e" providerId="LiveId" clId="{9906BF5C-B375-4E04-A86C-65A9BB9DF913}" dt="2026-09-15T07:47:06.461" v="11732"/>
          <ac:spMkLst>
            <pc:docMk/>
            <pc:sldMk cId="3027809844" sldId="280"/>
            <ac:spMk id="6" creationId="{6767FA67-4551-5882-1F8F-607FC5CE921C}"/>
          </ac:spMkLst>
        </pc:spChg>
        <pc:spChg chg="add mod">
          <ac:chgData name="Khalid Bakhshi" userId="f1e8cb38fe6bba3e" providerId="LiveId" clId="{9906BF5C-B375-4E04-A86C-65A9BB9DF913}" dt="2026-09-15T07:49:27.103" v="11747" actId="1076"/>
          <ac:spMkLst>
            <pc:docMk/>
            <pc:sldMk cId="3027809844" sldId="280"/>
            <ac:spMk id="7" creationId="{34B3B163-1D8C-9408-A655-961CA5A00D52}"/>
          </ac:spMkLst>
        </pc:spChg>
        <pc:picChg chg="add mod">
          <ac:chgData name="Khalid Bakhshi" userId="f1e8cb38fe6bba3e" providerId="LiveId" clId="{9906BF5C-B375-4E04-A86C-65A9BB9DF913}" dt="2026-09-15T07:47:05.205" v="11730" actId="14100"/>
          <ac:picMkLst>
            <pc:docMk/>
            <pc:sldMk cId="3027809844" sldId="280"/>
            <ac:picMk id="5" creationId="{C4CFCABF-BF23-EABD-7921-496DBD11FF2E}"/>
          </ac:picMkLst>
        </pc:picChg>
      </pc:sldChg>
      <pc:sldChg chg="addSp delSp modSp new mod">
        <pc:chgData name="Khalid Bakhshi" userId="f1e8cb38fe6bba3e" providerId="LiveId" clId="{9906BF5C-B375-4E04-A86C-65A9BB9DF913}" dt="2026-09-15T07:52:31.665" v="11835" actId="1076"/>
        <pc:sldMkLst>
          <pc:docMk/>
          <pc:sldMk cId="3334401814" sldId="281"/>
        </pc:sldMkLst>
        <pc:spChg chg="mod">
          <ac:chgData name="Khalid Bakhshi" userId="f1e8cb38fe6bba3e" providerId="LiveId" clId="{9906BF5C-B375-4E04-A86C-65A9BB9DF913}" dt="2026-09-15T07:50:38.433" v="11821" actId="1076"/>
          <ac:spMkLst>
            <pc:docMk/>
            <pc:sldMk cId="3334401814" sldId="281"/>
            <ac:spMk id="2" creationId="{C283BC08-5297-6E80-2015-CC97072E137B}"/>
          </ac:spMkLst>
        </pc:spChg>
        <pc:spChg chg="del">
          <ac:chgData name="Khalid Bakhshi" userId="f1e8cb38fe6bba3e" providerId="LiveId" clId="{9906BF5C-B375-4E04-A86C-65A9BB9DF913}" dt="2026-09-15T07:50:40.621" v="11822" actId="478"/>
          <ac:spMkLst>
            <pc:docMk/>
            <pc:sldMk cId="3334401814" sldId="281"/>
            <ac:spMk id="3" creationId="{5A2B569D-464A-D4C2-54B9-556E6FAEAC46}"/>
          </ac:spMkLst>
        </pc:spChg>
        <pc:spChg chg="add mod">
          <ac:chgData name="Khalid Bakhshi" userId="f1e8cb38fe6bba3e" providerId="LiveId" clId="{9906BF5C-B375-4E04-A86C-65A9BB9DF913}" dt="2026-09-15T07:52:31.665" v="11835" actId="1076"/>
          <ac:spMkLst>
            <pc:docMk/>
            <pc:sldMk cId="3334401814" sldId="281"/>
            <ac:spMk id="6" creationId="{3E8DDD2B-0742-6D60-8237-660F2EAC3B8E}"/>
          </ac:spMkLst>
        </pc:spChg>
        <pc:picChg chg="add mod">
          <ac:chgData name="Khalid Bakhshi" userId="f1e8cb38fe6bba3e" providerId="LiveId" clId="{9906BF5C-B375-4E04-A86C-65A9BB9DF913}" dt="2026-09-15T07:51:55.660" v="11828" actId="14100"/>
          <ac:picMkLst>
            <pc:docMk/>
            <pc:sldMk cId="3334401814" sldId="281"/>
            <ac:picMk id="5" creationId="{1DBA9D49-7479-B31E-3801-031383B64AF0}"/>
          </ac:picMkLst>
        </pc:picChg>
      </pc:sldChg>
      <pc:sldChg chg="addSp delSp modSp new mod">
        <pc:chgData name="Khalid Bakhshi" userId="f1e8cb38fe6bba3e" providerId="LiveId" clId="{9906BF5C-B375-4E04-A86C-65A9BB9DF913}" dt="2026-09-15T07:59:10.993" v="12048" actId="1076"/>
        <pc:sldMkLst>
          <pc:docMk/>
          <pc:sldMk cId="838823497" sldId="282"/>
        </pc:sldMkLst>
        <pc:spChg chg="mod">
          <ac:chgData name="Khalid Bakhshi" userId="f1e8cb38fe6bba3e" providerId="LiveId" clId="{9906BF5C-B375-4E04-A86C-65A9BB9DF913}" dt="2026-09-15T07:54:25.287" v="11888" actId="1076"/>
          <ac:spMkLst>
            <pc:docMk/>
            <pc:sldMk cId="838823497" sldId="282"/>
            <ac:spMk id="2" creationId="{67E1F1A6-FA9B-93C4-F830-4B1A65D2094E}"/>
          </ac:spMkLst>
        </pc:spChg>
        <pc:spChg chg="del">
          <ac:chgData name="Khalid Bakhshi" userId="f1e8cb38fe6bba3e" providerId="LiveId" clId="{9906BF5C-B375-4E04-A86C-65A9BB9DF913}" dt="2026-09-15T07:54:28.218" v="11889" actId="478"/>
          <ac:spMkLst>
            <pc:docMk/>
            <pc:sldMk cId="838823497" sldId="282"/>
            <ac:spMk id="3" creationId="{2E8137C4-2771-1CB3-093B-0BFD41827B63}"/>
          </ac:spMkLst>
        </pc:spChg>
        <pc:spChg chg="add mod">
          <ac:chgData name="Khalid Bakhshi" userId="f1e8cb38fe6bba3e" providerId="LiveId" clId="{9906BF5C-B375-4E04-A86C-65A9BB9DF913}" dt="2026-09-15T07:54:57.503" v="11904" actId="1076"/>
          <ac:spMkLst>
            <pc:docMk/>
            <pc:sldMk cId="838823497" sldId="282"/>
            <ac:spMk id="4" creationId="{A6847BE6-DCFA-EBE5-18A4-5A417F2152EB}"/>
          </ac:spMkLst>
        </pc:spChg>
        <pc:spChg chg="add mod">
          <ac:chgData name="Khalid Bakhshi" userId="f1e8cb38fe6bba3e" providerId="LiveId" clId="{9906BF5C-B375-4E04-A86C-65A9BB9DF913}" dt="2026-09-15T07:57:57.242" v="12034" actId="1076"/>
          <ac:spMkLst>
            <pc:docMk/>
            <pc:sldMk cId="838823497" sldId="282"/>
            <ac:spMk id="5" creationId="{0EEFF77C-8E97-84FD-2D3E-2B02ED0582B0}"/>
          </ac:spMkLst>
        </pc:spChg>
        <pc:spChg chg="add mod">
          <ac:chgData name="Khalid Bakhshi" userId="f1e8cb38fe6bba3e" providerId="LiveId" clId="{9906BF5C-B375-4E04-A86C-65A9BB9DF913}" dt="2026-09-15T07:58:05.811" v="12037" actId="1076"/>
          <ac:spMkLst>
            <pc:docMk/>
            <pc:sldMk cId="838823497" sldId="282"/>
            <ac:spMk id="6" creationId="{F62A832B-20A9-B23F-9A00-602D42B1109F}"/>
          </ac:spMkLst>
        </pc:spChg>
        <pc:spChg chg="add mod">
          <ac:chgData name="Khalid Bakhshi" userId="f1e8cb38fe6bba3e" providerId="LiveId" clId="{9906BF5C-B375-4E04-A86C-65A9BB9DF913}" dt="2026-09-15T07:59:10.993" v="12048" actId="1076"/>
          <ac:spMkLst>
            <pc:docMk/>
            <pc:sldMk cId="838823497" sldId="282"/>
            <ac:spMk id="9" creationId="{EC5F29BD-8B48-95F0-7959-BE2E296AE919}"/>
          </ac:spMkLst>
        </pc:spChg>
        <pc:picChg chg="add mod">
          <ac:chgData name="Khalid Bakhshi" userId="f1e8cb38fe6bba3e" providerId="LiveId" clId="{9906BF5C-B375-4E04-A86C-65A9BB9DF913}" dt="2026-09-15T07:58:10.925" v="12040" actId="1076"/>
          <ac:picMkLst>
            <pc:docMk/>
            <pc:sldMk cId="838823497" sldId="282"/>
            <ac:picMk id="8" creationId="{9A848EDE-C8FC-DB09-9BE9-3388CC9A30FC}"/>
          </ac:picMkLst>
        </pc:picChg>
      </pc:sldChg>
      <pc:sldChg chg="addSp delSp modSp new mod">
        <pc:chgData name="Khalid Bakhshi" userId="f1e8cb38fe6bba3e" providerId="LiveId" clId="{9906BF5C-B375-4E04-A86C-65A9BB9DF913}" dt="2026-09-15T08:02:07.127" v="12145" actId="1076"/>
        <pc:sldMkLst>
          <pc:docMk/>
          <pc:sldMk cId="251504053" sldId="283"/>
        </pc:sldMkLst>
        <pc:spChg chg="mod">
          <ac:chgData name="Khalid Bakhshi" userId="f1e8cb38fe6bba3e" providerId="LiveId" clId="{9906BF5C-B375-4E04-A86C-65A9BB9DF913}" dt="2026-09-15T08:00:07.662" v="12129" actId="1076"/>
          <ac:spMkLst>
            <pc:docMk/>
            <pc:sldMk cId="251504053" sldId="283"/>
            <ac:spMk id="2" creationId="{B3BC2F0F-546A-0FBC-DF3B-B13AADB613F0}"/>
          </ac:spMkLst>
        </pc:spChg>
        <pc:spChg chg="del">
          <ac:chgData name="Khalid Bakhshi" userId="f1e8cb38fe6bba3e" providerId="LiveId" clId="{9906BF5C-B375-4E04-A86C-65A9BB9DF913}" dt="2026-09-15T08:00:11.105" v="12130" actId="478"/>
          <ac:spMkLst>
            <pc:docMk/>
            <pc:sldMk cId="251504053" sldId="283"/>
            <ac:spMk id="3" creationId="{B806FA12-DC7B-4519-AA28-B0D5CB57407D}"/>
          </ac:spMkLst>
        </pc:spChg>
        <pc:spChg chg="add mod">
          <ac:chgData name="Khalid Bakhshi" userId="f1e8cb38fe6bba3e" providerId="LiveId" clId="{9906BF5C-B375-4E04-A86C-65A9BB9DF913}" dt="2026-09-15T08:02:07.127" v="12145" actId="1076"/>
          <ac:spMkLst>
            <pc:docMk/>
            <pc:sldMk cId="251504053" sldId="283"/>
            <ac:spMk id="6" creationId="{14C2D953-EBFF-59F1-4FCA-A14C48CFA6BE}"/>
          </ac:spMkLst>
        </pc:spChg>
        <pc:picChg chg="add mod">
          <ac:chgData name="Khalid Bakhshi" userId="f1e8cb38fe6bba3e" providerId="LiveId" clId="{9906BF5C-B375-4E04-A86C-65A9BB9DF913}" dt="2026-09-15T08:01:10.723" v="12137" actId="14100"/>
          <ac:picMkLst>
            <pc:docMk/>
            <pc:sldMk cId="251504053" sldId="283"/>
            <ac:picMk id="5" creationId="{C08BE145-4E03-D0DF-2A2D-06309D58492F}"/>
          </ac:picMkLst>
        </pc:picChg>
      </pc:sldChg>
      <pc:sldChg chg="addSp delSp modSp new mod">
        <pc:chgData name="Khalid Bakhshi" userId="f1e8cb38fe6bba3e" providerId="LiveId" clId="{9906BF5C-B375-4E04-A86C-65A9BB9DF913}" dt="2026-09-15T08:04:57.399" v="12171" actId="1076"/>
        <pc:sldMkLst>
          <pc:docMk/>
          <pc:sldMk cId="1708172254" sldId="284"/>
        </pc:sldMkLst>
        <pc:spChg chg="mod">
          <ac:chgData name="Khalid Bakhshi" userId="f1e8cb38fe6bba3e" providerId="LiveId" clId="{9906BF5C-B375-4E04-A86C-65A9BB9DF913}" dt="2026-09-15T08:03:00.484" v="12155" actId="1076"/>
          <ac:spMkLst>
            <pc:docMk/>
            <pc:sldMk cId="1708172254" sldId="284"/>
            <ac:spMk id="2" creationId="{9E0431D0-47AD-5F67-9850-A2F367B7033D}"/>
          </ac:spMkLst>
        </pc:spChg>
        <pc:spChg chg="del">
          <ac:chgData name="Khalid Bakhshi" userId="f1e8cb38fe6bba3e" providerId="LiveId" clId="{9906BF5C-B375-4E04-A86C-65A9BB9DF913}" dt="2026-09-15T08:03:18.349" v="12156" actId="478"/>
          <ac:spMkLst>
            <pc:docMk/>
            <pc:sldMk cId="1708172254" sldId="284"/>
            <ac:spMk id="3" creationId="{111C51CE-2016-A03F-5DE4-2AB1F27D3CE7}"/>
          </ac:spMkLst>
        </pc:spChg>
        <pc:spChg chg="add mod">
          <ac:chgData name="Khalid Bakhshi" userId="f1e8cb38fe6bba3e" providerId="LiveId" clId="{9906BF5C-B375-4E04-A86C-65A9BB9DF913}" dt="2026-09-15T08:04:57.399" v="12171" actId="1076"/>
          <ac:spMkLst>
            <pc:docMk/>
            <pc:sldMk cId="1708172254" sldId="284"/>
            <ac:spMk id="6" creationId="{F3076D45-075B-686E-9024-761E92EB868A}"/>
          </ac:spMkLst>
        </pc:spChg>
        <pc:picChg chg="add mod">
          <ac:chgData name="Khalid Bakhshi" userId="f1e8cb38fe6bba3e" providerId="LiveId" clId="{9906BF5C-B375-4E04-A86C-65A9BB9DF913}" dt="2026-09-15T08:04:28.991" v="12164" actId="14100"/>
          <ac:picMkLst>
            <pc:docMk/>
            <pc:sldMk cId="1708172254" sldId="284"/>
            <ac:picMk id="5" creationId="{E22883C6-A4DD-F3C5-2494-2BCFD87DA3CB}"/>
          </ac:picMkLst>
        </pc:picChg>
      </pc:sldChg>
      <pc:sldChg chg="addSp delSp modSp new del mod">
        <pc:chgData name="Khalid Bakhshi" userId="f1e8cb38fe6bba3e" providerId="LiveId" clId="{9906BF5C-B375-4E04-A86C-65A9BB9DF913}" dt="2026-09-15T08:42:52.508" v="12551" actId="2696"/>
        <pc:sldMkLst>
          <pc:docMk/>
          <pc:sldMk cId="156091101" sldId="285"/>
        </pc:sldMkLst>
        <pc:spChg chg="mod">
          <ac:chgData name="Khalid Bakhshi" userId="f1e8cb38fe6bba3e" providerId="LiveId" clId="{9906BF5C-B375-4E04-A86C-65A9BB9DF913}" dt="2026-09-15T08:23:15.077" v="12505" actId="20577"/>
          <ac:spMkLst>
            <pc:docMk/>
            <pc:sldMk cId="156091101" sldId="285"/>
            <ac:spMk id="2" creationId="{83B4DDEC-1FE0-70E9-593F-7A17B1440982}"/>
          </ac:spMkLst>
        </pc:spChg>
        <pc:spChg chg="del">
          <ac:chgData name="Khalid Bakhshi" userId="f1e8cb38fe6bba3e" providerId="LiveId" clId="{9906BF5C-B375-4E04-A86C-65A9BB9DF913}" dt="2026-09-15T08:07:13.930" v="12224" actId="478"/>
          <ac:spMkLst>
            <pc:docMk/>
            <pc:sldMk cId="156091101" sldId="285"/>
            <ac:spMk id="3" creationId="{149CD148-C94B-E66F-8BA2-9532DC5A9689}"/>
          </ac:spMkLst>
        </pc:spChg>
        <pc:spChg chg="add mod">
          <ac:chgData name="Khalid Bakhshi" userId="f1e8cb38fe6bba3e" providerId="LiveId" clId="{9906BF5C-B375-4E04-A86C-65A9BB9DF913}" dt="2026-09-15T08:22:36.144" v="12489" actId="114"/>
          <ac:spMkLst>
            <pc:docMk/>
            <pc:sldMk cId="156091101" sldId="285"/>
            <ac:spMk id="5" creationId="{3D0599DC-9BDD-F0F9-7356-7267194A96B1}"/>
          </ac:spMkLst>
        </pc:spChg>
        <pc:graphicFrameChg chg="add mod modGraphic">
          <ac:chgData name="Khalid Bakhshi" userId="f1e8cb38fe6bba3e" providerId="LiveId" clId="{9906BF5C-B375-4E04-A86C-65A9BB9DF913}" dt="2026-09-15T08:28:16.666" v="12550" actId="1076"/>
          <ac:graphicFrameMkLst>
            <pc:docMk/>
            <pc:sldMk cId="156091101" sldId="285"/>
            <ac:graphicFrameMk id="4" creationId="{BA9F23F3-6233-21E9-118B-54AA1BFF8F51}"/>
          </ac:graphicFrameMkLst>
        </pc:graphicFrameChg>
        <pc:graphicFrameChg chg="add del mod">
          <ac:chgData name="Khalid Bakhshi" userId="f1e8cb38fe6bba3e" providerId="LiveId" clId="{9906BF5C-B375-4E04-A86C-65A9BB9DF913}" dt="2026-09-15T08:23:09.171" v="12492" actId="478"/>
          <ac:graphicFrameMkLst>
            <pc:docMk/>
            <pc:sldMk cId="156091101" sldId="285"/>
            <ac:graphicFrameMk id="6" creationId="{BF23FF22-97F4-243D-27B3-519692745AB5}"/>
          </ac:graphicFrameMkLst>
        </pc:graphicFrameChg>
      </pc:sldChg>
      <pc:sldChg chg="new del">
        <pc:chgData name="Khalid Bakhshi" userId="f1e8cb38fe6bba3e" providerId="LiveId" clId="{9906BF5C-B375-4E04-A86C-65A9BB9DF913}" dt="2026-09-15T12:03:49.128" v="14233" actId="2696"/>
        <pc:sldMkLst>
          <pc:docMk/>
          <pc:sldMk cId="2528234941" sldId="28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EA29AF-423F-4FB1-B0D6-16B01C07AC8D}" type="datetimeFigureOut">
              <a:rPr lang="en-AU" smtClean="0"/>
              <a:t>21/09/2026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603CD4-2F20-4B2D-9BE7-C9464052F050}" type="slidenum">
              <a:rPr lang="en-AU" smtClean="0"/>
              <a:t>‹#›</a:t>
            </a:fld>
            <a:endParaRPr lang="en-AU"/>
          </a:p>
        </p:txBody>
      </p:sp>
    </p:spTree>
    <p:extLst>
      <p:ext uri="{BB962C8B-B14F-4D97-AF65-F5344CB8AC3E}">
        <p14:creationId xmlns:p14="http://schemas.microsoft.com/office/powerpoint/2010/main" val="3938154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presentation examines ransomware extortion in healthcare through two incidents:</a:t>
            </a:r>
          </a:p>
          <a:p>
            <a:r>
              <a:rPr lang="en-AU" dirty="0"/>
              <a:t>The 2021 Conti attack on Ireland’s Health Service Executive, or HSE,</a:t>
            </a:r>
          </a:p>
          <a:p>
            <a:r>
              <a:rPr lang="en-AU" dirty="0"/>
              <a:t>and the 2024 ALPHV </a:t>
            </a:r>
            <a:r>
              <a:rPr lang="en-AU" dirty="0" err="1"/>
              <a:t>BlackCat</a:t>
            </a:r>
            <a:r>
              <a:rPr lang="en-AU" dirty="0"/>
              <a:t> attack on Change Healthcare in the United States.</a:t>
            </a:r>
          </a:p>
          <a:p>
            <a:r>
              <a:rPr lang="en-AU" dirty="0"/>
              <a:t>My objective is to develop an initial evidence-based attack model,</a:t>
            </a:r>
          </a:p>
          <a:p>
            <a:r>
              <a:rPr lang="en-AU" dirty="0"/>
              <a:t>identify the weaknesses that may have enabled these incidents,</a:t>
            </a:r>
          </a:p>
          <a:p>
            <a:r>
              <a:rPr lang="en-AU" dirty="0"/>
              <a:t>and recommend the areas healthcare organisations should address first.</a:t>
            </a:r>
          </a:p>
          <a:p>
            <a:endParaRPr lang="en-AU" dirty="0"/>
          </a:p>
        </p:txBody>
      </p:sp>
      <p:sp>
        <p:nvSpPr>
          <p:cNvPr id="4" name="Slide Number Placeholder 3"/>
          <p:cNvSpPr>
            <a:spLocks noGrp="1"/>
          </p:cNvSpPr>
          <p:nvPr>
            <p:ph type="sldNum" sz="quarter" idx="5"/>
          </p:nvPr>
        </p:nvSpPr>
        <p:spPr/>
        <p:txBody>
          <a:bodyPr/>
          <a:lstStyle/>
          <a:p>
            <a:fld id="{32603CD4-2F20-4B2D-9BE7-C9464052F050}" type="slidenum">
              <a:rPr lang="en-AU" smtClean="0"/>
              <a:t>1</a:t>
            </a:fld>
            <a:endParaRPr lang="en-AU"/>
          </a:p>
        </p:txBody>
      </p:sp>
    </p:spTree>
    <p:extLst>
      <p:ext uri="{BB962C8B-B14F-4D97-AF65-F5344CB8AC3E}">
        <p14:creationId xmlns:p14="http://schemas.microsoft.com/office/powerpoint/2010/main" val="22694372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 chose these cases because they involved the same sector and attack category, but had different initial-access routes.</a:t>
            </a:r>
          </a:p>
          <a:p>
            <a:r>
              <a:rPr lang="en-AU" dirty="0"/>
              <a:t>HSE began with a malicious Excel attachment. Change Healthcare began with compromised credentials used against a Citrix remote-access portal without multi-factor authentication.</a:t>
            </a:r>
          </a:p>
          <a:p>
            <a:r>
              <a:rPr lang="en-AU" dirty="0"/>
              <a:t>Despite that difference, both incidents developed into enterprise expansion, data theft, encryption and extortion.</a:t>
            </a:r>
            <a:br>
              <a:rPr lang="en-AU" dirty="0"/>
            </a:br>
            <a:r>
              <a:rPr lang="en-AU" dirty="0"/>
              <a:t>The attackers entered through different doors, but followed a broadly similar path once inside. </a:t>
            </a:r>
          </a:p>
          <a:p>
            <a:r>
              <a:rPr lang="en-AU" dirty="0"/>
              <a:t>(PwC, 2021, p. 45; Witty, 2024, p. 3)</a:t>
            </a:r>
          </a:p>
        </p:txBody>
      </p:sp>
      <p:sp>
        <p:nvSpPr>
          <p:cNvPr id="4" name="Slide Number Placeholder 3"/>
          <p:cNvSpPr>
            <a:spLocks noGrp="1"/>
          </p:cNvSpPr>
          <p:nvPr>
            <p:ph type="sldNum" sz="quarter" idx="5"/>
          </p:nvPr>
        </p:nvSpPr>
        <p:spPr/>
        <p:txBody>
          <a:bodyPr/>
          <a:lstStyle/>
          <a:p>
            <a:fld id="{32603CD4-2F20-4B2D-9BE7-C9464052F050}" type="slidenum">
              <a:rPr lang="en-AU" smtClean="0"/>
              <a:t>2</a:t>
            </a:fld>
            <a:endParaRPr lang="en-AU"/>
          </a:p>
        </p:txBody>
      </p:sp>
    </p:spTree>
    <p:extLst>
      <p:ext uri="{BB962C8B-B14F-4D97-AF65-F5344CB8AC3E}">
        <p14:creationId xmlns:p14="http://schemas.microsoft.com/office/powerpoint/2010/main" val="678225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 this investigation, ransomware extortion means a human-operated attack that creates payment pressure through system disruption, stolen data, or both.</a:t>
            </a:r>
          </a:p>
          <a:p>
            <a:r>
              <a:rPr lang="en-AU" dirty="0"/>
              <a:t>Healthcare organisations are particularly exposed because unavailable systems can interfere with clinical services, medication, claims and payments.</a:t>
            </a:r>
          </a:p>
          <a:p>
            <a:r>
              <a:rPr lang="en-AU" dirty="0"/>
              <a:t>Data theft can also expose protected health and identity information.</a:t>
            </a:r>
          </a:p>
          <a:p>
            <a:r>
              <a:rPr lang="en-AU" dirty="0"/>
              <a:t>The critical assets therefore include identity infrastructure, clinical and administrative applications, sensitive data, backups, claims platforms, and the organisation’s ability to continue delivering care.</a:t>
            </a:r>
            <a:br>
              <a:rPr lang="en-AU" dirty="0"/>
            </a:br>
            <a:r>
              <a:rPr lang="en-AU" dirty="0"/>
              <a:t>(PwC, 2021, pp. 45–46; Fliegelman and Stemp, 2024, pp. 2–6)</a:t>
            </a:r>
          </a:p>
          <a:p>
            <a:endParaRPr lang="en-AU" dirty="0"/>
          </a:p>
        </p:txBody>
      </p:sp>
      <p:sp>
        <p:nvSpPr>
          <p:cNvPr id="4" name="Slide Number Placeholder 3"/>
          <p:cNvSpPr>
            <a:spLocks noGrp="1"/>
          </p:cNvSpPr>
          <p:nvPr>
            <p:ph type="sldNum" sz="quarter" idx="5"/>
          </p:nvPr>
        </p:nvSpPr>
        <p:spPr/>
        <p:txBody>
          <a:bodyPr/>
          <a:lstStyle/>
          <a:p>
            <a:fld id="{32603CD4-2F20-4B2D-9BE7-C9464052F050}" type="slidenum">
              <a:rPr lang="en-AU" smtClean="0"/>
              <a:t>3</a:t>
            </a:fld>
            <a:endParaRPr lang="en-AU"/>
          </a:p>
        </p:txBody>
      </p:sp>
    </p:spTree>
    <p:extLst>
      <p:ext uri="{BB962C8B-B14F-4D97-AF65-F5344CB8AC3E}">
        <p14:creationId xmlns:p14="http://schemas.microsoft.com/office/powerpoint/2010/main" val="29814600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main HSE source was PwC’s independent post-incident review.</a:t>
            </a:r>
          </a:p>
          <a:p>
            <a:r>
              <a:rPr lang="en-AU" dirty="0"/>
              <a:t>For Change Healthcare, I used Andrew Witty’s congressional testimony,</a:t>
            </a:r>
          </a:p>
          <a:p>
            <a:r>
              <a:rPr lang="en-AU" dirty="0"/>
              <a:t>UnitedHealth disclosures, the Office of Financial Research brief,</a:t>
            </a:r>
          </a:p>
          <a:p>
            <a:r>
              <a:rPr lang="en-AU" dirty="0"/>
              <a:t>and government guidance.</a:t>
            </a:r>
          </a:p>
          <a:p>
            <a:r>
              <a:rPr lang="en-AU" dirty="0"/>
              <a:t>I labelled reported evidence as R-H, evidence-based inference as I-M, and unknown or redacted mechanisms as U.</a:t>
            </a:r>
          </a:p>
          <a:p>
            <a:r>
              <a:rPr lang="en-AU" dirty="0"/>
              <a:t>I manually built each tree using attacker actions only, with control weaknesses shown separately.</a:t>
            </a:r>
          </a:p>
          <a:p>
            <a:r>
              <a:rPr lang="en-AU" dirty="0"/>
              <a:t>I then generated one uncorrected ChatGPT tree for each incident, compared the outputs,</a:t>
            </a:r>
          </a:p>
          <a:p>
            <a:r>
              <a:rPr lang="en-AU" dirty="0"/>
              <a:t>and created case-level and final cross-incident syntheses.</a:t>
            </a:r>
          </a:p>
          <a:p>
            <a:r>
              <a:rPr lang="en-AU" dirty="0"/>
              <a:t>(PwC, 2021; Witty, 2024; UnitedHealth Group, 2024; Fliegelman and Stemp, 2024; CISA, FBI and HHS, 2024)</a:t>
            </a:r>
          </a:p>
        </p:txBody>
      </p:sp>
      <p:sp>
        <p:nvSpPr>
          <p:cNvPr id="4" name="Slide Number Placeholder 3"/>
          <p:cNvSpPr>
            <a:spLocks noGrp="1"/>
          </p:cNvSpPr>
          <p:nvPr>
            <p:ph type="sldNum" sz="quarter" idx="5"/>
          </p:nvPr>
        </p:nvSpPr>
        <p:spPr/>
        <p:txBody>
          <a:bodyPr/>
          <a:lstStyle/>
          <a:p>
            <a:fld id="{32603CD4-2F20-4B2D-9BE7-C9464052F050}" type="slidenum">
              <a:rPr lang="en-AU" smtClean="0"/>
              <a:t>4</a:t>
            </a:fld>
            <a:endParaRPr lang="en-AU"/>
          </a:p>
        </p:txBody>
      </p:sp>
    </p:spTree>
    <p:extLst>
      <p:ext uri="{BB962C8B-B14F-4D97-AF65-F5344CB8AC3E}">
        <p14:creationId xmlns:p14="http://schemas.microsoft.com/office/powerpoint/2010/main" val="11023823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PwC reported that the phishing email arrived on 16 March 2021, and the patient-zero workstation became infected on 18 March.</a:t>
            </a:r>
          </a:p>
          <a:p>
            <a:r>
              <a:rPr lang="en-AU" dirty="0"/>
              <a:t>The attacker remained in the environment until Conti ransomware was executed on 14 May. This provided almost two months for reconnaissance, privilege acquisition, and lateral movement.</a:t>
            </a:r>
          </a:p>
          <a:p>
            <a:r>
              <a:rPr lang="en-AU" dirty="0"/>
              <a:t>Investigators found evidence of encryption on more than 2,800 servers and 3,500 workstations.</a:t>
            </a:r>
          </a:p>
          <a:p>
            <a:r>
              <a:rPr lang="en-AU" dirty="0"/>
              <a:t>HSE management estimated that around 80 per cent of the environment was encrypted.</a:t>
            </a:r>
          </a:p>
          <a:p>
            <a:r>
              <a:rPr lang="en-AU" dirty="0"/>
              <a:t>Email, Active Directory information and file data were also exposed.</a:t>
            </a:r>
          </a:p>
          <a:p>
            <a:r>
              <a:rPr lang="en-AU" dirty="0"/>
              <a:t>Important technical details, including the persistence method and the name of one exploited vulnerability, remain undisclosed.</a:t>
            </a:r>
            <a:br>
              <a:rPr lang="en-AU" dirty="0"/>
            </a:br>
            <a:br>
              <a:rPr lang="en-AU" dirty="0"/>
            </a:br>
            <a:r>
              <a:rPr lang="en-AU" dirty="0"/>
              <a:t>(PwC, 2021, pp. 29, 45–46)</a:t>
            </a:r>
          </a:p>
          <a:p>
            <a:endParaRPr lang="en-AU" dirty="0"/>
          </a:p>
        </p:txBody>
      </p:sp>
      <p:sp>
        <p:nvSpPr>
          <p:cNvPr id="4" name="Slide Number Placeholder 3"/>
          <p:cNvSpPr>
            <a:spLocks noGrp="1"/>
          </p:cNvSpPr>
          <p:nvPr>
            <p:ph type="sldNum" sz="quarter" idx="5"/>
          </p:nvPr>
        </p:nvSpPr>
        <p:spPr/>
        <p:txBody>
          <a:bodyPr/>
          <a:lstStyle/>
          <a:p>
            <a:fld id="{32603CD4-2F20-4B2D-9BE7-C9464052F050}" type="slidenum">
              <a:rPr lang="en-AU" smtClean="0"/>
              <a:t>5</a:t>
            </a:fld>
            <a:endParaRPr lang="en-AU"/>
          </a:p>
        </p:txBody>
      </p:sp>
    </p:spTree>
    <p:extLst>
      <p:ext uri="{BB962C8B-B14F-4D97-AF65-F5344CB8AC3E}">
        <p14:creationId xmlns:p14="http://schemas.microsoft.com/office/powerpoint/2010/main" val="27059783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HSE tree’s root objective is to achieve ransomware extortion. Its AND gate requires durable access,</a:t>
            </a:r>
          </a:p>
          <a:p>
            <a:r>
              <a:rPr lang="en-AU" dirty="0"/>
              <a:t>enterprise reach, coercive impact, and communication of the demand.</a:t>
            </a:r>
          </a:p>
          <a:p>
            <a:r>
              <a:rPr lang="en-AU" dirty="0"/>
              <a:t>The access branch covers delivery of the malicious attachment, infection of patient zero,</a:t>
            </a:r>
          </a:p>
          <a:p>
            <a:r>
              <a:rPr lang="en-AU" dirty="0"/>
              <a:t>and persistence.</a:t>
            </a:r>
          </a:p>
          <a:p>
            <a:r>
              <a:rPr lang="en-AU" dirty="0"/>
              <a:t>Persistence is marked unknown because PwC did not disclose its mechanism.</a:t>
            </a:r>
          </a:p>
          <a:p>
            <a:r>
              <a:rPr lang="en-AU" dirty="0"/>
              <a:t>Enterprise reach required reconnaissance and privileged access.</a:t>
            </a:r>
          </a:p>
          <a:p>
            <a:r>
              <a:rPr lang="en-AU" dirty="0"/>
              <a:t>The attacker then moved through network connectivity and Active Directory trusts, or through a critical vulnerability affecting two hospitals.</a:t>
            </a:r>
          </a:p>
          <a:p>
            <a:r>
              <a:rPr lang="en-AU" dirty="0"/>
              <a:t>The exploit name is also marked unknown.</a:t>
            </a:r>
          </a:p>
          <a:p>
            <a:r>
              <a:rPr lang="en-AU" dirty="0"/>
              <a:t>Finally, encryption created availability pressure, while stolen data created confidentiality pressure.</a:t>
            </a:r>
          </a:p>
          <a:p>
            <a:r>
              <a:rPr lang="en-AU" dirty="0"/>
              <a:t>The side annotations show contributing weaknesses, including monitoring-mode antivirus, weak alert escalation, privileged-account weaknesses, limited segmentation, and vulnerable backups.</a:t>
            </a:r>
            <a:br>
              <a:rPr lang="en-AU" dirty="0"/>
            </a:br>
            <a:br>
              <a:rPr lang="en-AU" dirty="0"/>
            </a:br>
            <a:r>
              <a:rPr lang="en-AU" dirty="0"/>
              <a:t>(PwC, 2021, pp. 29, 37, 45, 47–55)</a:t>
            </a:r>
          </a:p>
          <a:p>
            <a:endParaRPr lang="en-AU" dirty="0"/>
          </a:p>
        </p:txBody>
      </p:sp>
      <p:sp>
        <p:nvSpPr>
          <p:cNvPr id="4" name="Slide Number Placeholder 3"/>
          <p:cNvSpPr>
            <a:spLocks noGrp="1"/>
          </p:cNvSpPr>
          <p:nvPr>
            <p:ph type="sldNum" sz="quarter" idx="5"/>
          </p:nvPr>
        </p:nvSpPr>
        <p:spPr/>
        <p:txBody>
          <a:bodyPr/>
          <a:lstStyle/>
          <a:p>
            <a:fld id="{32603CD4-2F20-4B2D-9BE7-C9464052F050}" type="slidenum">
              <a:rPr lang="en-AU" smtClean="0"/>
              <a:t>6</a:t>
            </a:fld>
            <a:endParaRPr lang="en-AU"/>
          </a:p>
        </p:txBody>
      </p:sp>
    </p:spTree>
    <p:extLst>
      <p:ext uri="{BB962C8B-B14F-4D97-AF65-F5344CB8AC3E}">
        <p14:creationId xmlns:p14="http://schemas.microsoft.com/office/powerpoint/2010/main" val="998052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ChatGPT produced a structured diagram.</a:t>
            </a:r>
          </a:p>
          <a:p>
            <a:r>
              <a:rPr lang="en-AU" dirty="0"/>
              <a:t>It represented encryption and data disclosure as sources of leverage, and avoided inventing the redacted vulnerability.</a:t>
            </a:r>
          </a:p>
          <a:p>
            <a:r>
              <a:rPr lang="en-AU" dirty="0"/>
              <a:t>However, it placed “user opens attachment” inside the tree, even though that is a victim action.</a:t>
            </a:r>
          </a:p>
          <a:p>
            <a:r>
              <a:rPr lang="en-AU" dirty="0"/>
              <a:t>It also omitted page-level evidence labels, control-weakness annotations, and a clear unknown marker for persistence.</a:t>
            </a:r>
          </a:p>
          <a:p>
            <a:r>
              <a:rPr lang="en-AU" dirty="0"/>
              <a:t>The case synthesis kept the LLM’s readable structure, but corrected those issues using the manual evidence audit.</a:t>
            </a:r>
          </a:p>
          <a:p>
            <a:r>
              <a:rPr lang="en-AU" dirty="0"/>
              <a:t>This shows where an LLM can help organise information, but still requires human validation.</a:t>
            </a:r>
          </a:p>
          <a:p>
            <a:br>
              <a:rPr lang="en-AU" dirty="0"/>
            </a:br>
            <a:r>
              <a:rPr lang="en-AU" dirty="0"/>
              <a:t>(OpenAI, 2026; PwC, 2021)</a:t>
            </a:r>
          </a:p>
        </p:txBody>
      </p:sp>
      <p:sp>
        <p:nvSpPr>
          <p:cNvPr id="4" name="Slide Number Placeholder 3"/>
          <p:cNvSpPr>
            <a:spLocks noGrp="1"/>
          </p:cNvSpPr>
          <p:nvPr>
            <p:ph type="sldNum" sz="quarter" idx="5"/>
          </p:nvPr>
        </p:nvSpPr>
        <p:spPr/>
        <p:txBody>
          <a:bodyPr/>
          <a:lstStyle/>
          <a:p>
            <a:fld id="{32603CD4-2F20-4B2D-9BE7-C9464052F050}" type="slidenum">
              <a:rPr lang="en-AU" smtClean="0"/>
              <a:t>7</a:t>
            </a:fld>
            <a:endParaRPr lang="en-AU"/>
          </a:p>
        </p:txBody>
      </p:sp>
    </p:spTree>
    <p:extLst>
      <p:ext uri="{BB962C8B-B14F-4D97-AF65-F5344CB8AC3E}">
        <p14:creationId xmlns:p14="http://schemas.microsoft.com/office/powerpoint/2010/main" val="34047894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synthesised HSE model separates attacker actions from the conditions that enabled them.</a:t>
            </a:r>
          </a:p>
          <a:p>
            <a:r>
              <a:rPr lang="en-AU" dirty="0"/>
              <a:t>For example, weak macro controls appear beside initial access, rather than inside the attack path.</a:t>
            </a:r>
          </a:p>
          <a:p>
            <a:r>
              <a:rPr lang="en-AU" dirty="0"/>
              <a:t>It also preserves redacted mechanisms as unknown, instead of filling evidence gaps with plausible but unsupported techniques.</a:t>
            </a:r>
          </a:p>
          <a:p>
            <a:r>
              <a:rPr lang="en-AU" dirty="0"/>
              <a:t>(PwC, 2021, pp. 29, 45–55; OpenAI, 2026)</a:t>
            </a:r>
          </a:p>
        </p:txBody>
      </p:sp>
      <p:sp>
        <p:nvSpPr>
          <p:cNvPr id="4" name="Slide Number Placeholder 3"/>
          <p:cNvSpPr>
            <a:spLocks noGrp="1"/>
          </p:cNvSpPr>
          <p:nvPr>
            <p:ph type="sldNum" sz="quarter" idx="5"/>
          </p:nvPr>
        </p:nvSpPr>
        <p:spPr/>
        <p:txBody>
          <a:bodyPr/>
          <a:lstStyle/>
          <a:p>
            <a:fld id="{32603CD4-2F20-4B2D-9BE7-C9464052F050}" type="slidenum">
              <a:rPr lang="en-AU" smtClean="0"/>
              <a:t>8</a:t>
            </a:fld>
            <a:endParaRPr lang="en-AU"/>
          </a:p>
        </p:txBody>
      </p:sp>
    </p:spTree>
    <p:extLst>
      <p:ext uri="{BB962C8B-B14F-4D97-AF65-F5344CB8AC3E}">
        <p14:creationId xmlns:p14="http://schemas.microsoft.com/office/powerpoint/2010/main" val="33221824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key finding]</a:t>
            </a:r>
          </a:p>
          <a:p>
            <a:r>
              <a:rPr lang="en-US" dirty="0"/>
              <a:t>Multiple weaknesses in prevention, detection, privileged access, network segmentation and recovery contributed to the incident.</a:t>
            </a:r>
            <a:br>
              <a:rPr lang="en-US" dirty="0"/>
            </a:br>
            <a:endParaRPr lang="en-AU" dirty="0"/>
          </a:p>
        </p:txBody>
      </p:sp>
      <p:sp>
        <p:nvSpPr>
          <p:cNvPr id="4" name="Slide Number Placeholder 3"/>
          <p:cNvSpPr>
            <a:spLocks noGrp="1"/>
          </p:cNvSpPr>
          <p:nvPr>
            <p:ph type="sldNum" sz="quarter" idx="5"/>
          </p:nvPr>
        </p:nvSpPr>
        <p:spPr/>
        <p:txBody>
          <a:bodyPr/>
          <a:lstStyle/>
          <a:p>
            <a:fld id="{32603CD4-2F20-4B2D-9BE7-C9464052F050}" type="slidenum">
              <a:rPr lang="en-AU" smtClean="0"/>
              <a:t>9</a:t>
            </a:fld>
            <a:endParaRPr lang="en-AU"/>
          </a:p>
        </p:txBody>
      </p:sp>
    </p:spTree>
    <p:extLst>
      <p:ext uri="{BB962C8B-B14F-4D97-AF65-F5344CB8AC3E}">
        <p14:creationId xmlns:p14="http://schemas.microsoft.com/office/powerpoint/2010/main" val="35527621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Andrew Witty testified that attackers used compromised credentials to access a Change Healthcare Citrix portal on 12 February 2024.</a:t>
            </a:r>
          </a:p>
          <a:p>
            <a:r>
              <a:rPr lang="en-AU" dirty="0"/>
              <a:t>The portal did not have MFA.</a:t>
            </a:r>
          </a:p>
          <a:p>
            <a:r>
              <a:rPr lang="en-AU" dirty="0"/>
              <a:t>The attackers moved laterally, exfiltrated data, and deployed ransomware nine days later.</a:t>
            </a:r>
          </a:p>
          <a:p>
            <a:r>
              <a:rPr lang="en-AU" dirty="0"/>
              <a:t>UnitedHealth confirmed that affected files contained protected health information and personally identifiable information.</a:t>
            </a:r>
          </a:p>
          <a:p>
            <a:r>
              <a:rPr lang="en-AU" dirty="0"/>
              <a:t>Change Healthcare’s role made the impact systemic.</a:t>
            </a:r>
          </a:p>
          <a:p>
            <a:r>
              <a:rPr lang="en-AU" dirty="0"/>
              <a:t>Its services connected healthcare providers, pharmacies, insurers, claims, and payments.</a:t>
            </a:r>
          </a:p>
          <a:p>
            <a:r>
              <a:rPr lang="en-AU" dirty="0"/>
              <a:t>When Change went offline, providers experienced operational disruption and serious cash-flow pressure.</a:t>
            </a:r>
          </a:p>
          <a:p>
            <a:r>
              <a:rPr lang="en-AU" dirty="0"/>
              <a:t>The credential source and detailed internal techniques remain unknown.</a:t>
            </a:r>
          </a:p>
          <a:p>
            <a:br>
              <a:rPr lang="en-AU" dirty="0"/>
            </a:br>
            <a:r>
              <a:rPr lang="en-AU" dirty="0"/>
              <a:t>(Witty, 2024, pp. 2–4; UnitedHealth Group, 2024; Fliegelman and Stemp, 2024, pp. 2–6)</a:t>
            </a:r>
          </a:p>
        </p:txBody>
      </p:sp>
      <p:sp>
        <p:nvSpPr>
          <p:cNvPr id="4" name="Slide Number Placeholder 3"/>
          <p:cNvSpPr>
            <a:spLocks noGrp="1"/>
          </p:cNvSpPr>
          <p:nvPr>
            <p:ph type="sldNum" sz="quarter" idx="5"/>
          </p:nvPr>
        </p:nvSpPr>
        <p:spPr/>
        <p:txBody>
          <a:bodyPr/>
          <a:lstStyle/>
          <a:p>
            <a:fld id="{32603CD4-2F20-4B2D-9BE7-C9464052F050}" type="slidenum">
              <a:rPr lang="en-AU" smtClean="0"/>
              <a:t>10</a:t>
            </a:fld>
            <a:endParaRPr lang="en-AU"/>
          </a:p>
        </p:txBody>
      </p:sp>
    </p:spTree>
    <p:extLst>
      <p:ext uri="{BB962C8B-B14F-4D97-AF65-F5344CB8AC3E}">
        <p14:creationId xmlns:p14="http://schemas.microsoft.com/office/powerpoint/2010/main" val="18523855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Preliminary Finding]</a:t>
            </a:r>
          </a:p>
          <a:p>
            <a:r>
              <a:rPr lang="en-US" dirty="0"/>
              <a:t>There was no MFA, which allowed the attacker to use the compromised credentials to gain remote access</a:t>
            </a:r>
            <a:endParaRPr lang="en-AU" dirty="0"/>
          </a:p>
        </p:txBody>
      </p:sp>
      <p:sp>
        <p:nvSpPr>
          <p:cNvPr id="4" name="Slide Number Placeholder 3"/>
          <p:cNvSpPr>
            <a:spLocks noGrp="1"/>
          </p:cNvSpPr>
          <p:nvPr>
            <p:ph type="sldNum" sz="quarter" idx="5"/>
          </p:nvPr>
        </p:nvSpPr>
        <p:spPr/>
        <p:txBody>
          <a:bodyPr/>
          <a:lstStyle/>
          <a:p>
            <a:fld id="{32603CD4-2F20-4B2D-9BE7-C9464052F050}" type="slidenum">
              <a:rPr lang="en-AU" smtClean="0"/>
              <a:t>11</a:t>
            </a:fld>
            <a:endParaRPr lang="en-AU"/>
          </a:p>
        </p:txBody>
      </p:sp>
    </p:spTree>
    <p:extLst>
      <p:ext uri="{BB962C8B-B14F-4D97-AF65-F5344CB8AC3E}">
        <p14:creationId xmlns:p14="http://schemas.microsoft.com/office/powerpoint/2010/main" val="4578780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manual tree begins with using compromised credentials to authenticate to the Citrix portal.</a:t>
            </a:r>
          </a:p>
          <a:p>
            <a:r>
              <a:rPr lang="en-AU" dirty="0"/>
              <a:t>Missing MFA is shown as a control weakness, rather than an attacker action.</a:t>
            </a:r>
          </a:p>
          <a:p>
            <a:r>
              <a:rPr lang="en-AU" dirty="0"/>
              <a:t>I did not add phishing or malware as the credential source, because the public evidence does not confirm either explanation.</a:t>
            </a:r>
          </a:p>
          <a:p>
            <a:r>
              <a:rPr lang="en-AU" dirty="0"/>
              <a:t>The attacker then performed internal discovery and lateral movement, before stealing data and deploying ransomware.</a:t>
            </a:r>
          </a:p>
          <a:p>
            <a:r>
              <a:rPr lang="en-AU" dirty="0"/>
              <a:t>These actions created confidentiality and availability pressure.</a:t>
            </a:r>
          </a:p>
          <a:p>
            <a:r>
              <a:rPr lang="en-AU" dirty="0"/>
              <a:t>Communication of the ransom demand completes the extortion objective.</a:t>
            </a:r>
          </a:p>
          <a:p>
            <a:r>
              <a:rPr lang="en-AU" dirty="0"/>
              <a:t>The broad stages are confirmed, but limited forensic disclosure means several technical branches remain less detailed than the HSE tree.</a:t>
            </a:r>
          </a:p>
          <a:p>
            <a:br>
              <a:rPr lang="en-AU" dirty="0"/>
            </a:br>
            <a:r>
              <a:rPr lang="en-AU" dirty="0"/>
              <a:t>(Witty, 2024, p. 3; UnitedHealth Group, 2024)</a:t>
            </a:r>
          </a:p>
        </p:txBody>
      </p:sp>
      <p:sp>
        <p:nvSpPr>
          <p:cNvPr id="4" name="Slide Number Placeholder 3"/>
          <p:cNvSpPr>
            <a:spLocks noGrp="1"/>
          </p:cNvSpPr>
          <p:nvPr>
            <p:ph type="sldNum" sz="quarter" idx="5"/>
          </p:nvPr>
        </p:nvSpPr>
        <p:spPr/>
        <p:txBody>
          <a:bodyPr/>
          <a:lstStyle/>
          <a:p>
            <a:fld id="{32603CD4-2F20-4B2D-9BE7-C9464052F050}" type="slidenum">
              <a:rPr lang="en-AU" smtClean="0"/>
              <a:t>12</a:t>
            </a:fld>
            <a:endParaRPr lang="en-AU"/>
          </a:p>
        </p:txBody>
      </p:sp>
    </p:spTree>
    <p:extLst>
      <p:ext uri="{BB962C8B-B14F-4D97-AF65-F5344CB8AC3E}">
        <p14:creationId xmlns:p14="http://schemas.microsoft.com/office/powerpoint/2010/main" val="2657702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ChatGPT’s Change Healthcare tree was concise and structured, and avoided inventing a phishing origin.</a:t>
            </a:r>
          </a:p>
          <a:p>
            <a:r>
              <a:rPr lang="en-AU" dirty="0"/>
              <a:t>Its AND </a:t>
            </a:r>
            <a:r>
              <a:rPr lang="en-AU" dirty="0" err="1"/>
              <a:t>and</a:t>
            </a:r>
            <a:r>
              <a:rPr lang="en-AU" dirty="0"/>
              <a:t> OR logic also showed how access, leverage, and a ransom demand support the root objective.</a:t>
            </a:r>
          </a:p>
          <a:p>
            <a:r>
              <a:rPr lang="en-AU" dirty="0"/>
              <a:t>Its main weakness was combining “access Citrix” with “without MFA” in one attacker node.</a:t>
            </a:r>
          </a:p>
          <a:p>
            <a:r>
              <a:rPr lang="en-AU" dirty="0"/>
              <a:t>It also treated lateral movement broadly, and provided no evidence status.</a:t>
            </a:r>
          </a:p>
          <a:p>
            <a:r>
              <a:rPr lang="en-AU" dirty="0"/>
              <a:t>The case synthesis separated the control weakness, retained the unknown credential source, and added the wider business dependency revealed by the incident.</a:t>
            </a:r>
            <a:br>
              <a:rPr lang="en-AU" dirty="0"/>
            </a:br>
            <a:br>
              <a:rPr lang="en-AU" dirty="0"/>
            </a:br>
            <a:r>
              <a:rPr lang="en-AU" dirty="0"/>
              <a:t>(OpenAI, 2026; Witty, 2024, p. 3)</a:t>
            </a:r>
          </a:p>
          <a:p>
            <a:endParaRPr lang="en-AU" dirty="0"/>
          </a:p>
        </p:txBody>
      </p:sp>
      <p:sp>
        <p:nvSpPr>
          <p:cNvPr id="4" name="Slide Number Placeholder 3"/>
          <p:cNvSpPr>
            <a:spLocks noGrp="1"/>
          </p:cNvSpPr>
          <p:nvPr>
            <p:ph type="sldNum" sz="quarter" idx="5"/>
          </p:nvPr>
        </p:nvSpPr>
        <p:spPr/>
        <p:txBody>
          <a:bodyPr/>
          <a:lstStyle/>
          <a:p>
            <a:fld id="{32603CD4-2F20-4B2D-9BE7-C9464052F050}" type="slidenum">
              <a:rPr lang="en-AU" smtClean="0"/>
              <a:t>13</a:t>
            </a:fld>
            <a:endParaRPr lang="en-AU"/>
          </a:p>
        </p:txBody>
      </p:sp>
    </p:spTree>
    <p:extLst>
      <p:ext uri="{BB962C8B-B14F-4D97-AF65-F5344CB8AC3E}">
        <p14:creationId xmlns:p14="http://schemas.microsoft.com/office/powerpoint/2010/main" val="10173133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technical compromise affected Change Healthcare directly, but disruption to its claims and payment services spread the impact across the healthcare sector. This means the attack pathway explains how the compromise occurred, while service concentration helps explain why the consequences became so widespread.</a:t>
            </a:r>
          </a:p>
          <a:p>
            <a:endParaRPr lang="en-AU" dirty="0"/>
          </a:p>
          <a:p>
            <a:r>
              <a:rPr lang="en-AU" dirty="0"/>
              <a:t>(Fliegelman and Stemp, 2024, pp. 2–6)</a:t>
            </a:r>
          </a:p>
          <a:p>
            <a:br>
              <a:rPr lang="en-AU" dirty="0"/>
            </a:br>
            <a:endParaRPr lang="en-AU" dirty="0"/>
          </a:p>
          <a:p>
            <a:endParaRPr lang="en-AU" dirty="0"/>
          </a:p>
        </p:txBody>
      </p:sp>
      <p:sp>
        <p:nvSpPr>
          <p:cNvPr id="4" name="Slide Number Placeholder 3"/>
          <p:cNvSpPr>
            <a:spLocks noGrp="1"/>
          </p:cNvSpPr>
          <p:nvPr>
            <p:ph type="sldNum" sz="quarter" idx="5"/>
          </p:nvPr>
        </p:nvSpPr>
        <p:spPr/>
        <p:txBody>
          <a:bodyPr/>
          <a:lstStyle/>
          <a:p>
            <a:fld id="{32603CD4-2F20-4B2D-9BE7-C9464052F050}" type="slidenum">
              <a:rPr lang="en-AU" smtClean="0"/>
              <a:t>14</a:t>
            </a:fld>
            <a:endParaRPr lang="en-AU"/>
          </a:p>
        </p:txBody>
      </p:sp>
    </p:spTree>
    <p:extLst>
      <p:ext uri="{BB962C8B-B14F-4D97-AF65-F5344CB8AC3E}">
        <p14:creationId xmlns:p14="http://schemas.microsoft.com/office/powerpoint/2010/main" val="13562938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key finding]</a:t>
            </a:r>
            <a:br>
              <a:rPr lang="en-US" dirty="0"/>
            </a:br>
            <a:r>
              <a:rPr lang="en-US" dirty="0"/>
              <a:t>Public evidence clearly establishes the initial entry and resulting impact, but provides limited details about the attacker’s activity between those stages.</a:t>
            </a:r>
            <a:endParaRPr lang="en-AU" dirty="0"/>
          </a:p>
        </p:txBody>
      </p:sp>
      <p:sp>
        <p:nvSpPr>
          <p:cNvPr id="4" name="Slide Number Placeholder 3"/>
          <p:cNvSpPr>
            <a:spLocks noGrp="1"/>
          </p:cNvSpPr>
          <p:nvPr>
            <p:ph type="sldNum" sz="quarter" idx="5"/>
          </p:nvPr>
        </p:nvSpPr>
        <p:spPr/>
        <p:txBody>
          <a:bodyPr/>
          <a:lstStyle/>
          <a:p>
            <a:fld id="{32603CD4-2F20-4B2D-9BE7-C9464052F050}" type="slidenum">
              <a:rPr lang="en-AU" smtClean="0"/>
              <a:t>15</a:t>
            </a:fld>
            <a:endParaRPr lang="en-AU"/>
          </a:p>
        </p:txBody>
      </p:sp>
    </p:spTree>
    <p:extLst>
      <p:ext uri="{BB962C8B-B14F-4D97-AF65-F5344CB8AC3E}">
        <p14:creationId xmlns:p14="http://schemas.microsoft.com/office/powerpoint/2010/main" val="6821346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main difference was initial access:</a:t>
            </a:r>
          </a:p>
          <a:p>
            <a:r>
              <a:rPr lang="en-AU" dirty="0"/>
              <a:t>a malicious attachment at HSE, compared with compromised remote-access credentials at Change Healthcare.</a:t>
            </a:r>
          </a:p>
          <a:p>
            <a:r>
              <a:rPr lang="en-AU" dirty="0"/>
              <a:t>After entry, the pattern converged.</a:t>
            </a:r>
          </a:p>
          <a:p>
            <a:r>
              <a:rPr lang="en-AU" dirty="0"/>
              <a:t>Both attackers expanded beyond the first system, moved laterally, stole sensitive information, and deployed ransomware.</a:t>
            </a:r>
          </a:p>
          <a:p>
            <a:r>
              <a:rPr lang="en-AU" dirty="0"/>
              <a:t>Both used availability and confidentiality pressure to support extortion.</a:t>
            </a:r>
          </a:p>
          <a:p>
            <a:r>
              <a:rPr lang="en-AU" dirty="0"/>
              <a:t>Recurring risk areas therefore include identity protection, detection, privileged access, segmentation, and recovery.</a:t>
            </a:r>
          </a:p>
          <a:p>
            <a:r>
              <a:rPr lang="en-AU" dirty="0"/>
              <a:t>The evidence does not prove that every weakness existed equally in both organisations, so that limitation remains visible in the final model.</a:t>
            </a:r>
            <a:br>
              <a:rPr lang="en-AU" dirty="0"/>
            </a:br>
            <a:br>
              <a:rPr lang="en-AU" dirty="0"/>
            </a:br>
            <a:r>
              <a:rPr lang="en-AU" dirty="0"/>
              <a:t>(PwC, 2021, pp. 29, 45–55; Witty, 2024, pp. 2–4; Fliegelman and Stemp, 2024, pp. 2–6)</a:t>
            </a:r>
          </a:p>
          <a:p>
            <a:endParaRPr lang="en-AU" dirty="0"/>
          </a:p>
        </p:txBody>
      </p:sp>
      <p:sp>
        <p:nvSpPr>
          <p:cNvPr id="4" name="Slide Number Placeholder 3"/>
          <p:cNvSpPr>
            <a:spLocks noGrp="1"/>
          </p:cNvSpPr>
          <p:nvPr>
            <p:ph type="sldNum" sz="quarter" idx="5"/>
          </p:nvPr>
        </p:nvSpPr>
        <p:spPr/>
        <p:txBody>
          <a:bodyPr/>
          <a:lstStyle/>
          <a:p>
            <a:fld id="{32603CD4-2F20-4B2D-9BE7-C9464052F050}" type="slidenum">
              <a:rPr lang="en-AU" smtClean="0"/>
              <a:t>16</a:t>
            </a:fld>
            <a:endParaRPr lang="en-AU"/>
          </a:p>
        </p:txBody>
      </p:sp>
    </p:spTree>
    <p:extLst>
      <p:ext uri="{BB962C8B-B14F-4D97-AF65-F5344CB8AC3E}">
        <p14:creationId xmlns:p14="http://schemas.microsoft.com/office/powerpoint/2010/main" val="7795329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final tree models healthcare ransomware extortion, rather than replaying either incident.</a:t>
            </a:r>
          </a:p>
          <a:p>
            <a:r>
              <a:rPr lang="en-AU" dirty="0"/>
              <a:t>The root uses an AND gate because successful extortion requires access, expansion, coercive impact, and communication of a demand.</a:t>
            </a:r>
          </a:p>
          <a:p>
            <a:r>
              <a:rPr lang="en-AU" dirty="0"/>
              <a:t>Initial access has two evidenced alternatives.</a:t>
            </a:r>
          </a:p>
          <a:p>
            <a:r>
              <a:rPr lang="en-AU" dirty="0"/>
              <a:t>One involves malicious-document delivery, as seen at HSE.</a:t>
            </a:r>
          </a:p>
          <a:p>
            <a:r>
              <a:rPr lang="en-AU" dirty="0"/>
              <a:t>The other uses compromised credentials against remote access, as seen at Change Healthcare.</a:t>
            </a:r>
          </a:p>
          <a:p>
            <a:r>
              <a:rPr lang="en-AU" dirty="0"/>
              <a:t>The original source of the Change credentials remains unknown.</a:t>
            </a:r>
          </a:p>
          <a:p>
            <a:r>
              <a:rPr lang="en-AU" dirty="0"/>
              <a:t>Expansion includes discovery, privileged access, and lateral movement through trusted relationships or exploitable vulnerabilities.</a:t>
            </a:r>
          </a:p>
          <a:p>
            <a:r>
              <a:rPr lang="en-AU" dirty="0"/>
              <a:t>Coercive impact can come from encryption or stolen-data pressure.</a:t>
            </a:r>
          </a:p>
          <a:p>
            <a:r>
              <a:rPr lang="en-AU" dirty="0"/>
              <a:t>The OR gate represents alternative sources of leverage, while the annotation records that both occurred in these incidents.</a:t>
            </a:r>
          </a:p>
          <a:p>
            <a:r>
              <a:rPr lang="en-AU" dirty="0"/>
              <a:t>The evidence colours show which branches are reported, inferred, or unknown.</a:t>
            </a:r>
          </a:p>
          <a:p>
            <a:r>
              <a:rPr lang="en-AU" dirty="0"/>
              <a:t>This keeps the model useful without presenting assumptions as facts.</a:t>
            </a:r>
            <a:br>
              <a:rPr lang="en-AU" dirty="0"/>
            </a:br>
            <a:br>
              <a:rPr lang="en-AU" dirty="0"/>
            </a:br>
            <a:r>
              <a:rPr lang="en-AU" dirty="0"/>
              <a:t>(PwC, 2021, pp. 29, 45–55; Witty, 2024, pp. 2–4; UnitedHealth Group, 2024)</a:t>
            </a:r>
          </a:p>
          <a:p>
            <a:endParaRPr lang="en-AU" dirty="0"/>
          </a:p>
        </p:txBody>
      </p:sp>
      <p:sp>
        <p:nvSpPr>
          <p:cNvPr id="4" name="Slide Number Placeholder 3"/>
          <p:cNvSpPr>
            <a:spLocks noGrp="1"/>
          </p:cNvSpPr>
          <p:nvPr>
            <p:ph type="sldNum" sz="quarter" idx="5"/>
          </p:nvPr>
        </p:nvSpPr>
        <p:spPr/>
        <p:txBody>
          <a:bodyPr/>
          <a:lstStyle/>
          <a:p>
            <a:fld id="{32603CD4-2F20-4B2D-9BE7-C9464052F050}" type="slidenum">
              <a:rPr lang="en-AU" smtClean="0"/>
              <a:t>17</a:t>
            </a:fld>
            <a:endParaRPr lang="en-AU"/>
          </a:p>
        </p:txBody>
      </p:sp>
    </p:spTree>
    <p:extLst>
      <p:ext uri="{BB962C8B-B14F-4D97-AF65-F5344CB8AC3E}">
        <p14:creationId xmlns:p14="http://schemas.microsoft.com/office/powerpoint/2010/main" val="34860528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highest priorities concern initial access, attacker expansion, and recoverability.</a:t>
            </a:r>
          </a:p>
          <a:p>
            <a:r>
              <a:rPr lang="en-AU" dirty="0"/>
              <a:t>Healthcare organisations should enforce phishing-resistant MFA for remote and privileged access, block untrusted Office macros, and maintain endpoint protection.</a:t>
            </a:r>
          </a:p>
          <a:p>
            <a:r>
              <a:rPr lang="en-AU" dirty="0"/>
              <a:t>They should operate endpoint detection in prevention mode,</a:t>
            </a:r>
          </a:p>
          <a:p>
            <a:r>
              <a:rPr lang="en-AU" dirty="0"/>
              <a:t>centralise security logs, and establish continuous alert monitoring with clear escalation procedures.</a:t>
            </a:r>
          </a:p>
          <a:p>
            <a:r>
              <a:rPr lang="en-AU" dirty="0"/>
              <a:t>Privileged-access management and network segmentation can prevent one compromised device from becoming an enterprise-wide incident. Critical vulnerabilities also require accurate asset inventories,</a:t>
            </a:r>
          </a:p>
          <a:p>
            <a:r>
              <a:rPr lang="en-AU" dirty="0"/>
              <a:t>continuous scanning, and risk-based patching deadlines.</a:t>
            </a:r>
          </a:p>
          <a:p>
            <a:r>
              <a:rPr lang="en-AU" dirty="0"/>
              <a:t>To reduce double-extortion risk, organisations should monitor unusual outbound transfers and bulk encryption.</a:t>
            </a:r>
          </a:p>
          <a:p>
            <a:r>
              <a:rPr lang="en-AU" dirty="0"/>
              <a:t>Recovery requires immutable or offline backups, separate backup credentials, and regularly tested restoration.</a:t>
            </a:r>
          </a:p>
          <a:p>
            <a:r>
              <a:rPr lang="en-AU" dirty="0"/>
              <a:t>Finally, critical services and technology dependencies should be mapped, so recovery priorities and manual alternatives are understood before an incident.</a:t>
            </a:r>
          </a:p>
          <a:p>
            <a:r>
              <a:rPr lang="en-AU" dirty="0"/>
              <a:t>These controls align with the NIST functions of Identify, Protect, Detect, Respond, and Recover.</a:t>
            </a:r>
          </a:p>
          <a:p>
            <a:endParaRPr lang="en-AU" dirty="0"/>
          </a:p>
          <a:p>
            <a:r>
              <a:rPr lang="en-AU" dirty="0"/>
              <a:t>(Mahn et al., 2021, pp. 1–3; CISA, FBI and HHS, 2024, pp. 8–9; PwC, 2021, pp. 47–55; Fliegelman and Stemp, 2024, pp. 5–6)</a:t>
            </a:r>
          </a:p>
        </p:txBody>
      </p:sp>
      <p:sp>
        <p:nvSpPr>
          <p:cNvPr id="4" name="Slide Number Placeholder 3"/>
          <p:cNvSpPr>
            <a:spLocks noGrp="1"/>
          </p:cNvSpPr>
          <p:nvPr>
            <p:ph type="sldNum" sz="quarter" idx="5"/>
          </p:nvPr>
        </p:nvSpPr>
        <p:spPr/>
        <p:txBody>
          <a:bodyPr/>
          <a:lstStyle/>
          <a:p>
            <a:fld id="{32603CD4-2F20-4B2D-9BE7-C9464052F050}" type="slidenum">
              <a:rPr lang="en-AU" smtClean="0"/>
              <a:t>18</a:t>
            </a:fld>
            <a:endParaRPr lang="en-AU"/>
          </a:p>
        </p:txBody>
      </p:sp>
    </p:spTree>
    <p:extLst>
      <p:ext uri="{BB962C8B-B14F-4D97-AF65-F5344CB8AC3E}">
        <p14:creationId xmlns:p14="http://schemas.microsoft.com/office/powerpoint/2010/main" val="18700929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next stage should determine how the Change Healthcare credentials were obtained, and identify the undisclosed HSE persistence method. It should also examine Change Healthcare’s privilege escalation and lateral movement, the alerts available during both periods, and the exact data exfiltration routes.</a:t>
            </a:r>
          </a:p>
          <a:p>
            <a:endParaRPr lang="en-AU" dirty="0"/>
          </a:p>
          <a:p>
            <a:r>
              <a:rPr lang="en-AU" dirty="0"/>
              <a:t>Finally, backup isolation, recovery objectives, and critical-provider dependencies require further testing.</a:t>
            </a:r>
          </a:p>
          <a:p>
            <a:r>
              <a:rPr lang="en-AU" dirty="0"/>
              <a:t>These answers may change the tree’s branches, evidence confidence, and control priorities.</a:t>
            </a:r>
          </a:p>
          <a:p>
            <a:r>
              <a:rPr lang="en-AU" dirty="0"/>
              <a:t>The model should therefore be treated as preliminary</a:t>
            </a:r>
          </a:p>
          <a:p>
            <a:br>
              <a:rPr lang="en-AU" dirty="0"/>
            </a:br>
            <a:r>
              <a:rPr lang="en-AU" dirty="0"/>
              <a:t>(PwC, 2021, pp. 29, 54–55; Witty, 2024, p. 3; Fliegelman and Stemp, 2024, pp. 5–6)</a:t>
            </a:r>
          </a:p>
        </p:txBody>
      </p:sp>
      <p:sp>
        <p:nvSpPr>
          <p:cNvPr id="4" name="Slide Number Placeholder 3"/>
          <p:cNvSpPr>
            <a:spLocks noGrp="1"/>
          </p:cNvSpPr>
          <p:nvPr>
            <p:ph type="sldNum" sz="quarter" idx="5"/>
          </p:nvPr>
        </p:nvSpPr>
        <p:spPr/>
        <p:txBody>
          <a:bodyPr/>
          <a:lstStyle/>
          <a:p>
            <a:fld id="{32603CD4-2F20-4B2D-9BE7-C9464052F050}" type="slidenum">
              <a:rPr lang="en-AU" smtClean="0"/>
              <a:t>19</a:t>
            </a:fld>
            <a:endParaRPr lang="en-AU"/>
          </a:p>
        </p:txBody>
      </p:sp>
    </p:spTree>
    <p:extLst>
      <p:ext uri="{BB962C8B-B14F-4D97-AF65-F5344CB8AC3E}">
        <p14:creationId xmlns:p14="http://schemas.microsoft.com/office/powerpoint/2010/main" val="26540971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central finding is straightforward.</a:t>
            </a:r>
          </a:p>
          <a:p>
            <a:r>
              <a:rPr lang="en-AU" dirty="0"/>
              <a:t>Healthcare ransomware can enter through different doors,</a:t>
            </a:r>
          </a:p>
          <a:p>
            <a:r>
              <a:rPr lang="en-AU" dirty="0"/>
              <a:t>but successful attacks often converge on the same problem:</a:t>
            </a:r>
          </a:p>
          <a:p>
            <a:endParaRPr lang="en-AU" dirty="0"/>
          </a:p>
          <a:p>
            <a:r>
              <a:rPr lang="en-AU" dirty="0"/>
              <a:t>attackers gain enough time and privilege to expand before containment.</a:t>
            </a:r>
          </a:p>
          <a:p>
            <a:endParaRPr lang="en-AU" dirty="0"/>
          </a:p>
          <a:p>
            <a:r>
              <a:rPr lang="en-AU" dirty="0"/>
              <a:t>HSE demonstrates the effect of long dwell time and broad network reach.</a:t>
            </a:r>
          </a:p>
          <a:p>
            <a:endParaRPr lang="en-AU" dirty="0"/>
          </a:p>
          <a:p>
            <a:r>
              <a:rPr lang="en-AU" dirty="0"/>
              <a:t>Change Healthcare demonstrates how a control gap at a highly connected provider can transmit disruption across a sector.</a:t>
            </a:r>
          </a:p>
          <a:p>
            <a:endParaRPr lang="en-AU" dirty="0"/>
          </a:p>
          <a:p>
            <a:r>
              <a:rPr lang="en-AU" dirty="0"/>
              <a:t>The response should therefore </a:t>
            </a:r>
          </a:p>
          <a:p>
            <a:endParaRPr lang="en-AU" dirty="0"/>
          </a:p>
          <a:p>
            <a:r>
              <a:rPr lang="en-AU" dirty="0"/>
              <a:t>protect access,</a:t>
            </a:r>
          </a:p>
          <a:p>
            <a:endParaRPr lang="en-AU" dirty="0"/>
          </a:p>
          <a:p>
            <a:r>
              <a:rPr lang="en-AU" dirty="0"/>
              <a:t>detect expansion early,</a:t>
            </a:r>
          </a:p>
          <a:p>
            <a:endParaRPr lang="en-AU" dirty="0"/>
          </a:p>
          <a:p>
            <a:r>
              <a:rPr lang="en-AU" dirty="0"/>
              <a:t>limit lateral movement,</a:t>
            </a:r>
          </a:p>
          <a:p>
            <a:endParaRPr lang="en-AU" dirty="0"/>
          </a:p>
          <a:p>
            <a:r>
              <a:rPr lang="en-AU" dirty="0"/>
              <a:t>and maintain recovery systems that attackers cannot reach.</a:t>
            </a:r>
          </a:p>
          <a:p>
            <a:endParaRPr lang="en-AU" dirty="0"/>
          </a:p>
          <a:p>
            <a:r>
              <a:rPr lang="en-AU" dirty="0"/>
              <a:t>(PwC, 2021; Witty, 2024; Fliegelman and Stemp, 2024)</a:t>
            </a:r>
          </a:p>
          <a:p>
            <a:endParaRPr lang="en-AU" dirty="0"/>
          </a:p>
        </p:txBody>
      </p:sp>
      <p:sp>
        <p:nvSpPr>
          <p:cNvPr id="4" name="Slide Number Placeholder 3"/>
          <p:cNvSpPr>
            <a:spLocks noGrp="1"/>
          </p:cNvSpPr>
          <p:nvPr>
            <p:ph type="sldNum" sz="quarter" idx="5"/>
          </p:nvPr>
        </p:nvSpPr>
        <p:spPr/>
        <p:txBody>
          <a:bodyPr/>
          <a:lstStyle/>
          <a:p>
            <a:fld id="{32603CD4-2F20-4B2D-9BE7-C9464052F050}" type="slidenum">
              <a:rPr lang="en-AU" smtClean="0"/>
              <a:t>20</a:t>
            </a:fld>
            <a:endParaRPr lang="en-AU"/>
          </a:p>
        </p:txBody>
      </p:sp>
    </p:spTree>
    <p:extLst>
      <p:ext uri="{BB962C8B-B14F-4D97-AF65-F5344CB8AC3E}">
        <p14:creationId xmlns:p14="http://schemas.microsoft.com/office/powerpoint/2010/main" val="25007371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complete Harvard references and supporting attack-tree models are provided in the reference and appendix slides.</a:t>
            </a:r>
          </a:p>
          <a:p>
            <a:br>
              <a:rPr lang="en-AU" dirty="0"/>
            </a:br>
            <a:r>
              <a:rPr lang="en-AU" dirty="0"/>
              <a:t>Thank you.</a:t>
            </a:r>
          </a:p>
          <a:p>
            <a:endParaRPr lang="en-AU" dirty="0"/>
          </a:p>
        </p:txBody>
      </p:sp>
      <p:sp>
        <p:nvSpPr>
          <p:cNvPr id="4" name="Slide Number Placeholder 3"/>
          <p:cNvSpPr>
            <a:spLocks noGrp="1"/>
          </p:cNvSpPr>
          <p:nvPr>
            <p:ph type="sldNum" sz="quarter" idx="5"/>
          </p:nvPr>
        </p:nvSpPr>
        <p:spPr/>
        <p:txBody>
          <a:bodyPr/>
          <a:lstStyle/>
          <a:p>
            <a:fld id="{32603CD4-2F20-4B2D-9BE7-C9464052F050}" type="slidenum">
              <a:rPr lang="en-AU" smtClean="0"/>
              <a:t>21</a:t>
            </a:fld>
            <a:endParaRPr lang="en-AU"/>
          </a:p>
        </p:txBody>
      </p:sp>
    </p:spTree>
    <p:extLst>
      <p:ext uri="{BB962C8B-B14F-4D97-AF65-F5344CB8AC3E}">
        <p14:creationId xmlns:p14="http://schemas.microsoft.com/office/powerpoint/2010/main" val="39245349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dirty="0"/>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a:t>Click to edit Master title style</a:t>
            </a:r>
            <a:endParaRPr lang="en-US" dirty="0"/>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endParaRPr lang="en-US" dirty="0"/>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7DA2CEDE-2AB4-4FB8-9551-E0AA4222B1A3}" type="datetime1">
              <a:rPr lang="en-US" smtClean="0"/>
              <a:t>9/21/2026</a:t>
            </a:fld>
            <a:endParaRPr lang="en-US" dirty="0"/>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endParaRPr lang="en-AU"/>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A26D1905-E307-4A18-ACD5-189F03C6C07A}" type="slidenum">
              <a:rPr lang="en-AU" smtClean="0"/>
              <a:t>‹#›</a:t>
            </a:fld>
            <a:endParaRPr lang="en-AU"/>
          </a:p>
        </p:txBody>
      </p:sp>
    </p:spTree>
    <p:extLst>
      <p:ext uri="{BB962C8B-B14F-4D97-AF65-F5344CB8AC3E}">
        <p14:creationId xmlns:p14="http://schemas.microsoft.com/office/powerpoint/2010/main" val="2813458326"/>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A26D3647-E3F3-4A81-BB14-077F975A3C10}" type="datetimeFigureOut">
              <a:rPr lang="en-AU" smtClean="0"/>
              <a:t>21/09/2026</a:t>
            </a:fld>
            <a:endParaRPr lang="en-AU"/>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AU"/>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A26D1905-E307-4A18-ACD5-189F03C6C07A}" type="slidenum">
              <a:rPr lang="en-AU" smtClean="0"/>
              <a:t>‹#›</a:t>
            </a:fld>
            <a:endParaRPr lang="en-AU"/>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4135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dirty="0"/>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a:t>Click to edit Master title style</a:t>
            </a:r>
            <a:endParaRPr lang="en-US" dirty="0"/>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21560963-1EEA-4BDE-8FF9-3FEE13B5D43C}" type="datetime1">
              <a:rPr lang="en-US" smtClean="0"/>
              <a:t>9/21/2026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3844759081"/>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endParaRPr lang="en-US" dirty="0"/>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A26D3647-E3F3-4A81-BB14-077F975A3C10}" type="datetimeFigureOut">
              <a:rPr lang="en-AU" smtClean="0"/>
              <a:t>21/09/2026</a:t>
            </a:fld>
            <a:endParaRPr lang="en-AU"/>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endParaRPr lang="en-AU"/>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A26D1905-E307-4A18-ACD5-189F03C6C07A}" type="slidenum">
              <a:rPr lang="en-AU" smtClean="0"/>
              <a:t>‹#›</a:t>
            </a:fld>
            <a:endParaRPr lang="en-AU"/>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C29EB-3E43-F1FF-EB6B-9F5C908FFCC8}"/>
              </a:ext>
            </a:extLst>
          </p:cNvPr>
          <p:cNvSpPr/>
          <p:nvPr/>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1858827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7DA2CEDE-2AB4-4FB8-9551-E0AA4222B1A3}" type="datetime1">
              <a:rPr lang="en-US" smtClean="0"/>
              <a:t>9/21/2026</a:t>
            </a:fld>
            <a:endParaRPr lang="en-US"/>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388042406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a:t>Click to edit Master title style</a:t>
            </a:r>
            <a:endParaRPr lang="en-US" dirty="0"/>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7DA2CEDE-2AB4-4FB8-9551-E0AA4222B1A3}" type="datetime1">
              <a:rPr lang="en-US" smtClean="0"/>
              <a:t>9/21/2026</a:t>
            </a:fld>
            <a:endParaRPr lang="en-US"/>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r>
              <a:rPr lang="en-US"/>
              <a:t>Sample Footer Text</a:t>
            </a:r>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A26D1905-E307-4A18-ACD5-189F03C6C07A}" type="slidenum">
              <a:rPr lang="en-AU" smtClean="0"/>
              <a:t>‹#›</a:t>
            </a:fld>
            <a:endParaRPr lang="en-AU"/>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89310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A26D3647-E3F3-4A81-BB14-077F975A3C10}" type="datetimeFigureOut">
              <a:rPr lang="en-AU" smtClean="0"/>
              <a:t>21/09/2026</a:t>
            </a:fld>
            <a:endParaRPr lang="en-AU"/>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endParaRPr lang="en-AU"/>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A26D1905-E307-4A18-ACD5-189F03C6C07A}" type="slidenum">
              <a:rPr lang="en-AU" smtClean="0"/>
              <a:t>‹#›</a:t>
            </a:fld>
            <a:endParaRPr lang="en-AU"/>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3711908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A26D3647-E3F3-4A81-BB14-077F975A3C10}" type="datetimeFigureOut">
              <a:rPr lang="en-AU" smtClean="0"/>
              <a:t>21/09/2026</a:t>
            </a:fld>
            <a:endParaRPr lang="en-AU"/>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endParaRPr lang="en-AU"/>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A26D1905-E307-4A18-ACD5-189F03C6C07A}" type="slidenum">
              <a:rPr lang="en-AU" smtClean="0"/>
              <a:t>‹#›</a:t>
            </a:fld>
            <a:endParaRPr lang="en-AU"/>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4970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A26D3647-E3F3-4A81-BB14-077F975A3C10}" type="datetimeFigureOut">
              <a:rPr lang="en-AU" smtClean="0"/>
              <a:t>21/09/2026</a:t>
            </a:fld>
            <a:endParaRPr lang="en-AU"/>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endParaRPr lang="en-AU"/>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A26D1905-E307-4A18-ACD5-189F03C6C07A}" type="slidenum">
              <a:rPr lang="en-AU" smtClean="0"/>
              <a:t>‹#›</a:t>
            </a:fld>
            <a:endParaRPr lang="en-AU"/>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37561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A26D3647-E3F3-4A81-BB14-077F975A3C10}" type="datetimeFigureOut">
              <a:rPr lang="en-AU" smtClean="0"/>
              <a:t>21/09/2026</a:t>
            </a:fld>
            <a:endParaRPr lang="en-AU"/>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endParaRPr lang="en-AU"/>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A26D1905-E307-4A18-ACD5-189F03C6C07A}" type="slidenum">
              <a:rPr lang="en-AU" smtClean="0"/>
              <a:t>‹#›</a:t>
            </a:fld>
            <a:endParaRPr lang="en-AU"/>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495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A26D3647-E3F3-4A81-BB14-077F975A3C10}" type="datetimeFigureOut">
              <a:rPr lang="en-AU" smtClean="0"/>
              <a:t>21/09/2026</a:t>
            </a:fld>
            <a:endParaRPr lang="en-AU"/>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endParaRPr lang="en-AU"/>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A26D1905-E307-4A18-ACD5-189F03C6C07A}" type="slidenum">
              <a:rPr lang="en-AU" smtClean="0"/>
              <a:t>‹#›</a:t>
            </a:fld>
            <a:endParaRPr lang="en-AU"/>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4827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A26D3647-E3F3-4A81-BB14-077F975A3C10}" type="datetimeFigureOut">
              <a:rPr lang="en-AU" smtClean="0"/>
              <a:t>21/09/2026</a:t>
            </a:fld>
            <a:endParaRPr lang="en-AU"/>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endParaRPr lang="en-AU"/>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A26D1905-E307-4A18-ACD5-189F03C6C07A}" type="slidenum">
              <a:rPr lang="en-AU" smtClean="0"/>
              <a:t>‹#›</a:t>
            </a:fld>
            <a:endParaRPr lang="en-AU"/>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787861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26D3647-E3F3-4A81-BB14-077F975A3C10}" type="datetimeFigureOut">
              <a:rPr lang="en-AU" smtClean="0"/>
              <a:t>21/09/2026</a:t>
            </a:fld>
            <a:endParaRPr lang="en-AU"/>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endParaRPr lang="en-AU"/>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26D1905-E307-4A18-ACD5-189F03C6C07A}" type="slidenum">
              <a:rPr lang="en-AU" smtClean="0"/>
              <a:t>‹#›</a:t>
            </a:fld>
            <a:endParaRPr lang="en-AU"/>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lstStyle>
            <a:lvl1pPr>
              <a:defRPr/>
            </a:lvl1pPr>
          </a:lstStyle>
          <a:p>
            <a:r>
              <a:rPr lang="en-US" dirty="0"/>
              <a:t>   </a:t>
            </a:r>
          </a:p>
        </p:txBody>
      </p:sp>
    </p:spTree>
    <p:extLst>
      <p:ext uri="{BB962C8B-B14F-4D97-AF65-F5344CB8AC3E}">
        <p14:creationId xmlns:p14="http://schemas.microsoft.com/office/powerpoint/2010/main" val="958197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A26D3647-E3F3-4A81-BB14-077F975A3C10}" type="datetimeFigureOut">
              <a:rPr lang="en-AU" smtClean="0"/>
              <a:t>21/09/2026</a:t>
            </a:fld>
            <a:endParaRPr lang="en-AU"/>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endParaRPr lang="en-AU"/>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A26D1905-E307-4A18-ACD5-189F03C6C07A}" type="slidenum">
              <a:rPr lang="en-AU" smtClean="0"/>
              <a:t>‹#›</a:t>
            </a:fld>
            <a:endParaRPr lang="en-AU"/>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a:lstStyle>
            <a:lvl1pPr>
              <a:defRPr/>
            </a:lvl1pPr>
          </a:lstStyle>
          <a:p>
            <a:r>
              <a:rPr lang="en-US" dirty="0"/>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06504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A26D3647-E3F3-4A81-BB14-077F975A3C10}" type="datetimeFigureOut">
              <a:rPr lang="en-AU" smtClean="0"/>
              <a:t>21/09/2026</a:t>
            </a:fld>
            <a:endParaRPr lang="en-AU"/>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endParaRPr lang="en-AU"/>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A26D1905-E307-4A18-ACD5-189F03C6C07A}" type="slidenum">
              <a:rPr lang="en-AU" smtClean="0"/>
              <a:t>‹#›</a:t>
            </a:fld>
            <a:endParaRPr lang="en-AU"/>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a:lstStyle>
            <a:lvl1pPr>
              <a:defRPr/>
            </a:lvl1pPr>
          </a:lstStyle>
          <a:p>
            <a:r>
              <a:rPr lang="en-US" dirty="0"/>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57045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A26D3647-E3F3-4A81-BB14-077F975A3C10}" type="datetimeFigureOut">
              <a:rPr lang="en-AU" smtClean="0"/>
              <a:t>21/09/2026</a:t>
            </a:fld>
            <a:endParaRPr lang="en-AU"/>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endParaRPr lang="en-AU"/>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A26D1905-E307-4A18-ACD5-189F03C6C07A}" type="slidenum">
              <a:rPr lang="en-AU" smtClean="0"/>
              <a:t>‹#›</a:t>
            </a:fld>
            <a:endParaRPr lang="en-AU"/>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75927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A26D3647-E3F3-4A81-BB14-077F975A3C10}" type="datetimeFigureOut">
              <a:rPr lang="en-AU" smtClean="0"/>
              <a:t>21/09/2026</a:t>
            </a:fld>
            <a:endParaRPr lang="en-AU"/>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endParaRPr lang="en-AU"/>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A26D1905-E307-4A18-ACD5-189F03C6C07A}" type="slidenum">
              <a:rPr lang="en-AU" smtClean="0"/>
              <a:t>‹#›</a:t>
            </a:fld>
            <a:endParaRPr lang="en-AU"/>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a:lstStyle>
            <a:lvl1pPr>
              <a:defRPr/>
            </a:lvl1pPr>
          </a:lstStyle>
          <a:p>
            <a:r>
              <a:rPr lang="en-US" dirty="0"/>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10701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A26D3647-E3F3-4A81-BB14-077F975A3C10}" type="datetimeFigureOut">
              <a:rPr lang="en-AU" smtClean="0"/>
              <a:t>21/09/2026</a:t>
            </a:fld>
            <a:endParaRPr lang="en-AU"/>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endParaRPr lang="en-AU"/>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A26D1905-E307-4A18-ACD5-189F03C6C07A}" type="slidenum">
              <a:rPr lang="en-AU" smtClean="0"/>
              <a:t>‹#›</a:t>
            </a:fld>
            <a:endParaRPr lang="en-AU"/>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38920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A26D3647-E3F3-4A81-BB14-077F975A3C10}" type="datetimeFigureOut">
              <a:rPr lang="en-AU" smtClean="0"/>
              <a:t>21/09/2026</a:t>
            </a:fld>
            <a:endParaRPr lang="en-AU"/>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endParaRPr lang="en-AU"/>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A26D1905-E307-4A18-ACD5-189F03C6C07A}" type="slidenum">
              <a:rPr lang="en-AU" smtClean="0"/>
              <a:t>‹#›</a:t>
            </a:fld>
            <a:endParaRPr lang="en-AU"/>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7973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A26D3647-E3F3-4A81-BB14-077F975A3C10}" type="datetimeFigureOut">
              <a:rPr lang="en-AU" smtClean="0"/>
              <a:t>21/09/2026</a:t>
            </a:fld>
            <a:endParaRPr lang="en-AU"/>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AU"/>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A26D1905-E307-4A18-ACD5-189F03C6C07A}" type="slidenum">
              <a:rPr lang="en-AU" smtClean="0"/>
              <a:t>‹#›</a:t>
            </a:fld>
            <a:endParaRPr lang="en-AU"/>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493079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80BDAA3E-BE52-42BC-99E8-CCCB81A57ABD}" type="datetime1">
              <a:rPr lang="en-US" smtClean="0"/>
              <a:t>9/21/2026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endParaRPr lang="en-AU"/>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A26D1905-E307-4A18-ACD5-189F03C6C07A}" type="slidenum">
              <a:rPr lang="en-AU" smtClean="0"/>
              <a:t>‹#›</a:t>
            </a:fld>
            <a:endParaRPr lang="en-AU"/>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46739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A26D3647-E3F3-4A81-BB14-077F975A3C10}" type="datetimeFigureOut">
              <a:rPr lang="en-AU" smtClean="0"/>
              <a:t>21/09/2026</a:t>
            </a:fld>
            <a:endParaRPr lang="en-AU"/>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AU"/>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A26D1905-E307-4A18-ACD5-189F03C6C07A}" type="slidenum">
              <a:rPr lang="en-AU" smtClean="0"/>
              <a:t>‹#›</a:t>
            </a:fld>
            <a:endParaRPr lang="en-AU"/>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766200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A26D3647-E3F3-4A81-BB14-077F975A3C10}" type="datetimeFigureOut">
              <a:rPr lang="en-AU" smtClean="0"/>
              <a:t>21/09/2026</a:t>
            </a:fld>
            <a:endParaRPr lang="en-AU"/>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AU"/>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A26D1905-E307-4A18-ACD5-189F03C6C07A}" type="slidenum">
              <a:rPr lang="en-AU" smtClean="0"/>
              <a:t>‹#›</a:t>
            </a:fld>
            <a:endParaRPr lang="en-AU"/>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091973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A26D3647-E3F3-4A81-BB14-077F975A3C10}" type="datetimeFigureOut">
              <a:rPr lang="en-AU" smtClean="0"/>
              <a:t>21/09/2026</a:t>
            </a:fld>
            <a:endParaRPr lang="en-AU"/>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AU"/>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A26D1905-E307-4A18-ACD5-189F03C6C07A}" type="slidenum">
              <a:rPr lang="en-AU" smtClean="0"/>
              <a:t>‹#›</a:t>
            </a:fld>
            <a:endParaRPr lang="en-AU"/>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80480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A26D3647-E3F3-4A81-BB14-077F975A3C10}" type="datetimeFigureOut">
              <a:rPr lang="en-AU" smtClean="0"/>
              <a:t>21/09/2026</a:t>
            </a:fld>
            <a:endParaRPr lang="en-AU"/>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endParaRPr lang="en-AU"/>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A26D1905-E307-4A18-ACD5-189F03C6C07A}" type="slidenum">
              <a:rPr lang="en-AU" smtClean="0"/>
              <a:t>‹#›</a:t>
            </a:fld>
            <a:endParaRPr lang="en-AU"/>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50427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A26D3647-E3F3-4A81-BB14-077F975A3C10}" type="datetimeFigureOut">
              <a:rPr lang="en-AU" smtClean="0"/>
              <a:t>21/09/2026</a:t>
            </a:fld>
            <a:endParaRPr lang="en-AU"/>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26D1905-E307-4A18-ACD5-189F03C6C07A}" type="slidenum">
              <a:rPr lang="en-AU" smtClean="0"/>
              <a:t>‹#›</a:t>
            </a:fld>
            <a:endParaRPr lang="en-AU"/>
          </a:p>
        </p:txBody>
      </p:sp>
    </p:spTree>
    <p:extLst>
      <p:ext uri="{BB962C8B-B14F-4D97-AF65-F5344CB8AC3E}">
        <p14:creationId xmlns:p14="http://schemas.microsoft.com/office/powerpoint/2010/main" val="25395331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6D3647-E3F3-4A81-BB14-077F975A3C10}" type="datetimeFigureOut">
              <a:rPr lang="en-AU" smtClean="0"/>
              <a:t>21/09/2026</a:t>
            </a:fld>
            <a:endParaRPr lang="en-AU"/>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26D1905-E307-4A18-ACD5-189F03C6C07A}" type="slidenum">
              <a:rPr lang="en-AU" smtClean="0"/>
              <a:t>‹#›</a:t>
            </a:fld>
            <a:endParaRPr lang="en-AU"/>
          </a:p>
        </p:txBody>
      </p:sp>
    </p:spTree>
    <p:extLst>
      <p:ext uri="{BB962C8B-B14F-4D97-AF65-F5344CB8AC3E}">
        <p14:creationId xmlns:p14="http://schemas.microsoft.com/office/powerpoint/2010/main" val="21937278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1_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AU"/>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26D3647-E3F3-4A81-BB14-077F975A3C10}" type="datetimeFigureOut">
              <a:rPr lang="en-AU" smtClean="0"/>
              <a:t>21/09/2026</a:t>
            </a:fld>
            <a:endParaRPr lang="en-AU"/>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26D1905-E307-4A18-ACD5-189F03C6C07A}" type="slidenum">
              <a:rPr lang="en-AU" smtClean="0"/>
              <a:t>‹#›</a:t>
            </a:fld>
            <a:endParaRPr lang="en-AU"/>
          </a:p>
        </p:txBody>
      </p:sp>
    </p:spTree>
    <p:extLst>
      <p:ext uri="{BB962C8B-B14F-4D97-AF65-F5344CB8AC3E}">
        <p14:creationId xmlns:p14="http://schemas.microsoft.com/office/powerpoint/2010/main" val="1596479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A26D3647-E3F3-4A81-BB14-077F975A3C10}" type="datetimeFigureOut">
              <a:rPr lang="en-AU" smtClean="0"/>
              <a:t>21/09/2026</a:t>
            </a:fld>
            <a:endParaRPr lang="en-AU"/>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endParaRPr lang="en-AU"/>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A26D1905-E307-4A18-ACD5-189F03C6C07A}" type="slidenum">
              <a:rPr lang="en-AU" smtClean="0"/>
              <a:t>‹#›</a:t>
            </a:fld>
            <a:endParaRPr lang="en-AU"/>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0257694"/>
      </p:ext>
    </p:extLst>
  </p:cSld>
  <p:clrMap bg1="dk1" tx1="lt1" bg2="dk2" tx2="lt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 id="2147483806" r:id="rId12"/>
    <p:sldLayoutId id="2147483807" r:id="rId13"/>
    <p:sldLayoutId id="2147483808" r:id="rId14"/>
    <p:sldLayoutId id="2147483809" r:id="rId15"/>
    <p:sldLayoutId id="2147483810" r:id="rId16"/>
    <p:sldLayoutId id="2147483811" r:id="rId17"/>
    <p:sldLayoutId id="2147483812" r:id="rId18"/>
    <p:sldLayoutId id="2147483813" r:id="rId19"/>
    <p:sldLayoutId id="2147483814" r:id="rId20"/>
    <p:sldLayoutId id="2147483815" r:id="rId21"/>
    <p:sldLayoutId id="2147483816" r:id="rId22"/>
    <p:sldLayoutId id="2147483817" r:id="rId23"/>
    <p:sldLayoutId id="2147483818" r:id="rId24"/>
    <p:sldLayoutId id="2147483819" r:id="rId25"/>
    <p:sldLayoutId id="2147483820" r:id="rId26"/>
    <p:sldLayoutId id="2147483821" r:id="rId27"/>
    <p:sldLayoutId id="2147483822" r:id="rId28"/>
  </p:sldLayoutIdLst>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p15:clr>
            <a:srgbClr val="F26B43"/>
          </p15:clr>
        </p15:guide>
        <p15:guide id="22" orient="horz" pos="2160">
          <p15:clr>
            <a:srgbClr val="F26B43"/>
          </p15:clr>
        </p15:guide>
        <p15:guide id="23" pos="4800">
          <p15:clr>
            <a:srgbClr val="F26B43"/>
          </p15:clr>
        </p15:guide>
        <p15:guide id="24" orient="horz" pos="480">
          <p15:clr>
            <a:srgbClr val="F26B43"/>
          </p15:clr>
        </p15:guide>
        <p15:guide id="25" orient="horz" pos="864">
          <p15:clr>
            <a:srgbClr val="F26B43"/>
          </p15:clr>
        </p15:guide>
        <p15:guide id="26" pos="7392">
          <p15:clr>
            <a:srgbClr val="F26B43"/>
          </p15:clr>
        </p15:guide>
        <p15:guide id="27" orient="horz" pos="3840">
          <p15:clr>
            <a:srgbClr val="F26B43"/>
          </p15:clr>
        </p15:guide>
        <p15:guide id="28" pos="240">
          <p15:clr>
            <a:srgbClr val="F26B43"/>
          </p15:clr>
        </p15:guide>
        <p15:guide id="29" pos="74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8.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8.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8" Type="http://schemas.openxmlformats.org/officeDocument/2006/relationships/hyperlink" Target="https://www.drawio.com/" TargetMode="External"/><Relationship Id="rId3" Type="http://schemas.openxmlformats.org/officeDocument/2006/relationships/hyperlink" Target="https://about.hse.ie/api/v2/download-file/file_based_publications/conti_cyber_attack_on_the_hse_full_report.pdf/" TargetMode="External"/><Relationship Id="rId7" Type="http://schemas.openxmlformats.org/officeDocument/2006/relationships/hyperlink" Target="https://www.hhs.gov/hipaa/for-professionals/special-topics/change-healthcare-cybersecurity-incident-frequently-asked-questions/index.html" TargetMode="External"/><Relationship Id="rId2" Type="http://schemas.openxmlformats.org/officeDocument/2006/relationships/notesSlide" Target="../notesSlides/notesSlide21.xml"/><Relationship Id="rId1" Type="http://schemas.openxmlformats.org/officeDocument/2006/relationships/slideLayout" Target="../slideLayouts/slideLayout28.xml"/><Relationship Id="rId6" Type="http://schemas.openxmlformats.org/officeDocument/2006/relationships/hyperlink" Target="https://www.unitedhealthgroup.com/newsroom/2024/2024-04-22-uhg-updates-on-change-healthcare-cyberattack.html" TargetMode="External"/><Relationship Id="rId5" Type="http://schemas.openxmlformats.org/officeDocument/2006/relationships/hyperlink" Target="https://www.financialresearch.gov/briefs/files/OFRBrief-24-05-change-healthcare-cyberattack.pdf" TargetMode="External"/><Relationship Id="rId10" Type="http://schemas.openxmlformats.org/officeDocument/2006/relationships/hyperlink" Target="https://doi.org/10.6028/NIST.SP.1271" TargetMode="External"/><Relationship Id="rId4" Type="http://schemas.openxmlformats.org/officeDocument/2006/relationships/hyperlink" Target="https://www.finance.senate.gov/imo/media/doc/hacking_americas_health_care_assessing_the_change_healthcare_cyber_attack_and_whats_next.pdf" TargetMode="External"/><Relationship Id="rId9" Type="http://schemas.openxmlformats.org/officeDocument/2006/relationships/hyperlink" Target="https://chatgpt.com/"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www.cisa.gov/news-events/cybersecurity-advisories/aa23-353a" TargetMode="External"/><Relationship Id="rId2" Type="http://schemas.openxmlformats.org/officeDocument/2006/relationships/hyperlink" Target="https://www.cyber.gov.au/business-government/asds-cyber-security-frameworks/essential-eight/essential-eight-maturity-model" TargetMode="External"/><Relationship Id="rId1" Type="http://schemas.openxmlformats.org/officeDocument/2006/relationships/slideLayout" Target="../slideLayouts/slideLayout28.xml"/><Relationship Id="rId5" Type="http://schemas.openxmlformats.org/officeDocument/2006/relationships/hyperlink" Target="https://www.schneier.com/academic/archives/1999/12/attack_trees.html" TargetMode="External"/><Relationship Id="rId4" Type="http://schemas.openxmlformats.org/officeDocument/2006/relationships/hyperlink" Target="https://doi.org/10.6028/NIST.SP.1271"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drive.google.com/file/d/1iaB1qmiFjICW4IeoZkhvZikyxo0mil3d/view?usp=sharing" TargetMode="External"/><Relationship Id="rId2" Type="http://schemas.openxmlformats.org/officeDocument/2006/relationships/image" Target="../media/image12.jpg"/><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3" Type="http://schemas.openxmlformats.org/officeDocument/2006/relationships/hyperlink" Target="https://drive.google.com/file/d/1875WoYf3Tro06S6QO6Fxyfqzw98t4qC6/view?usp=sharing" TargetMode="External"/><Relationship Id="rId2" Type="http://schemas.openxmlformats.org/officeDocument/2006/relationships/image" Target="../media/image14.jpg"/><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3" Type="http://schemas.openxmlformats.org/officeDocument/2006/relationships/hyperlink" Target="https://drive.google.com/file/d/1aXDwO1SbzQEUkJPJ0-nw1iWgNPFZEdS6/view?usp=sharing" TargetMode="External"/><Relationship Id="rId2" Type="http://schemas.openxmlformats.org/officeDocument/2006/relationships/image" Target="../media/image15.jpg"/><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3" Type="http://schemas.openxmlformats.org/officeDocument/2006/relationships/hyperlink" Target="https://drive.google.com/file/d/1QLfK1tXubo2P9SCv_tKxIS2CBG5WJXOY/view?usp=drive_link" TargetMode="External"/><Relationship Id="rId2" Type="http://schemas.openxmlformats.org/officeDocument/2006/relationships/image" Target="../media/image16.png"/><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3" Type="http://schemas.openxmlformats.org/officeDocument/2006/relationships/hyperlink" Target="https://drive.google.com/file/d/1Uv3Xc6BV9VGHMZ_LIEB1tR5tuOBkDhXa/view?usp=sharing" TargetMode="External"/><Relationship Id="rId2" Type="http://schemas.openxmlformats.org/officeDocument/2006/relationships/image" Target="../media/image17.jpg"/><Relationship Id="rId1" Type="http://schemas.openxmlformats.org/officeDocument/2006/relationships/slideLayout" Target="../slideLayouts/slideLayout28.xml"/></Relationships>
</file>

<file path=ppt/slides/_rels/slide29.xml.rels><?xml version="1.0" encoding="UTF-8" standalone="yes"?>
<Relationships xmlns="http://schemas.openxmlformats.org/package/2006/relationships"><Relationship Id="rId3" Type="http://schemas.openxmlformats.org/officeDocument/2006/relationships/hyperlink" Target="https://drive.google.com/file/d/17Wx9up6d5auY9A5wpFIFoIOaSzseZXvO/view?usp=sharing" TargetMode="External"/><Relationship Id="rId2" Type="http://schemas.openxmlformats.org/officeDocument/2006/relationships/image" Target="../media/image18.jpg"/><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38EEA-59D0-7D67-4892-9550E79A0F94}"/>
              </a:ext>
            </a:extLst>
          </p:cNvPr>
          <p:cNvSpPr>
            <a:spLocks noGrp="1"/>
          </p:cNvSpPr>
          <p:nvPr>
            <p:ph type="title"/>
          </p:nvPr>
        </p:nvSpPr>
        <p:spPr>
          <a:xfrm>
            <a:off x="1524000" y="1797309"/>
            <a:ext cx="9144000" cy="1582689"/>
          </a:xfrm>
        </p:spPr>
        <p:txBody>
          <a:bodyPr>
            <a:normAutofit/>
          </a:bodyPr>
          <a:lstStyle/>
          <a:p>
            <a:pPr algn="ctr"/>
            <a:r>
              <a:rPr lang="en-AU" dirty="0"/>
              <a:t>Ransomware Extortion in Healthcare</a:t>
            </a:r>
            <a:endParaRPr lang="en-AU" b="1" dirty="0"/>
          </a:p>
        </p:txBody>
      </p:sp>
      <p:sp>
        <p:nvSpPr>
          <p:cNvPr id="3" name="Subtitle 2">
            <a:extLst>
              <a:ext uri="{FF2B5EF4-FFF2-40B4-BE49-F238E27FC236}">
                <a16:creationId xmlns:a16="http://schemas.microsoft.com/office/drawing/2014/main" id="{E514F19C-62D8-D6F2-DC39-C490C7255BBF}"/>
              </a:ext>
            </a:extLst>
          </p:cNvPr>
          <p:cNvSpPr>
            <a:spLocks noGrp="1"/>
          </p:cNvSpPr>
          <p:nvPr>
            <p:ph type="subTitle" idx="1"/>
          </p:nvPr>
        </p:nvSpPr>
        <p:spPr>
          <a:xfrm>
            <a:off x="4138246" y="4617720"/>
            <a:ext cx="3915508" cy="1384727"/>
          </a:xfrm>
        </p:spPr>
        <p:txBody>
          <a:bodyPr>
            <a:normAutofit/>
          </a:bodyPr>
          <a:lstStyle/>
          <a:p>
            <a:pPr algn="ctr"/>
            <a:r>
              <a:rPr lang="en-US" dirty="0"/>
              <a:t>Name: Khalid Bakhshi </a:t>
            </a:r>
          </a:p>
          <a:p>
            <a:pPr algn="ctr"/>
            <a:r>
              <a:rPr lang="en-US" dirty="0"/>
              <a:t>PICT3011 Cyber Security in Practice</a:t>
            </a:r>
            <a:endParaRPr lang="en-AU" dirty="0"/>
          </a:p>
        </p:txBody>
      </p:sp>
      <p:sp>
        <p:nvSpPr>
          <p:cNvPr id="4" name="Subtitle 2">
            <a:extLst>
              <a:ext uri="{FF2B5EF4-FFF2-40B4-BE49-F238E27FC236}">
                <a16:creationId xmlns:a16="http://schemas.microsoft.com/office/drawing/2014/main" id="{274CFB2A-E12D-1019-F0D8-ABC7869799FB}"/>
              </a:ext>
            </a:extLst>
          </p:cNvPr>
          <p:cNvSpPr txBox="1">
            <a:spLocks/>
          </p:cNvSpPr>
          <p:nvPr/>
        </p:nvSpPr>
        <p:spPr>
          <a:xfrm>
            <a:off x="3906598" y="3330997"/>
            <a:ext cx="3915508" cy="138472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p>
        </p:txBody>
      </p:sp>
      <p:sp>
        <p:nvSpPr>
          <p:cNvPr id="5" name="Subtitle 2">
            <a:extLst>
              <a:ext uri="{FF2B5EF4-FFF2-40B4-BE49-F238E27FC236}">
                <a16:creationId xmlns:a16="http://schemas.microsoft.com/office/drawing/2014/main" id="{C8D42A7F-F28F-4D73-2055-D826F0FE882C}"/>
              </a:ext>
            </a:extLst>
          </p:cNvPr>
          <p:cNvSpPr txBox="1">
            <a:spLocks/>
          </p:cNvSpPr>
          <p:nvPr/>
        </p:nvSpPr>
        <p:spPr>
          <a:xfrm>
            <a:off x="3449398" y="3429000"/>
            <a:ext cx="3915508" cy="138472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U" dirty="0"/>
          </a:p>
        </p:txBody>
      </p:sp>
      <p:sp>
        <p:nvSpPr>
          <p:cNvPr id="6" name="TextBox 5">
            <a:extLst>
              <a:ext uri="{FF2B5EF4-FFF2-40B4-BE49-F238E27FC236}">
                <a16:creationId xmlns:a16="http://schemas.microsoft.com/office/drawing/2014/main" id="{EF0B2A19-68DA-731B-4C48-BD66626C317F}"/>
              </a:ext>
            </a:extLst>
          </p:cNvPr>
          <p:cNvSpPr txBox="1"/>
          <p:nvPr/>
        </p:nvSpPr>
        <p:spPr>
          <a:xfrm>
            <a:off x="1752600" y="3749196"/>
            <a:ext cx="8686800" cy="923330"/>
          </a:xfrm>
          <a:prstGeom prst="rect">
            <a:avLst/>
          </a:prstGeom>
          <a:noFill/>
        </p:spPr>
        <p:txBody>
          <a:bodyPr wrap="square" rtlCol="0">
            <a:spAutoFit/>
          </a:bodyPr>
          <a:lstStyle/>
          <a:p>
            <a:pPr algn="ctr"/>
            <a:r>
              <a:rPr lang="en-AU" i="1" dirty="0"/>
              <a:t>“An evidence-based analysis of the HSE (2021) and Change Healthcare (2024) incidents”</a:t>
            </a:r>
          </a:p>
          <a:p>
            <a:endParaRPr lang="en-AU" dirty="0"/>
          </a:p>
        </p:txBody>
      </p:sp>
    </p:spTree>
    <p:extLst>
      <p:ext uri="{BB962C8B-B14F-4D97-AF65-F5344CB8AC3E}">
        <p14:creationId xmlns:p14="http://schemas.microsoft.com/office/powerpoint/2010/main" val="16380470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B5221-0369-B1F3-6F43-92D162ADF249}"/>
              </a:ext>
            </a:extLst>
          </p:cNvPr>
          <p:cNvSpPr>
            <a:spLocks noGrp="1"/>
          </p:cNvSpPr>
          <p:nvPr>
            <p:ph type="title"/>
          </p:nvPr>
        </p:nvSpPr>
        <p:spPr>
          <a:xfrm>
            <a:off x="293977" y="-185937"/>
            <a:ext cx="11604046" cy="969206"/>
          </a:xfrm>
        </p:spPr>
        <p:txBody>
          <a:bodyPr/>
          <a:lstStyle/>
          <a:p>
            <a:pPr algn="ctr"/>
            <a:r>
              <a:rPr lang="en-AU" b="1" dirty="0"/>
              <a:t>Investigation Scope and Preliminary Finding</a:t>
            </a:r>
          </a:p>
        </p:txBody>
      </p:sp>
      <p:graphicFrame>
        <p:nvGraphicFramePr>
          <p:cNvPr id="8" name="Content Placeholder 7">
            <a:extLst>
              <a:ext uri="{FF2B5EF4-FFF2-40B4-BE49-F238E27FC236}">
                <a16:creationId xmlns:a16="http://schemas.microsoft.com/office/drawing/2014/main" id="{21E36EC3-A7D8-99D5-93F4-60760A42942B}"/>
              </a:ext>
            </a:extLst>
          </p:cNvPr>
          <p:cNvGraphicFramePr>
            <a:graphicFrameLocks noGrp="1"/>
          </p:cNvGraphicFramePr>
          <p:nvPr>
            <p:ph idx="1"/>
            <p:extLst>
              <p:ext uri="{D42A27DB-BD31-4B8C-83A1-F6EECF244321}">
                <p14:modId xmlns:p14="http://schemas.microsoft.com/office/powerpoint/2010/main" val="2862719178"/>
              </p:ext>
            </p:extLst>
          </p:nvPr>
        </p:nvGraphicFramePr>
        <p:xfrm>
          <a:off x="2088848" y="903957"/>
          <a:ext cx="8014304" cy="4808708"/>
        </p:xfrm>
        <a:graphic>
          <a:graphicData uri="http://schemas.openxmlformats.org/drawingml/2006/table">
            <a:tbl>
              <a:tblPr firstRow="1" bandRow="1">
                <a:tableStyleId>{5C22544A-7EE6-4342-B048-85BDC9FD1C3A}</a:tableStyleId>
              </a:tblPr>
              <a:tblGrid>
                <a:gridCol w="2199005">
                  <a:extLst>
                    <a:ext uri="{9D8B030D-6E8A-4147-A177-3AD203B41FA5}">
                      <a16:colId xmlns:a16="http://schemas.microsoft.com/office/drawing/2014/main" val="173067703"/>
                    </a:ext>
                  </a:extLst>
                </a:gridCol>
                <a:gridCol w="5815299">
                  <a:extLst>
                    <a:ext uri="{9D8B030D-6E8A-4147-A177-3AD203B41FA5}">
                      <a16:colId xmlns:a16="http://schemas.microsoft.com/office/drawing/2014/main" val="1960562961"/>
                    </a:ext>
                  </a:extLst>
                </a:gridCol>
              </a:tblGrid>
              <a:tr h="390525">
                <a:tc>
                  <a:txBody>
                    <a:bodyPr/>
                    <a:lstStyle/>
                    <a:p>
                      <a:pPr algn="ctr"/>
                      <a:r>
                        <a:rPr lang="en-US" dirty="0"/>
                        <a:t>Investigation Scope</a:t>
                      </a:r>
                      <a:endParaRPr lang="en-AU" dirty="0"/>
                    </a:p>
                  </a:txBody>
                  <a:tcPr/>
                </a:tc>
                <a:tc>
                  <a:txBody>
                    <a:bodyPr/>
                    <a:lstStyle/>
                    <a:p>
                      <a:pPr algn="ctr"/>
                      <a:r>
                        <a:rPr lang="en-US" dirty="0"/>
                        <a:t>Scope and preliminary finding</a:t>
                      </a:r>
                      <a:endParaRPr lang="en-AU" dirty="0"/>
                    </a:p>
                  </a:txBody>
                  <a:tcPr/>
                </a:tc>
                <a:extLst>
                  <a:ext uri="{0D108BD9-81ED-4DB2-BD59-A6C34878D82A}">
                    <a16:rowId xmlns:a16="http://schemas.microsoft.com/office/drawing/2014/main" val="1642915824"/>
                  </a:ext>
                </a:extLst>
              </a:tr>
              <a:tr h="394823">
                <a:tc>
                  <a:txBody>
                    <a:bodyPr/>
                    <a:lstStyle/>
                    <a:p>
                      <a:pPr algn="ctr"/>
                      <a:r>
                        <a:rPr lang="en-US" dirty="0"/>
                        <a:t>Attack category</a:t>
                      </a:r>
                    </a:p>
                  </a:txBody>
                  <a:tcPr/>
                </a:tc>
                <a:tc>
                  <a:txBody>
                    <a:bodyPr/>
                    <a:lstStyle/>
                    <a:p>
                      <a:pPr algn="ctr"/>
                      <a:r>
                        <a:rPr lang="en-US" dirty="0"/>
                        <a:t>Ransomware extortion affecting healthcare </a:t>
                      </a:r>
                      <a:r>
                        <a:rPr lang="en-US" dirty="0" err="1"/>
                        <a:t>organisations</a:t>
                      </a:r>
                      <a:endParaRPr lang="en-AU" dirty="0"/>
                    </a:p>
                  </a:txBody>
                  <a:tcPr/>
                </a:tc>
                <a:extLst>
                  <a:ext uri="{0D108BD9-81ED-4DB2-BD59-A6C34878D82A}">
                    <a16:rowId xmlns:a16="http://schemas.microsoft.com/office/drawing/2014/main" val="2630620789"/>
                  </a:ext>
                </a:extLst>
              </a:tr>
              <a:tr h="370840">
                <a:tc>
                  <a:txBody>
                    <a:bodyPr/>
                    <a:lstStyle/>
                    <a:p>
                      <a:pPr algn="ctr"/>
                      <a:r>
                        <a:rPr lang="en-US" dirty="0"/>
                        <a:t>Incidents examined </a:t>
                      </a:r>
                    </a:p>
                  </a:txBody>
                  <a:tcPr/>
                </a:tc>
                <a:tc>
                  <a:txBody>
                    <a:bodyPr/>
                    <a:lstStyle/>
                    <a:p>
                      <a:pPr algn="ctr"/>
                      <a:r>
                        <a:rPr lang="en-US" dirty="0"/>
                        <a:t>HSE, Ireland, 2021: Conti ransomware</a:t>
                      </a:r>
                      <a:br>
                        <a:rPr lang="en-US" dirty="0"/>
                      </a:br>
                      <a:br>
                        <a:rPr lang="en-US" dirty="0"/>
                      </a:br>
                      <a:r>
                        <a:rPr lang="en-US" dirty="0"/>
                        <a:t>Change Healthcare, United States, 2024: ALPHV/</a:t>
                      </a:r>
                      <a:r>
                        <a:rPr lang="en-US" dirty="0" err="1"/>
                        <a:t>BlackCat</a:t>
                      </a:r>
                      <a:r>
                        <a:rPr lang="en-US" dirty="0"/>
                        <a:t> ransomware</a:t>
                      </a:r>
                      <a:endParaRPr lang="en-AU" dirty="0"/>
                    </a:p>
                  </a:txBody>
                  <a:tcPr/>
                </a:tc>
                <a:extLst>
                  <a:ext uri="{0D108BD9-81ED-4DB2-BD59-A6C34878D82A}">
                    <a16:rowId xmlns:a16="http://schemas.microsoft.com/office/drawing/2014/main" val="1755921713"/>
                  </a:ext>
                </a:extLst>
              </a:tr>
              <a:tr h="370840">
                <a:tc>
                  <a:txBody>
                    <a:bodyPr/>
                    <a:lstStyle/>
                    <a:p>
                      <a:pPr algn="ctr"/>
                      <a:r>
                        <a:rPr lang="en-US" dirty="0"/>
                        <a:t>Evidence base</a:t>
                      </a:r>
                    </a:p>
                  </a:txBody>
                  <a:tcPr/>
                </a:tc>
                <a:tc>
                  <a:txBody>
                    <a:bodyPr/>
                    <a:lstStyle/>
                    <a:p>
                      <a:pPr algn="ctr"/>
                      <a:r>
                        <a:rPr lang="en-US" dirty="0"/>
                        <a:t>Official incident reports, congressional testimony, government guidance and organizational disclosures</a:t>
                      </a:r>
                      <a:endParaRPr lang="en-AU" dirty="0"/>
                    </a:p>
                  </a:txBody>
                  <a:tcPr/>
                </a:tc>
                <a:extLst>
                  <a:ext uri="{0D108BD9-81ED-4DB2-BD59-A6C34878D82A}">
                    <a16:rowId xmlns:a16="http://schemas.microsoft.com/office/drawing/2014/main" val="4188488939"/>
                  </a:ext>
                </a:extLst>
              </a:tr>
              <a:tr h="370840">
                <a:tc>
                  <a:txBody>
                    <a:bodyPr/>
                    <a:lstStyle/>
                    <a:p>
                      <a:pPr algn="ctr"/>
                      <a:r>
                        <a:rPr lang="en-US" dirty="0"/>
                        <a:t>Analytical approach</a:t>
                      </a:r>
                    </a:p>
                  </a:txBody>
                  <a:tcPr/>
                </a:tc>
                <a:tc>
                  <a:txBody>
                    <a:bodyPr/>
                    <a:lstStyle/>
                    <a:p>
                      <a:pPr algn="ctr"/>
                      <a:r>
                        <a:rPr lang="en-US" dirty="0"/>
                        <a:t>Manual and one-shot LLM attack trees were compared and synthesized for each incident before developing a cross incident model</a:t>
                      </a:r>
                      <a:endParaRPr lang="en-AU" dirty="0"/>
                    </a:p>
                  </a:txBody>
                  <a:tcPr/>
                </a:tc>
                <a:extLst>
                  <a:ext uri="{0D108BD9-81ED-4DB2-BD59-A6C34878D82A}">
                    <a16:rowId xmlns:a16="http://schemas.microsoft.com/office/drawing/2014/main" val="1036678662"/>
                  </a:ext>
                </a:extLst>
              </a:tr>
              <a:tr h="370840">
                <a:tc>
                  <a:txBody>
                    <a:bodyPr/>
                    <a:lstStyle/>
                    <a:p>
                      <a:pPr algn="ctr"/>
                      <a:r>
                        <a:rPr lang="en-US" dirty="0"/>
                        <a:t>Preliminary finding</a:t>
                      </a:r>
                    </a:p>
                  </a:txBody>
                  <a:tcPr/>
                </a:tc>
                <a:tc>
                  <a:txBody>
                    <a:bodyPr/>
                    <a:lstStyle/>
                    <a:p>
                      <a:pPr algn="ctr"/>
                      <a:r>
                        <a:rPr lang="en-US" dirty="0"/>
                        <a:t>Different initial access routes converged on enterprise expansion, encryption, data theft and extortion</a:t>
                      </a:r>
                    </a:p>
                  </a:txBody>
                  <a:tcPr/>
                </a:tc>
                <a:extLst>
                  <a:ext uri="{0D108BD9-81ED-4DB2-BD59-A6C34878D82A}">
                    <a16:rowId xmlns:a16="http://schemas.microsoft.com/office/drawing/2014/main" val="1048023273"/>
                  </a:ext>
                </a:extLst>
              </a:tr>
              <a:tr h="370840">
                <a:tc>
                  <a:txBody>
                    <a:bodyPr/>
                    <a:lstStyle/>
                    <a:p>
                      <a:pPr algn="ctr"/>
                      <a:r>
                        <a:rPr lang="en-US" dirty="0"/>
                        <a:t>Key finding</a:t>
                      </a:r>
                    </a:p>
                  </a:txBody>
                  <a:tcPr/>
                </a:tc>
                <a:tc>
                  <a:txBody>
                    <a:bodyPr/>
                    <a:lstStyle/>
                    <a:p>
                      <a:pPr algn="ctr"/>
                      <a:r>
                        <a:rPr lang="en-US" dirty="0"/>
                        <a:t>Several mechanisms remain unknown or redacted, so the attack tree represents a preliminary model</a:t>
                      </a:r>
                      <a:endParaRPr lang="en-AU" dirty="0"/>
                    </a:p>
                  </a:txBody>
                  <a:tcPr/>
                </a:tc>
                <a:extLst>
                  <a:ext uri="{0D108BD9-81ED-4DB2-BD59-A6C34878D82A}">
                    <a16:rowId xmlns:a16="http://schemas.microsoft.com/office/drawing/2014/main" val="4199264539"/>
                  </a:ext>
                </a:extLst>
              </a:tr>
            </a:tbl>
          </a:graphicData>
        </a:graphic>
      </p:graphicFrame>
      <p:sp>
        <p:nvSpPr>
          <p:cNvPr id="10" name="TextBox 9">
            <a:extLst>
              <a:ext uri="{FF2B5EF4-FFF2-40B4-BE49-F238E27FC236}">
                <a16:creationId xmlns:a16="http://schemas.microsoft.com/office/drawing/2014/main" id="{6387F513-4F29-433C-149E-0876DE09B94B}"/>
              </a:ext>
            </a:extLst>
          </p:cNvPr>
          <p:cNvSpPr txBox="1"/>
          <p:nvPr/>
        </p:nvSpPr>
        <p:spPr>
          <a:xfrm>
            <a:off x="1031631" y="5833353"/>
            <a:ext cx="10128738" cy="923330"/>
          </a:xfrm>
          <a:prstGeom prst="rect">
            <a:avLst/>
          </a:prstGeom>
          <a:noFill/>
        </p:spPr>
        <p:txBody>
          <a:bodyPr wrap="square" rtlCol="0">
            <a:spAutoFit/>
          </a:bodyPr>
          <a:lstStyle/>
          <a:p>
            <a:pPr algn="ctr"/>
            <a:r>
              <a:rPr lang="en-US" b="1" dirty="0"/>
              <a:t>Investigation question: Which recurring attack pathways and control weaknesses should healthcare </a:t>
            </a:r>
            <a:r>
              <a:rPr lang="en-US" b="1" dirty="0" err="1"/>
              <a:t>organisations</a:t>
            </a:r>
            <a:r>
              <a:rPr lang="en-US" b="1" dirty="0"/>
              <a:t> address first?</a:t>
            </a:r>
            <a:br>
              <a:rPr lang="en-US" dirty="0"/>
            </a:br>
            <a:endParaRPr lang="en-AU" dirty="0"/>
          </a:p>
        </p:txBody>
      </p:sp>
      <p:sp>
        <p:nvSpPr>
          <p:cNvPr id="11" name="TextBox 10">
            <a:extLst>
              <a:ext uri="{FF2B5EF4-FFF2-40B4-BE49-F238E27FC236}">
                <a16:creationId xmlns:a16="http://schemas.microsoft.com/office/drawing/2014/main" id="{D0DC3FDD-E027-7600-2D13-F5E760A20C71}"/>
              </a:ext>
            </a:extLst>
          </p:cNvPr>
          <p:cNvSpPr txBox="1"/>
          <p:nvPr/>
        </p:nvSpPr>
        <p:spPr>
          <a:xfrm>
            <a:off x="0" y="6611779"/>
            <a:ext cx="5854488" cy="246221"/>
          </a:xfrm>
          <a:prstGeom prst="rect">
            <a:avLst/>
          </a:prstGeom>
          <a:noFill/>
        </p:spPr>
        <p:txBody>
          <a:bodyPr wrap="none" rtlCol="0">
            <a:spAutoFit/>
          </a:bodyPr>
          <a:lstStyle/>
          <a:p>
            <a:r>
              <a:rPr lang="en-AU" sz="1000" i="1" dirty="0"/>
              <a:t>Sources: PwC (2021, pp. 29, 45, 54–55); Witty (2024, pp. 2–3); Fliegelman and Stemp (2024, pp. 1–6).</a:t>
            </a:r>
          </a:p>
        </p:txBody>
      </p:sp>
    </p:spTree>
    <p:extLst>
      <p:ext uri="{BB962C8B-B14F-4D97-AF65-F5344CB8AC3E}">
        <p14:creationId xmlns:p14="http://schemas.microsoft.com/office/powerpoint/2010/main" val="3596930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F2A22-0FF2-D06D-87B4-8E45FAD97797}"/>
              </a:ext>
            </a:extLst>
          </p:cNvPr>
          <p:cNvSpPr>
            <a:spLocks noGrp="1"/>
          </p:cNvSpPr>
          <p:nvPr>
            <p:ph type="title"/>
          </p:nvPr>
        </p:nvSpPr>
        <p:spPr>
          <a:xfrm>
            <a:off x="293977" y="-93413"/>
            <a:ext cx="11604046" cy="969206"/>
          </a:xfrm>
        </p:spPr>
        <p:txBody>
          <a:bodyPr/>
          <a:lstStyle/>
          <a:p>
            <a:pPr algn="ctr"/>
            <a:r>
              <a:rPr lang="en-US" b="1" dirty="0"/>
              <a:t>Healthcare Ransomware Extortion</a:t>
            </a:r>
            <a:endParaRPr lang="en-AU" b="1" dirty="0"/>
          </a:p>
        </p:txBody>
      </p:sp>
      <p:sp>
        <p:nvSpPr>
          <p:cNvPr id="3" name="Content Placeholder 2">
            <a:extLst>
              <a:ext uri="{FF2B5EF4-FFF2-40B4-BE49-F238E27FC236}">
                <a16:creationId xmlns:a16="http://schemas.microsoft.com/office/drawing/2014/main" id="{1BAE7BB6-45CE-E16D-9580-6A0919717A3E}"/>
              </a:ext>
            </a:extLst>
          </p:cNvPr>
          <p:cNvSpPr>
            <a:spLocks noGrp="1"/>
          </p:cNvSpPr>
          <p:nvPr>
            <p:ph idx="1"/>
          </p:nvPr>
        </p:nvSpPr>
        <p:spPr>
          <a:xfrm>
            <a:off x="301750" y="1065391"/>
            <a:ext cx="11604046" cy="4234643"/>
          </a:xfrm>
        </p:spPr>
        <p:txBody>
          <a:bodyPr/>
          <a:lstStyle/>
          <a:p>
            <a:pPr algn="ctr"/>
            <a:r>
              <a:rPr lang="en-US" sz="1600" dirty="0"/>
              <a:t>Ransomware extortion: involves attackers encrypting systems, stealing sensitive data, or using both methods to pressure an organisation into pay a ransom. </a:t>
            </a:r>
          </a:p>
          <a:p>
            <a:endParaRPr lang="en-US" dirty="0"/>
          </a:p>
        </p:txBody>
      </p:sp>
      <p:graphicFrame>
        <p:nvGraphicFramePr>
          <p:cNvPr id="4" name="Table 3">
            <a:extLst>
              <a:ext uri="{FF2B5EF4-FFF2-40B4-BE49-F238E27FC236}">
                <a16:creationId xmlns:a16="http://schemas.microsoft.com/office/drawing/2014/main" id="{4BB47C98-572E-1FF0-1FBE-9B9480E1C685}"/>
              </a:ext>
            </a:extLst>
          </p:cNvPr>
          <p:cNvGraphicFramePr>
            <a:graphicFrameLocks noGrp="1"/>
          </p:cNvGraphicFramePr>
          <p:nvPr>
            <p:extLst>
              <p:ext uri="{D42A27DB-BD31-4B8C-83A1-F6EECF244321}">
                <p14:modId xmlns:p14="http://schemas.microsoft.com/office/powerpoint/2010/main" val="2105186137"/>
              </p:ext>
            </p:extLst>
          </p:nvPr>
        </p:nvGraphicFramePr>
        <p:xfrm>
          <a:off x="2039774" y="1917700"/>
          <a:ext cx="8127999" cy="30226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918446564"/>
                    </a:ext>
                  </a:extLst>
                </a:gridCol>
                <a:gridCol w="2709333">
                  <a:extLst>
                    <a:ext uri="{9D8B030D-6E8A-4147-A177-3AD203B41FA5}">
                      <a16:colId xmlns:a16="http://schemas.microsoft.com/office/drawing/2014/main" val="3679477276"/>
                    </a:ext>
                  </a:extLst>
                </a:gridCol>
                <a:gridCol w="2709333">
                  <a:extLst>
                    <a:ext uri="{9D8B030D-6E8A-4147-A177-3AD203B41FA5}">
                      <a16:colId xmlns:a16="http://schemas.microsoft.com/office/drawing/2014/main" val="1560196914"/>
                    </a:ext>
                  </a:extLst>
                </a:gridCol>
              </a:tblGrid>
              <a:tr h="370840">
                <a:tc>
                  <a:txBody>
                    <a:bodyPr/>
                    <a:lstStyle/>
                    <a:p>
                      <a:pPr algn="ctr"/>
                      <a:r>
                        <a:rPr lang="en-US" dirty="0"/>
                        <a:t>Extortion pathway</a:t>
                      </a:r>
                      <a:endParaRPr lang="en-AU" dirty="0"/>
                    </a:p>
                  </a:txBody>
                  <a:tcPr/>
                </a:tc>
                <a:tc>
                  <a:txBody>
                    <a:bodyPr/>
                    <a:lstStyle/>
                    <a:p>
                      <a:pPr algn="ctr"/>
                      <a:r>
                        <a:rPr lang="en-US" dirty="0"/>
                        <a:t>Attacker actions</a:t>
                      </a:r>
                      <a:endParaRPr lang="en-AU" dirty="0"/>
                    </a:p>
                  </a:txBody>
                  <a:tcPr/>
                </a:tc>
                <a:tc>
                  <a:txBody>
                    <a:bodyPr/>
                    <a:lstStyle/>
                    <a:p>
                      <a:pPr algn="ctr"/>
                      <a:r>
                        <a:rPr lang="en-US" dirty="0"/>
                        <a:t>Potential business impact</a:t>
                      </a:r>
                      <a:endParaRPr lang="en-AU" dirty="0"/>
                    </a:p>
                  </a:txBody>
                  <a:tcPr/>
                </a:tc>
                <a:extLst>
                  <a:ext uri="{0D108BD9-81ED-4DB2-BD59-A6C34878D82A}">
                    <a16:rowId xmlns:a16="http://schemas.microsoft.com/office/drawing/2014/main" val="62507711"/>
                  </a:ext>
                </a:extLst>
              </a:tr>
              <a:tr h="370840">
                <a:tc>
                  <a:txBody>
                    <a:bodyPr/>
                    <a:lstStyle/>
                    <a:p>
                      <a:pPr algn="ctr"/>
                      <a:r>
                        <a:rPr lang="en-US" dirty="0"/>
                        <a:t>Availability pressure</a:t>
                      </a:r>
                      <a:endParaRPr lang="en-AU" dirty="0"/>
                    </a:p>
                  </a:txBody>
                  <a:tcPr/>
                </a:tc>
                <a:tc>
                  <a:txBody>
                    <a:bodyPr/>
                    <a:lstStyle/>
                    <a:p>
                      <a:pPr algn="ctr"/>
                      <a:r>
                        <a:rPr lang="en-US" dirty="0"/>
                        <a:t>Deploy ransomware and encrypt systems</a:t>
                      </a:r>
                      <a:endParaRPr lang="en-AU" dirty="0"/>
                    </a:p>
                  </a:txBody>
                  <a:tcPr/>
                </a:tc>
                <a:tc>
                  <a:txBody>
                    <a:bodyPr/>
                    <a:lstStyle/>
                    <a:p>
                      <a:pPr algn="ctr"/>
                      <a:r>
                        <a:rPr lang="en-US" dirty="0"/>
                        <a:t>Services become unavailable, disrupting care, claims, pharmacy services and payments</a:t>
                      </a:r>
                      <a:endParaRPr lang="en-AU" dirty="0"/>
                    </a:p>
                  </a:txBody>
                  <a:tcPr/>
                </a:tc>
                <a:extLst>
                  <a:ext uri="{0D108BD9-81ED-4DB2-BD59-A6C34878D82A}">
                    <a16:rowId xmlns:a16="http://schemas.microsoft.com/office/drawing/2014/main" val="2401200743"/>
                  </a:ext>
                </a:extLst>
              </a:tr>
              <a:tr h="370840">
                <a:tc>
                  <a:txBody>
                    <a:bodyPr/>
                    <a:lstStyle/>
                    <a:p>
                      <a:pPr algn="ctr"/>
                      <a:r>
                        <a:rPr lang="en-US" dirty="0"/>
                        <a:t>Confidentiality pressure</a:t>
                      </a:r>
                      <a:endParaRPr lang="en-AU" dirty="0"/>
                    </a:p>
                  </a:txBody>
                  <a:tcPr/>
                </a:tc>
                <a:tc>
                  <a:txBody>
                    <a:bodyPr/>
                    <a:lstStyle/>
                    <a:p>
                      <a:pPr algn="ctr"/>
                      <a:r>
                        <a:rPr lang="en-US" dirty="0"/>
                        <a:t>Locate, copy, and exfiltrate sensitive data, then threaten disclosure</a:t>
                      </a:r>
                      <a:endParaRPr lang="en-AU" dirty="0"/>
                    </a:p>
                  </a:txBody>
                  <a:tcPr/>
                </a:tc>
                <a:tc>
                  <a:txBody>
                    <a:bodyPr/>
                    <a:lstStyle/>
                    <a:p>
                      <a:pPr algn="ctr"/>
                      <a:r>
                        <a:rPr lang="en-US" dirty="0"/>
                        <a:t>Privacy harm, breach notification obligations, reputational damage and additional extortion pressure</a:t>
                      </a:r>
                      <a:endParaRPr lang="en-AU" dirty="0"/>
                    </a:p>
                  </a:txBody>
                  <a:tcPr/>
                </a:tc>
                <a:extLst>
                  <a:ext uri="{0D108BD9-81ED-4DB2-BD59-A6C34878D82A}">
                    <a16:rowId xmlns:a16="http://schemas.microsoft.com/office/drawing/2014/main" val="2392163961"/>
                  </a:ext>
                </a:extLst>
              </a:tr>
            </a:tbl>
          </a:graphicData>
        </a:graphic>
      </p:graphicFrame>
      <p:sp>
        <p:nvSpPr>
          <p:cNvPr id="5" name="TextBox 4">
            <a:extLst>
              <a:ext uri="{FF2B5EF4-FFF2-40B4-BE49-F238E27FC236}">
                <a16:creationId xmlns:a16="http://schemas.microsoft.com/office/drawing/2014/main" id="{3B11F3C2-01C9-F597-4007-9DBFE6D4BE39}"/>
              </a:ext>
            </a:extLst>
          </p:cNvPr>
          <p:cNvSpPr txBox="1"/>
          <p:nvPr/>
        </p:nvSpPr>
        <p:spPr>
          <a:xfrm>
            <a:off x="1896476" y="5018236"/>
            <a:ext cx="8414594" cy="584775"/>
          </a:xfrm>
          <a:prstGeom prst="rect">
            <a:avLst/>
          </a:prstGeom>
          <a:noFill/>
        </p:spPr>
        <p:txBody>
          <a:bodyPr wrap="square" rtlCol="0">
            <a:spAutoFit/>
          </a:bodyPr>
          <a:lstStyle/>
          <a:p>
            <a:pPr algn="ctr"/>
            <a:r>
              <a:rPr lang="en-US" sz="1600" b="1" dirty="0"/>
              <a:t>Critical assets: </a:t>
            </a:r>
            <a:r>
              <a:rPr lang="en-US" sz="1600" dirty="0"/>
              <a:t>patient information, clinical and administrative systems, claims and payment platforms, privileged accounts, backup infrastructure and dependent healthcare services</a:t>
            </a:r>
            <a:endParaRPr lang="en-AU" sz="1600" dirty="0"/>
          </a:p>
        </p:txBody>
      </p:sp>
      <p:sp>
        <p:nvSpPr>
          <p:cNvPr id="6" name="TextBox 5">
            <a:extLst>
              <a:ext uri="{FF2B5EF4-FFF2-40B4-BE49-F238E27FC236}">
                <a16:creationId xmlns:a16="http://schemas.microsoft.com/office/drawing/2014/main" id="{087BCB2F-6211-CC15-445D-5BF76DB86191}"/>
              </a:ext>
            </a:extLst>
          </p:cNvPr>
          <p:cNvSpPr txBox="1"/>
          <p:nvPr/>
        </p:nvSpPr>
        <p:spPr>
          <a:xfrm>
            <a:off x="2609201" y="5792609"/>
            <a:ext cx="6989144" cy="646331"/>
          </a:xfrm>
          <a:prstGeom prst="rect">
            <a:avLst/>
          </a:prstGeom>
          <a:noFill/>
        </p:spPr>
        <p:txBody>
          <a:bodyPr wrap="square" rtlCol="0">
            <a:spAutoFit/>
          </a:bodyPr>
          <a:lstStyle/>
          <a:p>
            <a:pPr algn="ctr"/>
            <a:r>
              <a:rPr lang="en-US" dirty="0">
                <a:highlight>
                  <a:srgbClr val="FF0000"/>
                </a:highlight>
              </a:rPr>
              <a:t>Both investigation incidents involved encryption and stolen data pressure, representing double extortion.</a:t>
            </a:r>
            <a:endParaRPr lang="en-AU" dirty="0">
              <a:highlight>
                <a:srgbClr val="FF0000"/>
              </a:highlight>
            </a:endParaRPr>
          </a:p>
        </p:txBody>
      </p:sp>
      <p:sp>
        <p:nvSpPr>
          <p:cNvPr id="7" name="TextBox 6">
            <a:extLst>
              <a:ext uri="{FF2B5EF4-FFF2-40B4-BE49-F238E27FC236}">
                <a16:creationId xmlns:a16="http://schemas.microsoft.com/office/drawing/2014/main" id="{A9E40255-7589-1CF7-303D-93140F8D9A38}"/>
              </a:ext>
            </a:extLst>
          </p:cNvPr>
          <p:cNvSpPr txBox="1"/>
          <p:nvPr/>
        </p:nvSpPr>
        <p:spPr>
          <a:xfrm>
            <a:off x="0" y="6628538"/>
            <a:ext cx="7344229" cy="400110"/>
          </a:xfrm>
          <a:prstGeom prst="rect">
            <a:avLst/>
          </a:prstGeom>
          <a:noFill/>
        </p:spPr>
        <p:txBody>
          <a:bodyPr wrap="square" rtlCol="0">
            <a:spAutoFit/>
          </a:bodyPr>
          <a:lstStyle/>
          <a:p>
            <a:r>
              <a:rPr lang="en-AU" sz="1000" i="1" dirty="0"/>
              <a:t>Sources: NIST (2026); PwC (2021, pp. 1, 45, 54–55); Witty (2024, pp. 2–3); UnitedHealth Group (2024).</a:t>
            </a:r>
          </a:p>
          <a:p>
            <a:endParaRPr lang="en-AU" sz="1000" dirty="0"/>
          </a:p>
        </p:txBody>
      </p:sp>
    </p:spTree>
    <p:extLst>
      <p:ext uri="{BB962C8B-B14F-4D97-AF65-F5344CB8AC3E}">
        <p14:creationId xmlns:p14="http://schemas.microsoft.com/office/powerpoint/2010/main" val="3072638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484-AD91-F301-AC4B-D47C5F5B2255}"/>
              </a:ext>
            </a:extLst>
          </p:cNvPr>
          <p:cNvSpPr>
            <a:spLocks noGrp="1"/>
          </p:cNvSpPr>
          <p:nvPr>
            <p:ph type="title"/>
          </p:nvPr>
        </p:nvSpPr>
        <p:spPr>
          <a:xfrm>
            <a:off x="293977" y="-219462"/>
            <a:ext cx="11604046" cy="969206"/>
          </a:xfrm>
        </p:spPr>
        <p:txBody>
          <a:bodyPr/>
          <a:lstStyle/>
          <a:p>
            <a:pPr algn="ctr"/>
            <a:r>
              <a:rPr lang="en-US" b="1" dirty="0"/>
              <a:t>Investigation and Evidence Method</a:t>
            </a:r>
            <a:endParaRPr lang="en-AU" b="1" dirty="0"/>
          </a:p>
        </p:txBody>
      </p:sp>
      <p:graphicFrame>
        <p:nvGraphicFramePr>
          <p:cNvPr id="4" name="Content Placeholder 3">
            <a:extLst>
              <a:ext uri="{FF2B5EF4-FFF2-40B4-BE49-F238E27FC236}">
                <a16:creationId xmlns:a16="http://schemas.microsoft.com/office/drawing/2014/main" id="{63F9BDF7-BEAD-DA44-4240-AF28313857AB}"/>
              </a:ext>
            </a:extLst>
          </p:cNvPr>
          <p:cNvGraphicFramePr>
            <a:graphicFrameLocks noGrp="1"/>
          </p:cNvGraphicFramePr>
          <p:nvPr>
            <p:ph idx="1"/>
            <p:extLst>
              <p:ext uri="{D42A27DB-BD31-4B8C-83A1-F6EECF244321}">
                <p14:modId xmlns:p14="http://schemas.microsoft.com/office/powerpoint/2010/main" val="3371964643"/>
              </p:ext>
            </p:extLst>
          </p:nvPr>
        </p:nvGraphicFramePr>
        <p:xfrm>
          <a:off x="293977" y="1002846"/>
          <a:ext cx="11604624" cy="2870200"/>
        </p:xfrm>
        <a:graphic>
          <a:graphicData uri="http://schemas.openxmlformats.org/drawingml/2006/table">
            <a:tbl>
              <a:tblPr firstRow="1" bandRow="1">
                <a:tableStyleId>{5C22544A-7EE6-4342-B048-85BDC9FD1C3A}</a:tableStyleId>
              </a:tblPr>
              <a:tblGrid>
                <a:gridCol w="3868208">
                  <a:extLst>
                    <a:ext uri="{9D8B030D-6E8A-4147-A177-3AD203B41FA5}">
                      <a16:colId xmlns:a16="http://schemas.microsoft.com/office/drawing/2014/main" val="1207381464"/>
                    </a:ext>
                  </a:extLst>
                </a:gridCol>
                <a:gridCol w="3868208">
                  <a:extLst>
                    <a:ext uri="{9D8B030D-6E8A-4147-A177-3AD203B41FA5}">
                      <a16:colId xmlns:a16="http://schemas.microsoft.com/office/drawing/2014/main" val="2114219576"/>
                    </a:ext>
                  </a:extLst>
                </a:gridCol>
                <a:gridCol w="3868208">
                  <a:extLst>
                    <a:ext uri="{9D8B030D-6E8A-4147-A177-3AD203B41FA5}">
                      <a16:colId xmlns:a16="http://schemas.microsoft.com/office/drawing/2014/main" val="1916034131"/>
                    </a:ext>
                  </a:extLst>
                </a:gridCol>
              </a:tblGrid>
              <a:tr h="370840">
                <a:tc>
                  <a:txBody>
                    <a:bodyPr/>
                    <a:lstStyle/>
                    <a:p>
                      <a:pPr algn="ctr"/>
                      <a:r>
                        <a:rPr lang="en-US" sz="1400" dirty="0"/>
                        <a:t>Stage</a:t>
                      </a:r>
                      <a:endParaRPr lang="en-AU" sz="1400" dirty="0"/>
                    </a:p>
                  </a:txBody>
                  <a:tcPr/>
                </a:tc>
                <a:tc>
                  <a:txBody>
                    <a:bodyPr/>
                    <a:lstStyle/>
                    <a:p>
                      <a:pPr algn="ctr"/>
                      <a:r>
                        <a:rPr lang="en-US" sz="1400" dirty="0"/>
                        <a:t>What I did</a:t>
                      </a:r>
                      <a:endParaRPr lang="en-AU" sz="1400" dirty="0"/>
                    </a:p>
                  </a:txBody>
                  <a:tcPr/>
                </a:tc>
                <a:tc>
                  <a:txBody>
                    <a:bodyPr/>
                    <a:lstStyle/>
                    <a:p>
                      <a:pPr algn="ctr"/>
                      <a:r>
                        <a:rPr lang="en-US" sz="1400" dirty="0"/>
                        <a:t>Purpose</a:t>
                      </a:r>
                      <a:endParaRPr lang="en-AU" sz="1400" dirty="0"/>
                    </a:p>
                  </a:txBody>
                  <a:tcPr/>
                </a:tc>
                <a:extLst>
                  <a:ext uri="{0D108BD9-81ED-4DB2-BD59-A6C34878D82A}">
                    <a16:rowId xmlns:a16="http://schemas.microsoft.com/office/drawing/2014/main" val="2937111017"/>
                  </a:ext>
                </a:extLst>
              </a:tr>
              <a:tr h="370840">
                <a:tc>
                  <a:txBody>
                    <a:bodyPr/>
                    <a:lstStyle/>
                    <a:p>
                      <a:pPr algn="ctr"/>
                      <a:r>
                        <a:rPr lang="en-US" sz="1400" dirty="0"/>
                        <a:t>1. Evidence audit</a:t>
                      </a:r>
                      <a:endParaRPr lang="en-AU" sz="1400" dirty="0"/>
                    </a:p>
                  </a:txBody>
                  <a:tcPr/>
                </a:tc>
                <a:tc>
                  <a:txBody>
                    <a:bodyPr/>
                    <a:lstStyle/>
                    <a:p>
                      <a:pPr algn="ctr"/>
                      <a:r>
                        <a:rPr lang="en-US" sz="1400" dirty="0"/>
                        <a:t>Extracted attacker actions, affected assets, control weaknesses and evidentiary gaps from each source</a:t>
                      </a:r>
                      <a:endParaRPr lang="en-AU" sz="1400" dirty="0"/>
                    </a:p>
                  </a:txBody>
                  <a:tcPr/>
                </a:tc>
                <a:tc>
                  <a:txBody>
                    <a:bodyPr/>
                    <a:lstStyle/>
                    <a:p>
                      <a:pPr algn="ctr"/>
                      <a:r>
                        <a:rPr lang="en-AU" sz="1400" dirty="0"/>
                        <a:t>Separated confirmed evidence from assumptions and threat-intelligence hypotheses</a:t>
                      </a:r>
                    </a:p>
                  </a:txBody>
                  <a:tcPr/>
                </a:tc>
                <a:extLst>
                  <a:ext uri="{0D108BD9-81ED-4DB2-BD59-A6C34878D82A}">
                    <a16:rowId xmlns:a16="http://schemas.microsoft.com/office/drawing/2014/main" val="4136470753"/>
                  </a:ext>
                </a:extLst>
              </a:tr>
              <a:tr h="370840">
                <a:tc>
                  <a:txBody>
                    <a:bodyPr/>
                    <a:lstStyle/>
                    <a:p>
                      <a:pPr algn="ctr"/>
                      <a:r>
                        <a:rPr lang="en-US" sz="1400" dirty="0"/>
                        <a:t>2. Manual modelling</a:t>
                      </a:r>
                      <a:endParaRPr lang="en-AU" sz="1400" dirty="0"/>
                    </a:p>
                  </a:txBody>
                  <a:tcPr/>
                </a:tc>
                <a:tc>
                  <a:txBody>
                    <a:bodyPr/>
                    <a:lstStyle/>
                    <a:p>
                      <a:pPr algn="ctr"/>
                      <a:r>
                        <a:rPr lang="en-US" sz="1400" dirty="0"/>
                        <a:t>Independently constructed an attack tree for each incident using explicit AND </a:t>
                      </a:r>
                      <a:r>
                        <a:rPr lang="en-US" sz="1400" dirty="0" err="1"/>
                        <a:t>and</a:t>
                      </a:r>
                      <a:r>
                        <a:rPr lang="en-US" sz="1400" dirty="0"/>
                        <a:t> OR gates</a:t>
                      </a:r>
                      <a:endParaRPr lang="en-AU" sz="1400" dirty="0"/>
                    </a:p>
                  </a:txBody>
                  <a:tcPr/>
                </a:tc>
                <a:tc>
                  <a:txBody>
                    <a:bodyPr/>
                    <a:lstStyle/>
                    <a:p>
                      <a:pPr algn="ctr"/>
                      <a:r>
                        <a:rPr lang="en-AU" sz="1400" dirty="0"/>
                        <a:t>Produced an evidence-based model before viewing the LLM result</a:t>
                      </a:r>
                    </a:p>
                  </a:txBody>
                  <a:tcPr/>
                </a:tc>
                <a:extLst>
                  <a:ext uri="{0D108BD9-81ED-4DB2-BD59-A6C34878D82A}">
                    <a16:rowId xmlns:a16="http://schemas.microsoft.com/office/drawing/2014/main" val="3834209929"/>
                  </a:ext>
                </a:extLst>
              </a:tr>
              <a:tr h="370840">
                <a:tc>
                  <a:txBody>
                    <a:bodyPr/>
                    <a:lstStyle/>
                    <a:p>
                      <a:pPr algn="ctr"/>
                      <a:r>
                        <a:rPr lang="en-US" sz="1400" dirty="0"/>
                        <a:t>3. LLM generation</a:t>
                      </a:r>
                    </a:p>
                  </a:txBody>
                  <a:tcPr/>
                </a:tc>
                <a:tc>
                  <a:txBody>
                    <a:bodyPr/>
                    <a:lstStyle/>
                    <a:p>
                      <a:pPr algn="ctr"/>
                      <a:r>
                        <a:rPr lang="en-US" sz="1400" dirty="0"/>
                        <a:t>Used one prompt with ChatGPT for each incident and retained the original output</a:t>
                      </a:r>
                      <a:endParaRPr lang="en-AU" sz="1400" dirty="0"/>
                    </a:p>
                  </a:txBody>
                  <a:tcPr/>
                </a:tc>
                <a:tc>
                  <a:txBody>
                    <a:bodyPr/>
                    <a:lstStyle/>
                    <a:p>
                      <a:pPr algn="ctr"/>
                      <a:r>
                        <a:rPr lang="en-AU" sz="1400" dirty="0"/>
                        <a:t>Created an independent LLM model for comparison</a:t>
                      </a:r>
                    </a:p>
                  </a:txBody>
                  <a:tcPr/>
                </a:tc>
                <a:extLst>
                  <a:ext uri="{0D108BD9-81ED-4DB2-BD59-A6C34878D82A}">
                    <a16:rowId xmlns:a16="http://schemas.microsoft.com/office/drawing/2014/main" val="2790568998"/>
                  </a:ext>
                </a:extLst>
              </a:tr>
              <a:tr h="370840">
                <a:tc>
                  <a:txBody>
                    <a:bodyPr/>
                    <a:lstStyle/>
                    <a:p>
                      <a:pPr algn="ctr"/>
                      <a:r>
                        <a:rPr lang="en-US" sz="1400" dirty="0"/>
                        <a:t>4. Comparison and synthesis</a:t>
                      </a:r>
                    </a:p>
                  </a:txBody>
                  <a:tcPr/>
                </a:tc>
                <a:tc>
                  <a:txBody>
                    <a:bodyPr/>
                    <a:lstStyle/>
                    <a:p>
                      <a:pPr algn="ctr"/>
                      <a:r>
                        <a:rPr lang="en-US" sz="1400" dirty="0"/>
                        <a:t>Compared the manual and LLM trees, removed unsupported paths and incorporated useful differences</a:t>
                      </a:r>
                      <a:endParaRPr lang="en-AU" sz="1400" dirty="0"/>
                    </a:p>
                  </a:txBody>
                  <a:tcPr/>
                </a:tc>
                <a:tc>
                  <a:txBody>
                    <a:bodyPr/>
                    <a:lstStyle/>
                    <a:p>
                      <a:pPr algn="ctr"/>
                      <a:r>
                        <a:rPr lang="en-AU" sz="1400" dirty="0"/>
                        <a:t>Produced a case-synthesised tree for each incident and a final cross-incident model</a:t>
                      </a:r>
                    </a:p>
                  </a:txBody>
                  <a:tcPr/>
                </a:tc>
                <a:extLst>
                  <a:ext uri="{0D108BD9-81ED-4DB2-BD59-A6C34878D82A}">
                    <a16:rowId xmlns:a16="http://schemas.microsoft.com/office/drawing/2014/main" val="1034163481"/>
                  </a:ext>
                </a:extLst>
              </a:tr>
            </a:tbl>
          </a:graphicData>
        </a:graphic>
      </p:graphicFrame>
      <p:graphicFrame>
        <p:nvGraphicFramePr>
          <p:cNvPr id="5" name="Table 4">
            <a:extLst>
              <a:ext uri="{FF2B5EF4-FFF2-40B4-BE49-F238E27FC236}">
                <a16:creationId xmlns:a16="http://schemas.microsoft.com/office/drawing/2014/main" id="{D5667E8D-9C38-70DA-D4C1-5ED1C33E4FFA}"/>
              </a:ext>
            </a:extLst>
          </p:cNvPr>
          <p:cNvGraphicFramePr>
            <a:graphicFrameLocks noGrp="1"/>
          </p:cNvGraphicFramePr>
          <p:nvPr>
            <p:extLst>
              <p:ext uri="{D42A27DB-BD31-4B8C-83A1-F6EECF244321}">
                <p14:modId xmlns:p14="http://schemas.microsoft.com/office/powerpoint/2010/main" val="1768335129"/>
              </p:ext>
            </p:extLst>
          </p:nvPr>
        </p:nvGraphicFramePr>
        <p:xfrm>
          <a:off x="2656112" y="4545320"/>
          <a:ext cx="6879771" cy="1645920"/>
        </p:xfrm>
        <a:graphic>
          <a:graphicData uri="http://schemas.openxmlformats.org/drawingml/2006/table">
            <a:tbl>
              <a:tblPr firstRow="1" bandRow="1">
                <a:tableStyleId>{5C22544A-7EE6-4342-B048-85BDC9FD1C3A}</a:tableStyleId>
              </a:tblPr>
              <a:tblGrid>
                <a:gridCol w="2293257">
                  <a:extLst>
                    <a:ext uri="{9D8B030D-6E8A-4147-A177-3AD203B41FA5}">
                      <a16:colId xmlns:a16="http://schemas.microsoft.com/office/drawing/2014/main" val="3288770545"/>
                    </a:ext>
                  </a:extLst>
                </a:gridCol>
                <a:gridCol w="2293257">
                  <a:extLst>
                    <a:ext uri="{9D8B030D-6E8A-4147-A177-3AD203B41FA5}">
                      <a16:colId xmlns:a16="http://schemas.microsoft.com/office/drawing/2014/main" val="128846967"/>
                    </a:ext>
                  </a:extLst>
                </a:gridCol>
                <a:gridCol w="2293257">
                  <a:extLst>
                    <a:ext uri="{9D8B030D-6E8A-4147-A177-3AD203B41FA5}">
                      <a16:colId xmlns:a16="http://schemas.microsoft.com/office/drawing/2014/main" val="1968479877"/>
                    </a:ext>
                  </a:extLst>
                </a:gridCol>
              </a:tblGrid>
              <a:tr h="186812">
                <a:tc>
                  <a:txBody>
                    <a:bodyPr/>
                    <a:lstStyle/>
                    <a:p>
                      <a:pPr algn="ctr"/>
                      <a:r>
                        <a:rPr lang="en-US" sz="1400" dirty="0"/>
                        <a:t>Status</a:t>
                      </a:r>
                      <a:endParaRPr lang="en-AU" sz="1400" dirty="0"/>
                    </a:p>
                  </a:txBody>
                  <a:tcPr/>
                </a:tc>
                <a:tc>
                  <a:txBody>
                    <a:bodyPr/>
                    <a:lstStyle/>
                    <a:p>
                      <a:pPr algn="ctr"/>
                      <a:r>
                        <a:rPr lang="en-US" sz="1400" dirty="0"/>
                        <a:t>Meaning</a:t>
                      </a:r>
                      <a:endParaRPr lang="en-AU" sz="1400" dirty="0"/>
                    </a:p>
                  </a:txBody>
                  <a:tcPr/>
                </a:tc>
                <a:tc>
                  <a:txBody>
                    <a:bodyPr/>
                    <a:lstStyle/>
                    <a:p>
                      <a:pPr algn="ctr"/>
                      <a:r>
                        <a:rPr lang="en-US" sz="1400" dirty="0" err="1"/>
                        <a:t>Colour</a:t>
                      </a:r>
                      <a:endParaRPr lang="en-AU" sz="1400" dirty="0"/>
                    </a:p>
                  </a:txBody>
                  <a:tcPr/>
                </a:tc>
                <a:extLst>
                  <a:ext uri="{0D108BD9-81ED-4DB2-BD59-A6C34878D82A}">
                    <a16:rowId xmlns:a16="http://schemas.microsoft.com/office/drawing/2014/main" val="4045811834"/>
                  </a:ext>
                </a:extLst>
              </a:tr>
              <a:tr h="322442">
                <a:tc>
                  <a:txBody>
                    <a:bodyPr/>
                    <a:lstStyle/>
                    <a:p>
                      <a:pPr algn="ctr"/>
                      <a:r>
                        <a:rPr lang="en-US" sz="1400" dirty="0"/>
                        <a:t>R-H</a:t>
                      </a:r>
                      <a:endParaRPr lang="en-AU" sz="1400" dirty="0"/>
                    </a:p>
                  </a:txBody>
                  <a:tcPr/>
                </a:tc>
                <a:tc>
                  <a:txBody>
                    <a:bodyPr/>
                    <a:lstStyle/>
                    <a:p>
                      <a:pPr algn="ctr"/>
                      <a:r>
                        <a:rPr lang="en-US" sz="1400" dirty="0"/>
                        <a:t>Reported evidence, high confidence</a:t>
                      </a:r>
                      <a:endParaRPr lang="en-AU" sz="1400" dirty="0"/>
                    </a:p>
                  </a:txBody>
                  <a:tcPr/>
                </a:tc>
                <a:tc>
                  <a:txBody>
                    <a:bodyPr/>
                    <a:lstStyle/>
                    <a:p>
                      <a:pPr algn="ctr"/>
                      <a:r>
                        <a:rPr lang="en-US" sz="1400" dirty="0"/>
                        <a:t>Green</a:t>
                      </a:r>
                      <a:endParaRPr lang="en-AU" sz="1400" dirty="0"/>
                    </a:p>
                  </a:txBody>
                  <a:tcPr/>
                </a:tc>
                <a:extLst>
                  <a:ext uri="{0D108BD9-81ED-4DB2-BD59-A6C34878D82A}">
                    <a16:rowId xmlns:a16="http://schemas.microsoft.com/office/drawing/2014/main" val="989506959"/>
                  </a:ext>
                </a:extLst>
              </a:tr>
              <a:tr h="460632">
                <a:tc>
                  <a:txBody>
                    <a:bodyPr/>
                    <a:lstStyle/>
                    <a:p>
                      <a:pPr algn="ctr"/>
                      <a:r>
                        <a:rPr lang="en-US" sz="1400" dirty="0"/>
                        <a:t>I-M</a:t>
                      </a:r>
                      <a:endParaRPr lang="en-AU" sz="1400" dirty="0"/>
                    </a:p>
                  </a:txBody>
                  <a:tcPr/>
                </a:tc>
                <a:tc>
                  <a:txBody>
                    <a:bodyPr/>
                    <a:lstStyle/>
                    <a:p>
                      <a:pPr algn="ctr"/>
                      <a:r>
                        <a:rPr lang="en-US" sz="1400" dirty="0"/>
                        <a:t>Evidence based inference, medium confidence</a:t>
                      </a:r>
                      <a:endParaRPr lang="en-AU" sz="1400" dirty="0"/>
                    </a:p>
                  </a:txBody>
                  <a:tcPr/>
                </a:tc>
                <a:tc>
                  <a:txBody>
                    <a:bodyPr/>
                    <a:lstStyle/>
                    <a:p>
                      <a:pPr algn="ctr"/>
                      <a:r>
                        <a:rPr lang="en-US" sz="1400" dirty="0"/>
                        <a:t>Amber</a:t>
                      </a:r>
                      <a:endParaRPr lang="en-AU" sz="1400" dirty="0"/>
                    </a:p>
                  </a:txBody>
                  <a:tcPr/>
                </a:tc>
                <a:extLst>
                  <a:ext uri="{0D108BD9-81ED-4DB2-BD59-A6C34878D82A}">
                    <a16:rowId xmlns:a16="http://schemas.microsoft.com/office/drawing/2014/main" val="2758682166"/>
                  </a:ext>
                </a:extLst>
              </a:tr>
              <a:tr h="186812">
                <a:tc>
                  <a:txBody>
                    <a:bodyPr/>
                    <a:lstStyle/>
                    <a:p>
                      <a:pPr algn="ctr"/>
                      <a:r>
                        <a:rPr lang="en-US" sz="1400" dirty="0"/>
                        <a:t>U</a:t>
                      </a:r>
                      <a:endParaRPr lang="en-AU" sz="1400" dirty="0"/>
                    </a:p>
                  </a:txBody>
                  <a:tcPr/>
                </a:tc>
                <a:tc>
                  <a:txBody>
                    <a:bodyPr/>
                    <a:lstStyle/>
                    <a:p>
                      <a:pPr algn="ctr"/>
                      <a:r>
                        <a:rPr lang="en-US" sz="1400" dirty="0"/>
                        <a:t>Unknown or redacted</a:t>
                      </a:r>
                      <a:endParaRPr lang="en-AU" sz="1400" dirty="0"/>
                    </a:p>
                  </a:txBody>
                  <a:tcPr/>
                </a:tc>
                <a:tc>
                  <a:txBody>
                    <a:bodyPr/>
                    <a:lstStyle/>
                    <a:p>
                      <a:pPr algn="ctr"/>
                      <a:r>
                        <a:rPr lang="en-US" sz="1400" dirty="0"/>
                        <a:t>Red</a:t>
                      </a:r>
                      <a:endParaRPr lang="en-AU" sz="1400" dirty="0"/>
                    </a:p>
                  </a:txBody>
                  <a:tcPr/>
                </a:tc>
                <a:extLst>
                  <a:ext uri="{0D108BD9-81ED-4DB2-BD59-A6C34878D82A}">
                    <a16:rowId xmlns:a16="http://schemas.microsoft.com/office/drawing/2014/main" val="3568036946"/>
                  </a:ext>
                </a:extLst>
              </a:tr>
            </a:tbl>
          </a:graphicData>
        </a:graphic>
      </p:graphicFrame>
      <p:sp>
        <p:nvSpPr>
          <p:cNvPr id="6" name="TextBox 5">
            <a:extLst>
              <a:ext uri="{FF2B5EF4-FFF2-40B4-BE49-F238E27FC236}">
                <a16:creationId xmlns:a16="http://schemas.microsoft.com/office/drawing/2014/main" id="{0E464906-8320-DCCA-779C-8ED3285A94D8}"/>
              </a:ext>
            </a:extLst>
          </p:cNvPr>
          <p:cNvSpPr txBox="1"/>
          <p:nvPr/>
        </p:nvSpPr>
        <p:spPr>
          <a:xfrm>
            <a:off x="4777400" y="4024517"/>
            <a:ext cx="2637197" cy="369332"/>
          </a:xfrm>
          <a:prstGeom prst="rect">
            <a:avLst/>
          </a:prstGeom>
          <a:noFill/>
        </p:spPr>
        <p:txBody>
          <a:bodyPr wrap="none" rtlCol="0">
            <a:spAutoFit/>
          </a:bodyPr>
          <a:lstStyle/>
          <a:p>
            <a:r>
              <a:rPr lang="en-US" b="1" dirty="0"/>
              <a:t>Evidence Status Legend</a:t>
            </a:r>
            <a:endParaRPr lang="en-AU" b="1" dirty="0"/>
          </a:p>
        </p:txBody>
      </p:sp>
      <p:sp>
        <p:nvSpPr>
          <p:cNvPr id="8" name="TextBox 7">
            <a:extLst>
              <a:ext uri="{FF2B5EF4-FFF2-40B4-BE49-F238E27FC236}">
                <a16:creationId xmlns:a16="http://schemas.microsoft.com/office/drawing/2014/main" id="{CD771D9F-CA9B-61EA-077A-B19BD7510581}"/>
              </a:ext>
            </a:extLst>
          </p:cNvPr>
          <p:cNvSpPr txBox="1"/>
          <p:nvPr/>
        </p:nvSpPr>
        <p:spPr>
          <a:xfrm>
            <a:off x="187680" y="6444342"/>
            <a:ext cx="11816633" cy="307777"/>
          </a:xfrm>
          <a:prstGeom prst="rect">
            <a:avLst/>
          </a:prstGeom>
          <a:noFill/>
        </p:spPr>
        <p:txBody>
          <a:bodyPr wrap="none" rtlCol="0">
            <a:spAutoFit/>
          </a:bodyPr>
          <a:lstStyle/>
          <a:p>
            <a:pPr algn="ctr"/>
            <a:r>
              <a:rPr lang="en-US" sz="1400" dirty="0">
                <a:highlight>
                  <a:srgbClr val="FF0000"/>
                </a:highlight>
              </a:rPr>
              <a:t>Only attacker actions appear inside the tree. Control weaknesses appear as side annotations, and undisclosed mechanisms remain marked as unknown</a:t>
            </a:r>
            <a:endParaRPr lang="en-AU" sz="1400" dirty="0">
              <a:highlight>
                <a:srgbClr val="FF0000"/>
              </a:highlight>
            </a:endParaRPr>
          </a:p>
        </p:txBody>
      </p:sp>
    </p:spTree>
    <p:extLst>
      <p:ext uri="{BB962C8B-B14F-4D97-AF65-F5344CB8AC3E}">
        <p14:creationId xmlns:p14="http://schemas.microsoft.com/office/powerpoint/2010/main" val="2656610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27790-7AA9-DA24-C048-5F0C24A30712}"/>
              </a:ext>
            </a:extLst>
          </p:cNvPr>
          <p:cNvSpPr>
            <a:spLocks noGrp="1"/>
          </p:cNvSpPr>
          <p:nvPr>
            <p:ph type="title"/>
          </p:nvPr>
        </p:nvSpPr>
        <p:spPr>
          <a:xfrm>
            <a:off x="302330" y="159657"/>
            <a:ext cx="11604046" cy="575602"/>
          </a:xfrm>
        </p:spPr>
        <p:txBody>
          <a:bodyPr/>
          <a:lstStyle/>
          <a:p>
            <a:pPr algn="ctr"/>
            <a:r>
              <a:rPr lang="en-US" b="1" dirty="0"/>
              <a:t>HSE Conti Ransomware Incident, 2021</a:t>
            </a:r>
            <a:endParaRPr lang="en-AU" b="1" dirty="0"/>
          </a:p>
        </p:txBody>
      </p:sp>
      <p:graphicFrame>
        <p:nvGraphicFramePr>
          <p:cNvPr id="4" name="Content Placeholder 3">
            <a:extLst>
              <a:ext uri="{FF2B5EF4-FFF2-40B4-BE49-F238E27FC236}">
                <a16:creationId xmlns:a16="http://schemas.microsoft.com/office/drawing/2014/main" id="{4F661679-66EF-0174-6041-5E486885B4EA}"/>
              </a:ext>
            </a:extLst>
          </p:cNvPr>
          <p:cNvGraphicFramePr>
            <a:graphicFrameLocks noGrp="1"/>
          </p:cNvGraphicFramePr>
          <p:nvPr>
            <p:ph idx="1"/>
            <p:extLst>
              <p:ext uri="{D42A27DB-BD31-4B8C-83A1-F6EECF244321}">
                <p14:modId xmlns:p14="http://schemas.microsoft.com/office/powerpoint/2010/main" val="2685907382"/>
              </p:ext>
            </p:extLst>
          </p:nvPr>
        </p:nvGraphicFramePr>
        <p:xfrm>
          <a:off x="766924" y="898700"/>
          <a:ext cx="10658147" cy="3418840"/>
        </p:xfrm>
        <a:graphic>
          <a:graphicData uri="http://schemas.openxmlformats.org/drawingml/2006/table">
            <a:tbl>
              <a:tblPr firstRow="1" bandRow="1">
                <a:tableStyleId>{5C22544A-7EE6-4342-B048-85BDC9FD1C3A}</a:tableStyleId>
              </a:tblPr>
              <a:tblGrid>
                <a:gridCol w="2322285">
                  <a:extLst>
                    <a:ext uri="{9D8B030D-6E8A-4147-A177-3AD203B41FA5}">
                      <a16:colId xmlns:a16="http://schemas.microsoft.com/office/drawing/2014/main" val="745655754"/>
                    </a:ext>
                  </a:extLst>
                </a:gridCol>
                <a:gridCol w="7532915">
                  <a:extLst>
                    <a:ext uri="{9D8B030D-6E8A-4147-A177-3AD203B41FA5}">
                      <a16:colId xmlns:a16="http://schemas.microsoft.com/office/drawing/2014/main" val="908666747"/>
                    </a:ext>
                  </a:extLst>
                </a:gridCol>
                <a:gridCol w="802947">
                  <a:extLst>
                    <a:ext uri="{9D8B030D-6E8A-4147-A177-3AD203B41FA5}">
                      <a16:colId xmlns:a16="http://schemas.microsoft.com/office/drawing/2014/main" val="3095595088"/>
                    </a:ext>
                  </a:extLst>
                </a:gridCol>
              </a:tblGrid>
              <a:tr h="370840">
                <a:tc>
                  <a:txBody>
                    <a:bodyPr/>
                    <a:lstStyle/>
                    <a:p>
                      <a:r>
                        <a:rPr lang="en-US" sz="1600" dirty="0"/>
                        <a:t>Attack Stage</a:t>
                      </a:r>
                      <a:endParaRPr lang="en-AU" sz="1600" dirty="0"/>
                    </a:p>
                  </a:txBody>
                  <a:tcPr/>
                </a:tc>
                <a:tc>
                  <a:txBody>
                    <a:bodyPr/>
                    <a:lstStyle/>
                    <a:p>
                      <a:r>
                        <a:rPr lang="en-US" sz="1600" dirty="0"/>
                        <a:t>Publicly reported evidence</a:t>
                      </a:r>
                      <a:endParaRPr lang="en-AU" sz="1600" dirty="0"/>
                    </a:p>
                  </a:txBody>
                  <a:tcPr/>
                </a:tc>
                <a:tc>
                  <a:txBody>
                    <a:bodyPr/>
                    <a:lstStyle/>
                    <a:p>
                      <a:r>
                        <a:rPr lang="en-US" sz="1600" dirty="0"/>
                        <a:t>Status</a:t>
                      </a:r>
                      <a:endParaRPr lang="en-AU" sz="1600" dirty="0"/>
                    </a:p>
                  </a:txBody>
                  <a:tcPr/>
                </a:tc>
                <a:extLst>
                  <a:ext uri="{0D108BD9-81ED-4DB2-BD59-A6C34878D82A}">
                    <a16:rowId xmlns:a16="http://schemas.microsoft.com/office/drawing/2014/main" val="2545520354"/>
                  </a:ext>
                </a:extLst>
              </a:tr>
              <a:tr h="370840">
                <a:tc>
                  <a:txBody>
                    <a:bodyPr/>
                    <a:lstStyle/>
                    <a:p>
                      <a:r>
                        <a:rPr lang="en-US" sz="1600" dirty="0"/>
                        <a:t>Initial access</a:t>
                      </a:r>
                      <a:br>
                        <a:rPr lang="en-US" sz="1600" dirty="0"/>
                      </a:br>
                      <a:r>
                        <a:rPr lang="en-AU" sz="1600" i="1" dirty="0"/>
                        <a:t>PwC (2021, pp. 29, 45) </a:t>
                      </a:r>
                      <a:endParaRPr lang="en-AU" sz="1600" dirty="0"/>
                    </a:p>
                  </a:txBody>
                  <a:tcPr/>
                </a:tc>
                <a:tc>
                  <a:txBody>
                    <a:bodyPr/>
                    <a:lstStyle/>
                    <a:p>
                      <a:r>
                        <a:rPr lang="en-US" sz="1600" dirty="0"/>
                        <a:t>Attackers sent a phishing email containing a malicious excel attachment and established a foothold on the patient-zero workstation</a:t>
                      </a:r>
                      <a:endParaRPr lang="en-AU" sz="1600" i="1" dirty="0"/>
                    </a:p>
                  </a:txBody>
                  <a:tcPr/>
                </a:tc>
                <a:tc>
                  <a:txBody>
                    <a:bodyPr/>
                    <a:lstStyle/>
                    <a:p>
                      <a:r>
                        <a:rPr lang="en-US" sz="1600" dirty="0">
                          <a:highlight>
                            <a:srgbClr val="008000"/>
                          </a:highlight>
                        </a:rPr>
                        <a:t>R-H</a:t>
                      </a:r>
                      <a:endParaRPr lang="en-AU" sz="1600" dirty="0">
                        <a:highlight>
                          <a:srgbClr val="008000"/>
                        </a:highlight>
                      </a:endParaRPr>
                    </a:p>
                  </a:txBody>
                  <a:tcPr/>
                </a:tc>
                <a:extLst>
                  <a:ext uri="{0D108BD9-81ED-4DB2-BD59-A6C34878D82A}">
                    <a16:rowId xmlns:a16="http://schemas.microsoft.com/office/drawing/2014/main" val="1480614488"/>
                  </a:ext>
                </a:extLst>
              </a:tr>
              <a:tr h="370840">
                <a:tc>
                  <a:txBody>
                    <a:bodyPr/>
                    <a:lstStyle/>
                    <a:p>
                      <a:r>
                        <a:rPr lang="en-US" sz="1600" dirty="0"/>
                        <a:t>Enterprise expansion</a:t>
                      </a:r>
                      <a:br>
                        <a:rPr lang="en-US" sz="1600" dirty="0"/>
                      </a:br>
                      <a:r>
                        <a:rPr lang="en-AU" sz="1600" i="1" dirty="0"/>
                        <a:t>PwC (2021, pp. 29, 45, 54) </a:t>
                      </a:r>
                      <a:endParaRPr lang="en-AU" sz="1600" dirty="0"/>
                    </a:p>
                  </a:txBody>
                  <a:tcPr/>
                </a:tc>
                <a:tc>
                  <a:txBody>
                    <a:bodyPr/>
                    <a:lstStyle/>
                    <a:p>
                      <a:r>
                        <a:rPr lang="en-US" sz="1600" dirty="0"/>
                        <a:t>Attacker conducted Active Directory reconnaissance, compromise at least 33 privileged accounts and moved through connected HSE and hospital environments</a:t>
                      </a:r>
                      <a:endParaRPr lang="en-AU" sz="1600" dirty="0"/>
                    </a:p>
                  </a:txBody>
                  <a:tcPr/>
                </a:tc>
                <a:tc>
                  <a:txBody>
                    <a:bodyPr/>
                    <a:lstStyle/>
                    <a:p>
                      <a:r>
                        <a:rPr lang="en-US" sz="1600" dirty="0">
                          <a:highlight>
                            <a:srgbClr val="008000"/>
                          </a:highlight>
                        </a:rPr>
                        <a:t>R-H</a:t>
                      </a:r>
                      <a:endParaRPr lang="en-AU" sz="1600" dirty="0">
                        <a:highlight>
                          <a:srgbClr val="008000"/>
                        </a:highlight>
                      </a:endParaRPr>
                    </a:p>
                  </a:txBody>
                  <a:tcPr/>
                </a:tc>
                <a:extLst>
                  <a:ext uri="{0D108BD9-81ED-4DB2-BD59-A6C34878D82A}">
                    <a16:rowId xmlns:a16="http://schemas.microsoft.com/office/drawing/2014/main" val="2674151995"/>
                  </a:ext>
                </a:extLst>
              </a:tr>
              <a:tr h="370840">
                <a:tc>
                  <a:txBody>
                    <a:bodyPr/>
                    <a:lstStyle/>
                    <a:p>
                      <a:r>
                        <a:rPr lang="en-US" sz="1600" dirty="0"/>
                        <a:t>Coercive impact</a:t>
                      </a:r>
                    </a:p>
                    <a:p>
                      <a:r>
                        <a:rPr lang="en-AU" sz="1600" i="1" dirty="0"/>
                        <a:t>PwC (2021, pp. 29, 45, 55) </a:t>
                      </a:r>
                      <a:endParaRPr lang="en-AU" sz="1600" dirty="0"/>
                    </a:p>
                  </a:txBody>
                  <a:tcPr/>
                </a:tc>
                <a:tc>
                  <a:txBody>
                    <a:bodyPr/>
                    <a:lstStyle/>
                    <a:p>
                      <a:r>
                        <a:rPr lang="en-US" sz="1600" dirty="0"/>
                        <a:t>Attackers deployed Conti across the HSE and six hospitals. Encryption affected more than 2800 servers and 3500 workstations</a:t>
                      </a:r>
                      <a:endParaRPr lang="en-AU" sz="1600" dirty="0"/>
                    </a:p>
                  </a:txBody>
                  <a:tcPr/>
                </a:tc>
                <a:tc>
                  <a:txBody>
                    <a:bodyPr/>
                    <a:lstStyle/>
                    <a:p>
                      <a:r>
                        <a:rPr lang="en-US" sz="1600" dirty="0">
                          <a:highlight>
                            <a:srgbClr val="008000"/>
                          </a:highlight>
                        </a:rPr>
                        <a:t>R-H</a:t>
                      </a:r>
                      <a:endParaRPr lang="en-AU" sz="1600" dirty="0">
                        <a:highlight>
                          <a:srgbClr val="008000"/>
                        </a:highlight>
                      </a:endParaRPr>
                    </a:p>
                  </a:txBody>
                  <a:tcPr/>
                </a:tc>
                <a:extLst>
                  <a:ext uri="{0D108BD9-81ED-4DB2-BD59-A6C34878D82A}">
                    <a16:rowId xmlns:a16="http://schemas.microsoft.com/office/drawing/2014/main" val="2494761131"/>
                  </a:ext>
                </a:extLst>
              </a:tr>
              <a:tr h="370840">
                <a:tc>
                  <a:txBody>
                    <a:bodyPr/>
                    <a:lstStyle/>
                    <a:p>
                      <a:r>
                        <a:rPr lang="en-US" sz="1600" dirty="0"/>
                        <a:t>Data and extortion</a:t>
                      </a:r>
                    </a:p>
                    <a:p>
                      <a:r>
                        <a:rPr lang="en-AU" sz="1600" i="1" dirty="0"/>
                        <a:t>PwC (2021, pp. 1, 54–55)</a:t>
                      </a:r>
                      <a:endParaRPr lang="en-AU" sz="1600" dirty="0"/>
                    </a:p>
                  </a:txBody>
                  <a:tcPr/>
                </a:tc>
                <a:tc>
                  <a:txBody>
                    <a:bodyPr/>
                    <a:lstStyle/>
                    <a:p>
                      <a:r>
                        <a:rPr lang="en-US" sz="1600" dirty="0"/>
                        <a:t>Attackers accessed and copied files, published authentic samples and demanded payment for decryption and non publication</a:t>
                      </a:r>
                      <a:endParaRPr lang="en-AU" sz="1600" dirty="0"/>
                    </a:p>
                  </a:txBody>
                  <a:tcPr/>
                </a:tc>
                <a:tc>
                  <a:txBody>
                    <a:bodyPr/>
                    <a:lstStyle/>
                    <a:p>
                      <a:r>
                        <a:rPr lang="en-US" sz="1600" dirty="0">
                          <a:highlight>
                            <a:srgbClr val="008000"/>
                          </a:highlight>
                        </a:rPr>
                        <a:t>R-H</a:t>
                      </a:r>
                      <a:r>
                        <a:rPr lang="en-US" sz="1600" dirty="0"/>
                        <a:t> / </a:t>
                      </a:r>
                      <a:r>
                        <a:rPr lang="en-US" sz="1600" dirty="0">
                          <a:solidFill>
                            <a:schemeClr val="bg1"/>
                          </a:solidFill>
                          <a:highlight>
                            <a:srgbClr val="808000"/>
                          </a:highlight>
                        </a:rPr>
                        <a:t>I-M</a:t>
                      </a:r>
                      <a:endParaRPr lang="en-AU" sz="1600" dirty="0">
                        <a:solidFill>
                          <a:schemeClr val="bg1"/>
                        </a:solidFill>
                        <a:highlight>
                          <a:srgbClr val="808000"/>
                        </a:highlight>
                      </a:endParaRPr>
                    </a:p>
                  </a:txBody>
                  <a:tcPr/>
                </a:tc>
                <a:extLst>
                  <a:ext uri="{0D108BD9-81ED-4DB2-BD59-A6C34878D82A}">
                    <a16:rowId xmlns:a16="http://schemas.microsoft.com/office/drawing/2014/main" val="2391377255"/>
                  </a:ext>
                </a:extLst>
              </a:tr>
            </a:tbl>
          </a:graphicData>
        </a:graphic>
      </p:graphicFrame>
      <p:sp>
        <p:nvSpPr>
          <p:cNvPr id="6" name="TextBox 5">
            <a:extLst>
              <a:ext uri="{FF2B5EF4-FFF2-40B4-BE49-F238E27FC236}">
                <a16:creationId xmlns:a16="http://schemas.microsoft.com/office/drawing/2014/main" id="{C9519213-BEBE-14EF-8D2D-9C12C0E13D0E}"/>
              </a:ext>
            </a:extLst>
          </p:cNvPr>
          <p:cNvSpPr txBox="1"/>
          <p:nvPr/>
        </p:nvSpPr>
        <p:spPr>
          <a:xfrm>
            <a:off x="302330" y="4409983"/>
            <a:ext cx="11252696" cy="276999"/>
          </a:xfrm>
          <a:prstGeom prst="rect">
            <a:avLst/>
          </a:prstGeom>
          <a:noFill/>
        </p:spPr>
        <p:txBody>
          <a:bodyPr wrap="none" rtlCol="0">
            <a:spAutoFit/>
          </a:bodyPr>
          <a:lstStyle/>
          <a:p>
            <a:pPr algn="ctr"/>
            <a:r>
              <a:rPr lang="en-US" sz="1200" b="1" dirty="0"/>
              <a:t>Critical assets: </a:t>
            </a:r>
            <a:r>
              <a:rPr lang="en-US" sz="1200" dirty="0"/>
              <a:t>clinical and administrative systems, patient and organizational data, Active Directory, privileged accounts servers, workstations and backup infrastructure.</a:t>
            </a:r>
            <a:endParaRPr lang="en-AU" sz="1200" dirty="0"/>
          </a:p>
        </p:txBody>
      </p:sp>
      <p:sp>
        <p:nvSpPr>
          <p:cNvPr id="9" name="TextBox 8">
            <a:extLst>
              <a:ext uri="{FF2B5EF4-FFF2-40B4-BE49-F238E27FC236}">
                <a16:creationId xmlns:a16="http://schemas.microsoft.com/office/drawing/2014/main" id="{DCA2C480-5000-016C-4FA0-810116C255EF}"/>
              </a:ext>
            </a:extLst>
          </p:cNvPr>
          <p:cNvSpPr txBox="1"/>
          <p:nvPr/>
        </p:nvSpPr>
        <p:spPr>
          <a:xfrm>
            <a:off x="880711" y="4686982"/>
            <a:ext cx="10430577" cy="276999"/>
          </a:xfrm>
          <a:prstGeom prst="rect">
            <a:avLst/>
          </a:prstGeom>
          <a:noFill/>
        </p:spPr>
        <p:txBody>
          <a:bodyPr wrap="square">
            <a:spAutoFit/>
          </a:bodyPr>
          <a:lstStyle/>
          <a:p>
            <a:pPr algn="ctr"/>
            <a:r>
              <a:rPr lang="en-US" sz="1200" b="1" dirty="0"/>
              <a:t>Business impact: </a:t>
            </a:r>
            <a:r>
              <a:rPr lang="en-US" sz="1200" dirty="0"/>
              <a:t>widespread healthcare-service disruption, loss of system availability, recovery costs and potential privacy harm.</a:t>
            </a:r>
            <a:endParaRPr lang="en-AU" dirty="0"/>
          </a:p>
        </p:txBody>
      </p:sp>
      <p:sp>
        <p:nvSpPr>
          <p:cNvPr id="10" name="TextBox 9">
            <a:extLst>
              <a:ext uri="{FF2B5EF4-FFF2-40B4-BE49-F238E27FC236}">
                <a16:creationId xmlns:a16="http://schemas.microsoft.com/office/drawing/2014/main" id="{299CFC52-F767-B9ED-C230-7015B04BB364}"/>
              </a:ext>
            </a:extLst>
          </p:cNvPr>
          <p:cNvSpPr txBox="1"/>
          <p:nvPr/>
        </p:nvSpPr>
        <p:spPr>
          <a:xfrm>
            <a:off x="2234371" y="5221015"/>
            <a:ext cx="7723255" cy="1477328"/>
          </a:xfrm>
          <a:prstGeom prst="rect">
            <a:avLst/>
          </a:prstGeom>
          <a:noFill/>
        </p:spPr>
        <p:txBody>
          <a:bodyPr wrap="square" rtlCol="0">
            <a:spAutoFit/>
          </a:bodyPr>
          <a:lstStyle/>
          <a:p>
            <a:pPr algn="ctr"/>
            <a:r>
              <a:rPr lang="en-US" b="1" dirty="0"/>
              <a:t>EVIDENCE GAPS:</a:t>
            </a:r>
            <a:br>
              <a:rPr lang="en-US" dirty="0"/>
            </a:br>
            <a:r>
              <a:rPr lang="en-US" dirty="0"/>
              <a:t>U: Exact persistence mechanism was not disclosed</a:t>
            </a:r>
            <a:br>
              <a:rPr lang="en-US" dirty="0"/>
            </a:br>
            <a:r>
              <a:rPr lang="en-US" dirty="0"/>
              <a:t>U: The vulnerability exploited at Hospitals A and B was redacted</a:t>
            </a:r>
            <a:br>
              <a:rPr lang="en-US" dirty="0"/>
            </a:br>
            <a:r>
              <a:rPr lang="en-US" dirty="0"/>
              <a:t>I-M/U: Investigators could not conclusively establish the complete data-exfiltration route or volume</a:t>
            </a:r>
            <a:endParaRPr lang="en-AU" dirty="0"/>
          </a:p>
        </p:txBody>
      </p:sp>
      <p:sp>
        <p:nvSpPr>
          <p:cNvPr id="11" name="TextBox 10">
            <a:extLst>
              <a:ext uri="{FF2B5EF4-FFF2-40B4-BE49-F238E27FC236}">
                <a16:creationId xmlns:a16="http://schemas.microsoft.com/office/drawing/2014/main" id="{5331C378-D8CC-E2DE-8FF9-FE9F78AE8D94}"/>
              </a:ext>
            </a:extLst>
          </p:cNvPr>
          <p:cNvSpPr txBox="1"/>
          <p:nvPr/>
        </p:nvSpPr>
        <p:spPr>
          <a:xfrm>
            <a:off x="0" y="6559843"/>
            <a:ext cx="3338286" cy="276999"/>
          </a:xfrm>
          <a:prstGeom prst="rect">
            <a:avLst/>
          </a:prstGeom>
          <a:noFill/>
        </p:spPr>
        <p:txBody>
          <a:bodyPr wrap="square" rtlCol="0">
            <a:spAutoFit/>
          </a:bodyPr>
          <a:lstStyle/>
          <a:p>
            <a:r>
              <a:rPr lang="en-AU" sz="1200" i="1" dirty="0"/>
              <a:t>Source: PwC (2021, pp. 1, 29, 45, 54–55).</a:t>
            </a:r>
          </a:p>
        </p:txBody>
      </p:sp>
    </p:spTree>
    <p:extLst>
      <p:ext uri="{BB962C8B-B14F-4D97-AF65-F5344CB8AC3E}">
        <p14:creationId xmlns:p14="http://schemas.microsoft.com/office/powerpoint/2010/main" val="136748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E72C2-8D98-FFD3-3ECF-07D1DB8E9C67}"/>
              </a:ext>
            </a:extLst>
          </p:cNvPr>
          <p:cNvSpPr>
            <a:spLocks noGrp="1"/>
          </p:cNvSpPr>
          <p:nvPr>
            <p:ph type="title"/>
          </p:nvPr>
        </p:nvSpPr>
        <p:spPr>
          <a:xfrm>
            <a:off x="301752" y="179414"/>
            <a:ext cx="11604046" cy="590117"/>
          </a:xfrm>
        </p:spPr>
        <p:txBody>
          <a:bodyPr/>
          <a:lstStyle/>
          <a:p>
            <a:pPr algn="ctr"/>
            <a:r>
              <a:rPr lang="en-US" b="1" dirty="0"/>
              <a:t>HSE Manual and LLM Attack Trees</a:t>
            </a:r>
            <a:endParaRPr lang="en-AU" b="1" dirty="0"/>
          </a:p>
        </p:txBody>
      </p:sp>
      <p:pic>
        <p:nvPicPr>
          <p:cNvPr id="7" name="Picture 6">
            <a:extLst>
              <a:ext uri="{FF2B5EF4-FFF2-40B4-BE49-F238E27FC236}">
                <a16:creationId xmlns:a16="http://schemas.microsoft.com/office/drawing/2014/main" id="{16267D34-809D-B8D3-8451-AE4E9DE01299}"/>
              </a:ext>
            </a:extLst>
          </p:cNvPr>
          <p:cNvPicPr>
            <a:picLocks noChangeAspect="1"/>
          </p:cNvPicPr>
          <p:nvPr/>
        </p:nvPicPr>
        <p:blipFill>
          <a:blip r:embed="rId3"/>
          <a:stretch>
            <a:fillRect/>
          </a:stretch>
        </p:blipFill>
        <p:spPr>
          <a:xfrm>
            <a:off x="270653" y="2321667"/>
            <a:ext cx="5809798" cy="2234926"/>
          </a:xfrm>
          <a:prstGeom prst="rect">
            <a:avLst/>
          </a:prstGeom>
        </p:spPr>
      </p:pic>
      <p:sp>
        <p:nvSpPr>
          <p:cNvPr id="10" name="TextBox 9">
            <a:extLst>
              <a:ext uri="{FF2B5EF4-FFF2-40B4-BE49-F238E27FC236}">
                <a16:creationId xmlns:a16="http://schemas.microsoft.com/office/drawing/2014/main" id="{42D46B84-1D18-E1D7-5026-C13C40080905}"/>
              </a:ext>
            </a:extLst>
          </p:cNvPr>
          <p:cNvSpPr txBox="1"/>
          <p:nvPr/>
        </p:nvSpPr>
        <p:spPr>
          <a:xfrm>
            <a:off x="3606759" y="6032255"/>
            <a:ext cx="4978479" cy="646331"/>
          </a:xfrm>
          <a:prstGeom prst="rect">
            <a:avLst/>
          </a:prstGeom>
          <a:noFill/>
        </p:spPr>
        <p:txBody>
          <a:bodyPr wrap="none" rtlCol="0">
            <a:spAutoFit/>
          </a:bodyPr>
          <a:lstStyle/>
          <a:p>
            <a:pPr algn="ctr"/>
            <a:r>
              <a:rPr lang="en-AU" i="1" dirty="0"/>
              <a:t>Full models are provided in Appendices A and B.</a:t>
            </a:r>
          </a:p>
          <a:p>
            <a:endParaRPr lang="en-AU" dirty="0"/>
          </a:p>
        </p:txBody>
      </p:sp>
      <p:pic>
        <p:nvPicPr>
          <p:cNvPr id="12" name="Picture 11">
            <a:extLst>
              <a:ext uri="{FF2B5EF4-FFF2-40B4-BE49-F238E27FC236}">
                <a16:creationId xmlns:a16="http://schemas.microsoft.com/office/drawing/2014/main" id="{0CABF3D1-B0F1-DC4F-AC71-E7085E1D5B21}"/>
              </a:ext>
            </a:extLst>
          </p:cNvPr>
          <p:cNvPicPr>
            <a:picLocks noChangeAspect="1"/>
          </p:cNvPicPr>
          <p:nvPr/>
        </p:nvPicPr>
        <p:blipFill>
          <a:blip r:embed="rId4"/>
          <a:stretch>
            <a:fillRect/>
          </a:stretch>
        </p:blipFill>
        <p:spPr>
          <a:xfrm>
            <a:off x="6080451" y="2321667"/>
            <a:ext cx="5794247" cy="2234926"/>
          </a:xfrm>
          <a:prstGeom prst="rect">
            <a:avLst/>
          </a:prstGeom>
        </p:spPr>
      </p:pic>
      <p:sp>
        <p:nvSpPr>
          <p:cNvPr id="13" name="TextBox 12">
            <a:extLst>
              <a:ext uri="{FF2B5EF4-FFF2-40B4-BE49-F238E27FC236}">
                <a16:creationId xmlns:a16="http://schemas.microsoft.com/office/drawing/2014/main" id="{EF20FB1A-030F-EA6B-5614-18C239668F5F}"/>
              </a:ext>
            </a:extLst>
          </p:cNvPr>
          <p:cNvSpPr txBox="1"/>
          <p:nvPr/>
        </p:nvSpPr>
        <p:spPr>
          <a:xfrm>
            <a:off x="1725158" y="4946525"/>
            <a:ext cx="2931886" cy="369332"/>
          </a:xfrm>
          <a:prstGeom prst="rect">
            <a:avLst/>
          </a:prstGeom>
          <a:noFill/>
        </p:spPr>
        <p:txBody>
          <a:bodyPr wrap="square" rtlCol="0">
            <a:spAutoFit/>
          </a:bodyPr>
          <a:lstStyle/>
          <a:p>
            <a:pPr algn="ctr"/>
            <a:r>
              <a:rPr lang="en-US" dirty="0"/>
              <a:t>Manual attack tree</a:t>
            </a:r>
            <a:endParaRPr lang="en-AU" dirty="0"/>
          </a:p>
        </p:txBody>
      </p:sp>
      <p:sp>
        <p:nvSpPr>
          <p:cNvPr id="15" name="TextBox 14">
            <a:extLst>
              <a:ext uri="{FF2B5EF4-FFF2-40B4-BE49-F238E27FC236}">
                <a16:creationId xmlns:a16="http://schemas.microsoft.com/office/drawing/2014/main" id="{B086CAA7-158C-4CE5-6FDE-8269E12F4A6C}"/>
              </a:ext>
            </a:extLst>
          </p:cNvPr>
          <p:cNvSpPr txBox="1"/>
          <p:nvPr/>
        </p:nvSpPr>
        <p:spPr>
          <a:xfrm>
            <a:off x="7358747" y="4925092"/>
            <a:ext cx="3108095" cy="369332"/>
          </a:xfrm>
          <a:prstGeom prst="rect">
            <a:avLst/>
          </a:prstGeom>
          <a:noFill/>
        </p:spPr>
        <p:txBody>
          <a:bodyPr wrap="none" rtlCol="0">
            <a:spAutoFit/>
          </a:bodyPr>
          <a:lstStyle/>
          <a:p>
            <a:pPr algn="ctr"/>
            <a:r>
              <a:rPr lang="en-US" dirty="0"/>
              <a:t>Original ChatGPT attack tree</a:t>
            </a:r>
            <a:endParaRPr lang="en-AU" dirty="0"/>
          </a:p>
        </p:txBody>
      </p:sp>
    </p:spTree>
    <p:extLst>
      <p:ext uri="{BB962C8B-B14F-4D97-AF65-F5344CB8AC3E}">
        <p14:creationId xmlns:p14="http://schemas.microsoft.com/office/powerpoint/2010/main" val="2774720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AFFD5-0DD7-ED9D-965F-1D2181D7D192}"/>
              </a:ext>
            </a:extLst>
          </p:cNvPr>
          <p:cNvSpPr>
            <a:spLocks noGrp="1"/>
          </p:cNvSpPr>
          <p:nvPr>
            <p:ph type="title"/>
          </p:nvPr>
        </p:nvSpPr>
        <p:spPr>
          <a:xfrm>
            <a:off x="293977" y="-202728"/>
            <a:ext cx="11604046" cy="969206"/>
          </a:xfrm>
        </p:spPr>
        <p:txBody>
          <a:bodyPr/>
          <a:lstStyle/>
          <a:p>
            <a:pPr algn="ctr"/>
            <a:r>
              <a:rPr lang="en-US" b="1" dirty="0"/>
              <a:t>HSE Manual and LLM Attack Tree Comparison</a:t>
            </a:r>
            <a:endParaRPr lang="en-AU" b="1" dirty="0"/>
          </a:p>
        </p:txBody>
      </p:sp>
      <p:graphicFrame>
        <p:nvGraphicFramePr>
          <p:cNvPr id="6" name="Table 5">
            <a:extLst>
              <a:ext uri="{FF2B5EF4-FFF2-40B4-BE49-F238E27FC236}">
                <a16:creationId xmlns:a16="http://schemas.microsoft.com/office/drawing/2014/main" id="{9B9A1F07-F8AD-1A25-0E02-51F5F29F5970}"/>
              </a:ext>
            </a:extLst>
          </p:cNvPr>
          <p:cNvGraphicFramePr>
            <a:graphicFrameLocks noGrp="1"/>
          </p:cNvGraphicFramePr>
          <p:nvPr>
            <p:extLst>
              <p:ext uri="{D42A27DB-BD31-4B8C-83A1-F6EECF244321}">
                <p14:modId xmlns:p14="http://schemas.microsoft.com/office/powerpoint/2010/main" val="3619228991"/>
              </p:ext>
            </p:extLst>
          </p:nvPr>
        </p:nvGraphicFramePr>
        <p:xfrm>
          <a:off x="293975" y="766478"/>
          <a:ext cx="11604047" cy="4746432"/>
        </p:xfrm>
        <a:graphic>
          <a:graphicData uri="http://schemas.openxmlformats.org/drawingml/2006/table">
            <a:tbl>
              <a:tblPr firstRow="1" bandRow="1">
                <a:tableStyleId>{5C22544A-7EE6-4342-B048-85BDC9FD1C3A}</a:tableStyleId>
              </a:tblPr>
              <a:tblGrid>
                <a:gridCol w="1959184">
                  <a:extLst>
                    <a:ext uri="{9D8B030D-6E8A-4147-A177-3AD203B41FA5}">
                      <a16:colId xmlns:a16="http://schemas.microsoft.com/office/drawing/2014/main" val="2827576593"/>
                    </a:ext>
                  </a:extLst>
                </a:gridCol>
                <a:gridCol w="4581249">
                  <a:extLst>
                    <a:ext uri="{9D8B030D-6E8A-4147-A177-3AD203B41FA5}">
                      <a16:colId xmlns:a16="http://schemas.microsoft.com/office/drawing/2014/main" val="1975852865"/>
                    </a:ext>
                  </a:extLst>
                </a:gridCol>
                <a:gridCol w="5063614">
                  <a:extLst>
                    <a:ext uri="{9D8B030D-6E8A-4147-A177-3AD203B41FA5}">
                      <a16:colId xmlns:a16="http://schemas.microsoft.com/office/drawing/2014/main" val="2092522059"/>
                    </a:ext>
                  </a:extLst>
                </a:gridCol>
              </a:tblGrid>
              <a:tr h="259799">
                <a:tc>
                  <a:txBody>
                    <a:bodyPr/>
                    <a:lstStyle/>
                    <a:p>
                      <a:r>
                        <a:rPr lang="en-US" sz="1600" dirty="0"/>
                        <a:t>Comparison area</a:t>
                      </a:r>
                      <a:endParaRPr lang="en-AU" sz="1600" dirty="0"/>
                    </a:p>
                  </a:txBody>
                  <a:tcPr/>
                </a:tc>
                <a:tc>
                  <a:txBody>
                    <a:bodyPr/>
                    <a:lstStyle/>
                    <a:p>
                      <a:r>
                        <a:rPr lang="en-US" sz="1600" dirty="0"/>
                        <a:t>Manual attack tree</a:t>
                      </a:r>
                      <a:endParaRPr lang="en-AU" sz="1600" dirty="0"/>
                    </a:p>
                  </a:txBody>
                  <a:tcPr/>
                </a:tc>
                <a:tc>
                  <a:txBody>
                    <a:bodyPr/>
                    <a:lstStyle/>
                    <a:p>
                      <a:r>
                        <a:rPr lang="en-US" sz="1600" dirty="0"/>
                        <a:t>ChatGPT Tree</a:t>
                      </a:r>
                      <a:endParaRPr lang="en-AU" sz="1600" dirty="0"/>
                    </a:p>
                  </a:txBody>
                  <a:tcPr/>
                </a:tc>
                <a:extLst>
                  <a:ext uri="{0D108BD9-81ED-4DB2-BD59-A6C34878D82A}">
                    <a16:rowId xmlns:a16="http://schemas.microsoft.com/office/drawing/2014/main" val="2338291626"/>
                  </a:ext>
                </a:extLst>
              </a:tr>
              <a:tr h="1039195">
                <a:tc>
                  <a:txBody>
                    <a:bodyPr/>
                    <a:lstStyle/>
                    <a:p>
                      <a:r>
                        <a:rPr lang="en-US" sz="1600" dirty="0"/>
                        <a:t>Overall structure</a:t>
                      </a:r>
                      <a:endParaRPr lang="en-AU" sz="1600" dirty="0"/>
                    </a:p>
                  </a:txBody>
                  <a:tcPr/>
                </a:tc>
                <a:tc>
                  <a:txBody>
                    <a:bodyPr/>
                    <a:lstStyle/>
                    <a:p>
                      <a:r>
                        <a:rPr lang="en-US" sz="1600" dirty="0"/>
                        <a:t>Separates access, enterprise reach, coercive impact and communication of the demand</a:t>
                      </a:r>
                      <a:endParaRPr lang="en-AU" sz="1600" dirty="0"/>
                    </a:p>
                  </a:txBody>
                  <a:tcPr/>
                </a:tc>
                <a:tc>
                  <a:txBody>
                    <a:bodyPr/>
                    <a:lstStyle/>
                    <a:p>
                      <a:r>
                        <a:rPr lang="en-US" sz="1600" dirty="0"/>
                        <a:t>Captures access, expansion and extortion pressure but places the ransom demand under encryption</a:t>
                      </a:r>
                      <a:endParaRPr lang="en-AU" sz="1600" dirty="0"/>
                    </a:p>
                  </a:txBody>
                  <a:tcPr/>
                </a:tc>
                <a:extLst>
                  <a:ext uri="{0D108BD9-81ED-4DB2-BD59-A6C34878D82A}">
                    <a16:rowId xmlns:a16="http://schemas.microsoft.com/office/drawing/2014/main" val="83673285"/>
                  </a:ext>
                </a:extLst>
              </a:tr>
              <a:tr h="649497">
                <a:tc>
                  <a:txBody>
                    <a:bodyPr/>
                    <a:lstStyle/>
                    <a:p>
                      <a:r>
                        <a:rPr lang="en-US" sz="1600" dirty="0"/>
                        <a:t>Evidence Handling</a:t>
                      </a:r>
                      <a:endParaRPr lang="en-AU" sz="1600" dirty="0"/>
                    </a:p>
                  </a:txBody>
                  <a:tcPr/>
                </a:tc>
                <a:tc>
                  <a:txBody>
                    <a:bodyPr/>
                    <a:lstStyle/>
                    <a:p>
                      <a:r>
                        <a:rPr lang="en-US" sz="1600" dirty="0"/>
                        <a:t>Provides report pages and evidence status beside the leaves</a:t>
                      </a:r>
                      <a:endParaRPr lang="en-AU" sz="1600" dirty="0"/>
                    </a:p>
                  </a:txBody>
                  <a:tcPr/>
                </a:tc>
                <a:tc>
                  <a:txBody>
                    <a:bodyPr/>
                    <a:lstStyle/>
                    <a:p>
                      <a:r>
                        <a:rPr lang="en-US" sz="1600" dirty="0"/>
                        <a:t>Provides a concise pathway but lacks consistent page references and evidence statuses</a:t>
                      </a:r>
                      <a:endParaRPr lang="en-AU" sz="1600" dirty="0"/>
                    </a:p>
                  </a:txBody>
                  <a:tcPr/>
                </a:tc>
                <a:extLst>
                  <a:ext uri="{0D108BD9-81ED-4DB2-BD59-A6C34878D82A}">
                    <a16:rowId xmlns:a16="http://schemas.microsoft.com/office/drawing/2014/main" val="2897442153"/>
                  </a:ext>
                </a:extLst>
              </a:tr>
              <a:tr h="649497">
                <a:tc>
                  <a:txBody>
                    <a:bodyPr/>
                    <a:lstStyle/>
                    <a:p>
                      <a:r>
                        <a:rPr lang="en-US" sz="1600" dirty="0"/>
                        <a:t>Attacker actions</a:t>
                      </a:r>
                      <a:endParaRPr lang="en-AU" sz="1600" dirty="0"/>
                    </a:p>
                  </a:txBody>
                  <a:tcPr/>
                </a:tc>
                <a:tc>
                  <a:txBody>
                    <a:bodyPr/>
                    <a:lstStyle/>
                    <a:p>
                      <a:r>
                        <a:rPr lang="en-US" sz="1600" dirty="0"/>
                        <a:t>Contains only actions performed by the attacker</a:t>
                      </a:r>
                      <a:endParaRPr lang="en-AU" sz="1600" dirty="0"/>
                    </a:p>
                  </a:txBody>
                  <a:tcPr/>
                </a:tc>
                <a:tc>
                  <a:txBody>
                    <a:bodyPr/>
                    <a:lstStyle/>
                    <a:p>
                      <a:r>
                        <a:rPr lang="en-US" sz="1600" dirty="0"/>
                        <a:t>Includes “user opens attachment” which describes a victim action</a:t>
                      </a:r>
                      <a:endParaRPr lang="en-AU" sz="1600" dirty="0"/>
                    </a:p>
                  </a:txBody>
                  <a:tcPr/>
                </a:tc>
                <a:extLst>
                  <a:ext uri="{0D108BD9-81ED-4DB2-BD59-A6C34878D82A}">
                    <a16:rowId xmlns:a16="http://schemas.microsoft.com/office/drawing/2014/main" val="908455571"/>
                  </a:ext>
                </a:extLst>
              </a:tr>
              <a:tr h="844346">
                <a:tc>
                  <a:txBody>
                    <a:bodyPr/>
                    <a:lstStyle/>
                    <a:p>
                      <a:r>
                        <a:rPr lang="en-US" sz="1600" dirty="0"/>
                        <a:t>Uncertainty</a:t>
                      </a:r>
                      <a:endParaRPr lang="en-AU" sz="1600" dirty="0"/>
                    </a:p>
                  </a:txBody>
                  <a:tcPr/>
                </a:tc>
                <a:tc>
                  <a:txBody>
                    <a:bodyPr/>
                    <a:lstStyle/>
                    <a:p>
                      <a:r>
                        <a:rPr lang="en-US" sz="1600" dirty="0"/>
                        <a:t>Marks persistence, the hospital exploit and exfiltration details unknown or inferred</a:t>
                      </a:r>
                      <a:endParaRPr lang="en-AU" sz="1600" dirty="0"/>
                    </a:p>
                  </a:txBody>
                  <a:tcPr/>
                </a:tc>
                <a:tc>
                  <a:txBody>
                    <a:bodyPr/>
                    <a:lstStyle/>
                    <a:p>
                      <a:r>
                        <a:rPr lang="en-US" sz="1600" dirty="0"/>
                        <a:t>Does not clearly display these evidence gaps</a:t>
                      </a:r>
                      <a:endParaRPr lang="en-AU" sz="1600" dirty="0"/>
                    </a:p>
                  </a:txBody>
                  <a:tcPr/>
                </a:tc>
                <a:extLst>
                  <a:ext uri="{0D108BD9-81ED-4DB2-BD59-A6C34878D82A}">
                    <a16:rowId xmlns:a16="http://schemas.microsoft.com/office/drawing/2014/main" val="1116615008"/>
                  </a:ext>
                </a:extLst>
              </a:tr>
              <a:tr h="649497">
                <a:tc>
                  <a:txBody>
                    <a:bodyPr/>
                    <a:lstStyle/>
                    <a:p>
                      <a:r>
                        <a:rPr lang="en-US" sz="1600" dirty="0"/>
                        <a:t>Main strength</a:t>
                      </a:r>
                      <a:endParaRPr lang="en-AU" sz="1600" dirty="0"/>
                    </a:p>
                  </a:txBody>
                  <a:tcPr/>
                </a:tc>
                <a:tc>
                  <a:txBody>
                    <a:bodyPr/>
                    <a:lstStyle/>
                    <a:p>
                      <a:r>
                        <a:rPr lang="en-US" sz="1600" dirty="0"/>
                        <a:t>Detailed, traceable and supported by the PwC report</a:t>
                      </a:r>
                      <a:endParaRPr lang="en-AU" sz="1600" dirty="0"/>
                    </a:p>
                  </a:txBody>
                  <a:tcPr/>
                </a:tc>
                <a:tc>
                  <a:txBody>
                    <a:bodyPr/>
                    <a:lstStyle/>
                    <a:p>
                      <a:r>
                        <a:rPr lang="en-US" sz="1600" dirty="0"/>
                        <a:t>Simple structure that clearly presents encryption and stolen data pressure</a:t>
                      </a:r>
                      <a:endParaRPr lang="en-AU" sz="1600" dirty="0"/>
                    </a:p>
                  </a:txBody>
                  <a:tcPr/>
                </a:tc>
                <a:extLst>
                  <a:ext uri="{0D108BD9-81ED-4DB2-BD59-A6C34878D82A}">
                    <a16:rowId xmlns:a16="http://schemas.microsoft.com/office/drawing/2014/main" val="1471792573"/>
                  </a:ext>
                </a:extLst>
              </a:tr>
              <a:tr h="454648">
                <a:tc>
                  <a:txBody>
                    <a:bodyPr/>
                    <a:lstStyle/>
                    <a:p>
                      <a:r>
                        <a:rPr lang="en-US" sz="1600" dirty="0"/>
                        <a:t>Main limitation</a:t>
                      </a:r>
                      <a:endParaRPr lang="en-AU" sz="1600" dirty="0"/>
                    </a:p>
                  </a:txBody>
                  <a:tcPr/>
                </a:tc>
                <a:tc>
                  <a:txBody>
                    <a:bodyPr/>
                    <a:lstStyle/>
                    <a:p>
                      <a:r>
                        <a:rPr lang="en-US" sz="1600" dirty="0"/>
                        <a:t>More complex and visually dense</a:t>
                      </a:r>
                      <a:endParaRPr lang="en-AU" sz="1600" dirty="0"/>
                    </a:p>
                  </a:txBody>
                  <a:tcPr/>
                </a:tc>
                <a:tc>
                  <a:txBody>
                    <a:bodyPr/>
                    <a:lstStyle/>
                    <a:p>
                      <a:r>
                        <a:rPr lang="en-US" sz="1600" dirty="0"/>
                        <a:t>Oversimplifies the evidence and presents some uncertain mechanisms too confidently</a:t>
                      </a:r>
                      <a:endParaRPr lang="en-AU" sz="1600" dirty="0"/>
                    </a:p>
                  </a:txBody>
                  <a:tcPr/>
                </a:tc>
                <a:extLst>
                  <a:ext uri="{0D108BD9-81ED-4DB2-BD59-A6C34878D82A}">
                    <a16:rowId xmlns:a16="http://schemas.microsoft.com/office/drawing/2014/main" val="4238212872"/>
                  </a:ext>
                </a:extLst>
              </a:tr>
            </a:tbl>
          </a:graphicData>
        </a:graphic>
      </p:graphicFrame>
      <p:sp>
        <p:nvSpPr>
          <p:cNvPr id="7" name="TextBox 6">
            <a:extLst>
              <a:ext uri="{FF2B5EF4-FFF2-40B4-BE49-F238E27FC236}">
                <a16:creationId xmlns:a16="http://schemas.microsoft.com/office/drawing/2014/main" id="{F94EBFE6-D7C7-FAA2-73CE-680F65203B19}"/>
              </a:ext>
            </a:extLst>
          </p:cNvPr>
          <p:cNvSpPr txBox="1"/>
          <p:nvPr/>
        </p:nvSpPr>
        <p:spPr>
          <a:xfrm>
            <a:off x="1400627" y="5629857"/>
            <a:ext cx="9390742" cy="923330"/>
          </a:xfrm>
          <a:prstGeom prst="rect">
            <a:avLst/>
          </a:prstGeom>
          <a:noFill/>
        </p:spPr>
        <p:txBody>
          <a:bodyPr wrap="square" rtlCol="0">
            <a:spAutoFit/>
          </a:bodyPr>
          <a:lstStyle/>
          <a:p>
            <a:pPr algn="ctr"/>
            <a:r>
              <a:rPr lang="en-AU" b="1" dirty="0">
                <a:highlight>
                  <a:srgbClr val="008000"/>
                </a:highlight>
              </a:rPr>
              <a:t>Synthesis decision:</a:t>
            </a:r>
            <a:r>
              <a:rPr lang="en-AU" dirty="0">
                <a:highlight>
                  <a:srgbClr val="008000"/>
                </a:highlight>
              </a:rPr>
              <a:t> Retained the LLM tree’s clear distinction between encryption and stolen data pressure, while applying the manual tree’s evidence citations, attacker action rule and uncertainty.</a:t>
            </a:r>
          </a:p>
        </p:txBody>
      </p:sp>
      <p:sp>
        <p:nvSpPr>
          <p:cNvPr id="8" name="TextBox 7">
            <a:extLst>
              <a:ext uri="{FF2B5EF4-FFF2-40B4-BE49-F238E27FC236}">
                <a16:creationId xmlns:a16="http://schemas.microsoft.com/office/drawing/2014/main" id="{36EAEDCD-FA0C-B791-500E-A8142E0AF974}"/>
              </a:ext>
            </a:extLst>
          </p:cNvPr>
          <p:cNvSpPr txBox="1"/>
          <p:nvPr/>
        </p:nvSpPr>
        <p:spPr>
          <a:xfrm>
            <a:off x="0" y="6482116"/>
            <a:ext cx="5021943" cy="430887"/>
          </a:xfrm>
          <a:prstGeom prst="rect">
            <a:avLst/>
          </a:prstGeom>
          <a:noFill/>
        </p:spPr>
        <p:txBody>
          <a:bodyPr wrap="square" rtlCol="0">
            <a:spAutoFit/>
          </a:bodyPr>
          <a:lstStyle/>
          <a:p>
            <a:r>
              <a:rPr lang="en-AU" sz="1050" i="1" dirty="0"/>
              <a:t>Source: Comparison of the HSE manual tree and the original ChatGPT Astra output. Full models and the LLM prompt are provided in Appendices A and B.</a:t>
            </a:r>
          </a:p>
        </p:txBody>
      </p:sp>
    </p:spTree>
    <p:extLst>
      <p:ext uri="{BB962C8B-B14F-4D97-AF65-F5344CB8AC3E}">
        <p14:creationId xmlns:p14="http://schemas.microsoft.com/office/powerpoint/2010/main" val="350443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577B9-26F0-187D-5BD8-BB4C1AE3AD7D}"/>
              </a:ext>
            </a:extLst>
          </p:cNvPr>
          <p:cNvSpPr>
            <a:spLocks noGrp="1"/>
          </p:cNvSpPr>
          <p:nvPr>
            <p:ph type="title"/>
          </p:nvPr>
        </p:nvSpPr>
        <p:spPr>
          <a:xfrm>
            <a:off x="3191618" y="-248460"/>
            <a:ext cx="5808764" cy="969206"/>
          </a:xfrm>
        </p:spPr>
        <p:txBody>
          <a:bodyPr/>
          <a:lstStyle/>
          <a:p>
            <a:r>
              <a:rPr lang="en-US" b="1" dirty="0"/>
              <a:t>HSE Case </a:t>
            </a:r>
            <a:r>
              <a:rPr lang="en-US" b="1" dirty="0" err="1"/>
              <a:t>Synthesised</a:t>
            </a:r>
            <a:r>
              <a:rPr lang="en-US" b="1" dirty="0"/>
              <a:t> Attack Tree</a:t>
            </a:r>
            <a:endParaRPr lang="en-AU" b="1" dirty="0"/>
          </a:p>
        </p:txBody>
      </p:sp>
      <p:pic>
        <p:nvPicPr>
          <p:cNvPr id="5" name="Picture 4">
            <a:extLst>
              <a:ext uri="{FF2B5EF4-FFF2-40B4-BE49-F238E27FC236}">
                <a16:creationId xmlns:a16="http://schemas.microsoft.com/office/drawing/2014/main" id="{0875BC99-7BD4-C015-E2A7-575FC5DACF3A}"/>
              </a:ext>
            </a:extLst>
          </p:cNvPr>
          <p:cNvPicPr>
            <a:picLocks noChangeAspect="1"/>
          </p:cNvPicPr>
          <p:nvPr/>
        </p:nvPicPr>
        <p:blipFill>
          <a:blip r:embed="rId3"/>
          <a:stretch>
            <a:fillRect/>
          </a:stretch>
        </p:blipFill>
        <p:spPr>
          <a:xfrm>
            <a:off x="1625599" y="1121545"/>
            <a:ext cx="8563429" cy="4614910"/>
          </a:xfrm>
          <a:prstGeom prst="rect">
            <a:avLst/>
          </a:prstGeom>
        </p:spPr>
      </p:pic>
      <p:sp>
        <p:nvSpPr>
          <p:cNvPr id="7" name="TextBox 6">
            <a:extLst>
              <a:ext uri="{FF2B5EF4-FFF2-40B4-BE49-F238E27FC236}">
                <a16:creationId xmlns:a16="http://schemas.microsoft.com/office/drawing/2014/main" id="{A665F943-592C-820E-B709-17BEE8DCE5CE}"/>
              </a:ext>
            </a:extLst>
          </p:cNvPr>
          <p:cNvSpPr txBox="1"/>
          <p:nvPr/>
        </p:nvSpPr>
        <p:spPr>
          <a:xfrm>
            <a:off x="2583229" y="5952588"/>
            <a:ext cx="6648167" cy="369332"/>
          </a:xfrm>
          <a:prstGeom prst="rect">
            <a:avLst/>
          </a:prstGeom>
          <a:noFill/>
        </p:spPr>
        <p:txBody>
          <a:bodyPr wrap="none" rtlCol="0">
            <a:spAutoFit/>
          </a:bodyPr>
          <a:lstStyle/>
          <a:p>
            <a:r>
              <a:rPr lang="en-AU" dirty="0"/>
              <a:t>Simplified presentation view — full model provided in Appendix C.</a:t>
            </a:r>
          </a:p>
        </p:txBody>
      </p:sp>
    </p:spTree>
    <p:extLst>
      <p:ext uri="{BB962C8B-B14F-4D97-AF65-F5344CB8AC3E}">
        <p14:creationId xmlns:p14="http://schemas.microsoft.com/office/powerpoint/2010/main" val="585689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FEA2D-CF61-BB4C-73BF-0D11FA11D580}"/>
              </a:ext>
            </a:extLst>
          </p:cNvPr>
          <p:cNvSpPr>
            <a:spLocks noGrp="1"/>
          </p:cNvSpPr>
          <p:nvPr>
            <p:ph type="title"/>
          </p:nvPr>
        </p:nvSpPr>
        <p:spPr>
          <a:xfrm>
            <a:off x="293977" y="-175889"/>
            <a:ext cx="11604046" cy="969206"/>
          </a:xfrm>
        </p:spPr>
        <p:txBody>
          <a:bodyPr/>
          <a:lstStyle/>
          <a:p>
            <a:pPr algn="ctr"/>
            <a:r>
              <a:rPr lang="en-US" b="1" dirty="0"/>
              <a:t>HSE Case </a:t>
            </a:r>
            <a:r>
              <a:rPr lang="en-US" b="1" dirty="0" err="1"/>
              <a:t>Synthesised</a:t>
            </a:r>
            <a:r>
              <a:rPr lang="en-US" b="1" dirty="0"/>
              <a:t> Attack Tree Analysis</a:t>
            </a:r>
            <a:endParaRPr lang="en-AU" b="1" dirty="0"/>
          </a:p>
        </p:txBody>
      </p:sp>
      <p:sp>
        <p:nvSpPr>
          <p:cNvPr id="3" name="Content Placeholder 2">
            <a:extLst>
              <a:ext uri="{FF2B5EF4-FFF2-40B4-BE49-F238E27FC236}">
                <a16:creationId xmlns:a16="http://schemas.microsoft.com/office/drawing/2014/main" id="{2786D6AB-0403-ED7C-094F-575DABE34AF3}"/>
              </a:ext>
            </a:extLst>
          </p:cNvPr>
          <p:cNvSpPr>
            <a:spLocks noGrp="1"/>
          </p:cNvSpPr>
          <p:nvPr>
            <p:ph idx="1"/>
          </p:nvPr>
        </p:nvSpPr>
        <p:spPr>
          <a:xfrm>
            <a:off x="293977" y="1181050"/>
            <a:ext cx="11738366" cy="2247949"/>
          </a:xfrm>
        </p:spPr>
        <p:txBody>
          <a:bodyPr>
            <a:normAutofit fontScale="77500" lnSpcReduction="20000"/>
          </a:bodyPr>
          <a:lstStyle/>
          <a:p>
            <a:pPr algn="ctr"/>
            <a:r>
              <a:rPr lang="en-AU" sz="2300" b="1" dirty="0"/>
              <a:t>Key interpretation</a:t>
            </a:r>
            <a:endParaRPr lang="en-AU" sz="2300" dirty="0"/>
          </a:p>
          <a:p>
            <a:pPr lvl="0" algn="ctr"/>
            <a:r>
              <a:rPr lang="en-AU" sz="2300" dirty="0"/>
              <a:t>The root uses </a:t>
            </a:r>
            <a:r>
              <a:rPr lang="en-AU" sz="2300" b="1" dirty="0"/>
              <a:t>AND</a:t>
            </a:r>
            <a:r>
              <a:rPr lang="en-AU" sz="2300" dirty="0"/>
              <a:t> because the attacker required access, enterprise reach, coercive impact and communication of the demand. </a:t>
            </a:r>
          </a:p>
          <a:p>
            <a:pPr lvl="0" algn="ctr"/>
            <a:r>
              <a:rPr lang="en-AU" sz="2300" dirty="0"/>
              <a:t>The impact branch uses </a:t>
            </a:r>
            <a:r>
              <a:rPr lang="en-AU" sz="2300" b="1" dirty="0"/>
              <a:t>OR</a:t>
            </a:r>
            <a:r>
              <a:rPr lang="en-AU" sz="2300" dirty="0"/>
              <a:t> because encryption or stolen-data disclosure could create extortion pressure. Evidence indicates that both occurred. </a:t>
            </a:r>
          </a:p>
          <a:p>
            <a:pPr lvl="0" algn="ctr"/>
            <a:r>
              <a:rPr lang="en-AU" sz="2300" dirty="0"/>
              <a:t>Unknown persistence, vulnerability and exfiltration mechanisms remain marked </a:t>
            </a:r>
            <a:r>
              <a:rPr lang="en-AU" sz="2300" b="1" dirty="0"/>
              <a:t>U</a:t>
            </a:r>
            <a:r>
              <a:rPr lang="en-AU" sz="2300" dirty="0"/>
              <a:t> rather than assumed.</a:t>
            </a:r>
          </a:p>
          <a:p>
            <a:endParaRPr lang="en-AU" dirty="0"/>
          </a:p>
        </p:txBody>
      </p:sp>
      <p:sp>
        <p:nvSpPr>
          <p:cNvPr id="4" name="TextBox 3">
            <a:extLst>
              <a:ext uri="{FF2B5EF4-FFF2-40B4-BE49-F238E27FC236}">
                <a16:creationId xmlns:a16="http://schemas.microsoft.com/office/drawing/2014/main" id="{06909D65-8E6F-C897-9ADA-C934E13E44AD}"/>
              </a:ext>
            </a:extLst>
          </p:cNvPr>
          <p:cNvSpPr txBox="1"/>
          <p:nvPr/>
        </p:nvSpPr>
        <p:spPr>
          <a:xfrm>
            <a:off x="293977" y="4035503"/>
            <a:ext cx="11604046" cy="923330"/>
          </a:xfrm>
          <a:prstGeom prst="rect">
            <a:avLst/>
          </a:prstGeom>
          <a:noFill/>
        </p:spPr>
        <p:txBody>
          <a:bodyPr wrap="square" rtlCol="0">
            <a:spAutoFit/>
          </a:bodyPr>
          <a:lstStyle/>
          <a:p>
            <a:pPr algn="ctr"/>
            <a:r>
              <a:rPr lang="en-US" b="1" dirty="0"/>
              <a:t>Key finding</a:t>
            </a:r>
          </a:p>
          <a:p>
            <a:pPr algn="ctr"/>
            <a:r>
              <a:rPr lang="en-US" dirty="0"/>
              <a:t>Multiple weaknesses in prevention, detection, privileged access, network segmentation and recovery contributed to the incident</a:t>
            </a:r>
            <a:endParaRPr lang="en-AU" dirty="0"/>
          </a:p>
        </p:txBody>
      </p:sp>
      <p:sp>
        <p:nvSpPr>
          <p:cNvPr id="5" name="TextBox 4">
            <a:extLst>
              <a:ext uri="{FF2B5EF4-FFF2-40B4-BE49-F238E27FC236}">
                <a16:creationId xmlns:a16="http://schemas.microsoft.com/office/drawing/2014/main" id="{33C1AA91-326B-42D3-3933-89EF3CD58ACA}"/>
              </a:ext>
            </a:extLst>
          </p:cNvPr>
          <p:cNvSpPr txBox="1"/>
          <p:nvPr/>
        </p:nvSpPr>
        <p:spPr>
          <a:xfrm>
            <a:off x="0" y="6581001"/>
            <a:ext cx="6594819" cy="553998"/>
          </a:xfrm>
          <a:prstGeom prst="rect">
            <a:avLst/>
          </a:prstGeom>
          <a:noFill/>
        </p:spPr>
        <p:txBody>
          <a:bodyPr wrap="none" rtlCol="0">
            <a:spAutoFit/>
          </a:bodyPr>
          <a:lstStyle/>
          <a:p>
            <a:r>
              <a:rPr lang="en-AU" sz="1200" i="1" dirty="0"/>
              <a:t>Source: Synthesis based on PwC (2021, pp. 1, 29, 37, 45, 47–55). Full-size model in Appendix C.</a:t>
            </a:r>
          </a:p>
          <a:p>
            <a:endParaRPr lang="en-AU" dirty="0"/>
          </a:p>
        </p:txBody>
      </p:sp>
    </p:spTree>
    <p:extLst>
      <p:ext uri="{BB962C8B-B14F-4D97-AF65-F5344CB8AC3E}">
        <p14:creationId xmlns:p14="http://schemas.microsoft.com/office/powerpoint/2010/main" val="42503265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626B8-C2E8-8C41-F784-0C2E7D0E93A3}"/>
              </a:ext>
            </a:extLst>
          </p:cNvPr>
          <p:cNvSpPr>
            <a:spLocks noGrp="1"/>
          </p:cNvSpPr>
          <p:nvPr>
            <p:ph type="title"/>
          </p:nvPr>
        </p:nvSpPr>
        <p:spPr>
          <a:xfrm>
            <a:off x="293977" y="222957"/>
            <a:ext cx="11604046" cy="503032"/>
          </a:xfrm>
        </p:spPr>
        <p:txBody>
          <a:bodyPr/>
          <a:lstStyle/>
          <a:p>
            <a:pPr algn="ctr"/>
            <a:r>
              <a:rPr lang="en-AU" b="1" dirty="0"/>
              <a:t>Change Healthcare Ransomware Incident, 2024</a:t>
            </a:r>
          </a:p>
        </p:txBody>
      </p:sp>
      <p:graphicFrame>
        <p:nvGraphicFramePr>
          <p:cNvPr id="4" name="Table 3">
            <a:extLst>
              <a:ext uri="{FF2B5EF4-FFF2-40B4-BE49-F238E27FC236}">
                <a16:creationId xmlns:a16="http://schemas.microsoft.com/office/drawing/2014/main" id="{592FA1A8-4785-7EEC-7DD9-75688C8BECF6}"/>
              </a:ext>
            </a:extLst>
          </p:cNvPr>
          <p:cNvGraphicFramePr>
            <a:graphicFrameLocks noGrp="1"/>
          </p:cNvGraphicFramePr>
          <p:nvPr>
            <p:extLst>
              <p:ext uri="{D42A27DB-BD31-4B8C-83A1-F6EECF244321}">
                <p14:modId xmlns:p14="http://schemas.microsoft.com/office/powerpoint/2010/main" val="134687870"/>
              </p:ext>
            </p:extLst>
          </p:nvPr>
        </p:nvGraphicFramePr>
        <p:xfrm>
          <a:off x="1233714" y="1551940"/>
          <a:ext cx="9724572" cy="3754120"/>
        </p:xfrm>
        <a:graphic>
          <a:graphicData uri="http://schemas.openxmlformats.org/drawingml/2006/table">
            <a:tbl>
              <a:tblPr firstRow="1" bandRow="1">
                <a:tableStyleId>{5C22544A-7EE6-4342-B048-85BDC9FD1C3A}</a:tableStyleId>
              </a:tblPr>
              <a:tblGrid>
                <a:gridCol w="2148115">
                  <a:extLst>
                    <a:ext uri="{9D8B030D-6E8A-4147-A177-3AD203B41FA5}">
                      <a16:colId xmlns:a16="http://schemas.microsoft.com/office/drawing/2014/main" val="4054815368"/>
                    </a:ext>
                  </a:extLst>
                </a:gridCol>
                <a:gridCol w="6462849">
                  <a:extLst>
                    <a:ext uri="{9D8B030D-6E8A-4147-A177-3AD203B41FA5}">
                      <a16:colId xmlns:a16="http://schemas.microsoft.com/office/drawing/2014/main" val="3711921427"/>
                    </a:ext>
                  </a:extLst>
                </a:gridCol>
                <a:gridCol w="1113608">
                  <a:extLst>
                    <a:ext uri="{9D8B030D-6E8A-4147-A177-3AD203B41FA5}">
                      <a16:colId xmlns:a16="http://schemas.microsoft.com/office/drawing/2014/main" val="1707524395"/>
                    </a:ext>
                  </a:extLst>
                </a:gridCol>
              </a:tblGrid>
              <a:tr h="370840">
                <a:tc>
                  <a:txBody>
                    <a:bodyPr/>
                    <a:lstStyle/>
                    <a:p>
                      <a:r>
                        <a:rPr lang="en-US" dirty="0"/>
                        <a:t>Stage</a:t>
                      </a:r>
                      <a:endParaRPr lang="en-AU" dirty="0"/>
                    </a:p>
                  </a:txBody>
                  <a:tcPr/>
                </a:tc>
                <a:tc>
                  <a:txBody>
                    <a:bodyPr/>
                    <a:lstStyle/>
                    <a:p>
                      <a:r>
                        <a:rPr lang="en-US" dirty="0"/>
                        <a:t>Publicly reported evidence</a:t>
                      </a:r>
                      <a:endParaRPr lang="en-AU" dirty="0"/>
                    </a:p>
                  </a:txBody>
                  <a:tcPr/>
                </a:tc>
                <a:tc>
                  <a:txBody>
                    <a:bodyPr/>
                    <a:lstStyle/>
                    <a:p>
                      <a:r>
                        <a:rPr lang="en-US" dirty="0"/>
                        <a:t>Status</a:t>
                      </a:r>
                      <a:endParaRPr lang="en-AU" dirty="0"/>
                    </a:p>
                  </a:txBody>
                  <a:tcPr/>
                </a:tc>
                <a:extLst>
                  <a:ext uri="{0D108BD9-81ED-4DB2-BD59-A6C34878D82A}">
                    <a16:rowId xmlns:a16="http://schemas.microsoft.com/office/drawing/2014/main" val="957866773"/>
                  </a:ext>
                </a:extLst>
              </a:tr>
              <a:tr h="370840">
                <a:tc>
                  <a:txBody>
                    <a:bodyPr/>
                    <a:lstStyle/>
                    <a:p>
                      <a:r>
                        <a:rPr lang="en-US" dirty="0"/>
                        <a:t>Initial access</a:t>
                      </a:r>
                      <a:endParaRPr lang="en-AU" dirty="0"/>
                    </a:p>
                  </a:txBody>
                  <a:tcPr/>
                </a:tc>
                <a:tc>
                  <a:txBody>
                    <a:bodyPr/>
                    <a:lstStyle/>
                    <a:p>
                      <a:r>
                        <a:rPr lang="en-US" dirty="0"/>
                        <a:t>On 12 February 2024, attackers used compromised credentials to access a Citrix portal that lacked MFA</a:t>
                      </a:r>
                      <a:endParaRPr lang="en-AU" dirty="0"/>
                    </a:p>
                  </a:txBody>
                  <a:tcPr/>
                </a:tc>
                <a:tc>
                  <a:txBody>
                    <a:bodyPr/>
                    <a:lstStyle/>
                    <a:p>
                      <a:r>
                        <a:rPr lang="en-US" dirty="0">
                          <a:highlight>
                            <a:srgbClr val="008000"/>
                          </a:highlight>
                        </a:rPr>
                        <a:t>R-H</a:t>
                      </a:r>
                      <a:endParaRPr lang="en-AU" dirty="0">
                        <a:highlight>
                          <a:srgbClr val="008000"/>
                        </a:highlight>
                      </a:endParaRPr>
                    </a:p>
                  </a:txBody>
                  <a:tcPr/>
                </a:tc>
                <a:extLst>
                  <a:ext uri="{0D108BD9-81ED-4DB2-BD59-A6C34878D82A}">
                    <a16:rowId xmlns:a16="http://schemas.microsoft.com/office/drawing/2014/main" val="2789638720"/>
                  </a:ext>
                </a:extLst>
              </a:tr>
              <a:tr h="370840">
                <a:tc>
                  <a:txBody>
                    <a:bodyPr/>
                    <a:lstStyle/>
                    <a:p>
                      <a:r>
                        <a:rPr lang="en-US" dirty="0"/>
                        <a:t>Enterprise expansion</a:t>
                      </a:r>
                      <a:endParaRPr lang="en-AU" dirty="0"/>
                    </a:p>
                  </a:txBody>
                  <a:tcPr/>
                </a:tc>
                <a:tc>
                  <a:txBody>
                    <a:bodyPr/>
                    <a:lstStyle/>
                    <a:p>
                      <a:r>
                        <a:rPr lang="en-US" dirty="0"/>
                        <a:t>The attackers move laterally and exfiltrated data before deploying ransomware. The detailed mechanisms remain undisclosed.</a:t>
                      </a:r>
                      <a:endParaRPr lang="en-AU" dirty="0"/>
                    </a:p>
                  </a:txBody>
                  <a:tcPr/>
                </a:tc>
                <a:tc>
                  <a:txBody>
                    <a:bodyPr/>
                    <a:lstStyle/>
                    <a:p>
                      <a:r>
                        <a:rPr lang="en-US" dirty="0">
                          <a:highlight>
                            <a:srgbClr val="008000"/>
                          </a:highlight>
                        </a:rPr>
                        <a:t>R-H</a:t>
                      </a:r>
                      <a:r>
                        <a:rPr lang="en-US" dirty="0"/>
                        <a:t> / </a:t>
                      </a:r>
                      <a:r>
                        <a:rPr lang="en-US" dirty="0">
                          <a:highlight>
                            <a:srgbClr val="FF0000"/>
                          </a:highlight>
                        </a:rPr>
                        <a:t>U</a:t>
                      </a:r>
                      <a:endParaRPr lang="en-AU" dirty="0">
                        <a:highlight>
                          <a:srgbClr val="FF0000"/>
                        </a:highlight>
                      </a:endParaRPr>
                    </a:p>
                  </a:txBody>
                  <a:tcPr/>
                </a:tc>
                <a:extLst>
                  <a:ext uri="{0D108BD9-81ED-4DB2-BD59-A6C34878D82A}">
                    <a16:rowId xmlns:a16="http://schemas.microsoft.com/office/drawing/2014/main" val="2057661058"/>
                  </a:ext>
                </a:extLst>
              </a:tr>
              <a:tr h="370840">
                <a:tc>
                  <a:txBody>
                    <a:bodyPr/>
                    <a:lstStyle/>
                    <a:p>
                      <a:r>
                        <a:rPr lang="en-US" dirty="0"/>
                        <a:t>Coercive impact</a:t>
                      </a:r>
                      <a:endParaRPr lang="en-AU" dirty="0"/>
                    </a:p>
                  </a:txBody>
                  <a:tcPr/>
                </a:tc>
                <a:tc>
                  <a:txBody>
                    <a:bodyPr/>
                    <a:lstStyle/>
                    <a:p>
                      <a:r>
                        <a:rPr lang="en-US" dirty="0"/>
                        <a:t>On 21 </a:t>
                      </a:r>
                      <a:r>
                        <a:rPr lang="en-US" dirty="0" err="1"/>
                        <a:t>Feburary</a:t>
                      </a:r>
                      <a:r>
                        <a:rPr lang="en-US" dirty="0"/>
                        <a:t>, the attackers deployed ransomware. Stolen personal and health information provided additional disclosure pressure.</a:t>
                      </a:r>
                      <a:endParaRPr lang="en-AU" dirty="0"/>
                    </a:p>
                  </a:txBody>
                  <a:tcPr/>
                </a:tc>
                <a:tc>
                  <a:txBody>
                    <a:bodyPr/>
                    <a:lstStyle/>
                    <a:p>
                      <a:r>
                        <a:rPr lang="en-US" dirty="0">
                          <a:highlight>
                            <a:srgbClr val="008000"/>
                          </a:highlight>
                        </a:rPr>
                        <a:t>R-H</a:t>
                      </a:r>
                      <a:endParaRPr lang="en-AU" dirty="0"/>
                    </a:p>
                  </a:txBody>
                  <a:tcPr/>
                </a:tc>
                <a:extLst>
                  <a:ext uri="{0D108BD9-81ED-4DB2-BD59-A6C34878D82A}">
                    <a16:rowId xmlns:a16="http://schemas.microsoft.com/office/drawing/2014/main" val="820515628"/>
                  </a:ext>
                </a:extLst>
              </a:tr>
              <a:tr h="370840">
                <a:tc>
                  <a:txBody>
                    <a:bodyPr/>
                    <a:lstStyle/>
                    <a:p>
                      <a:r>
                        <a:rPr lang="en-US" dirty="0"/>
                        <a:t>Extortion and response</a:t>
                      </a:r>
                      <a:endParaRPr lang="en-AU" dirty="0"/>
                    </a:p>
                  </a:txBody>
                  <a:tcPr/>
                </a:tc>
                <a:tc>
                  <a:txBody>
                    <a:bodyPr/>
                    <a:lstStyle/>
                    <a:p>
                      <a:r>
                        <a:rPr lang="en-US" dirty="0"/>
                        <a:t>UnitedHealth Group confirmed that it paid the ransom. Change Healthcare disconnected affected systems to contain the attack.</a:t>
                      </a:r>
                      <a:endParaRPr lang="en-AU" dirty="0"/>
                    </a:p>
                  </a:txBody>
                  <a:tcPr/>
                </a:tc>
                <a:tc>
                  <a:txBody>
                    <a:bodyPr/>
                    <a:lstStyle/>
                    <a:p>
                      <a:r>
                        <a:rPr lang="en-US" dirty="0">
                          <a:highlight>
                            <a:srgbClr val="008000"/>
                          </a:highlight>
                        </a:rPr>
                        <a:t>R-H</a:t>
                      </a:r>
                      <a:endParaRPr lang="en-AU" dirty="0"/>
                    </a:p>
                  </a:txBody>
                  <a:tcPr/>
                </a:tc>
                <a:extLst>
                  <a:ext uri="{0D108BD9-81ED-4DB2-BD59-A6C34878D82A}">
                    <a16:rowId xmlns:a16="http://schemas.microsoft.com/office/drawing/2014/main" val="2338945637"/>
                  </a:ext>
                </a:extLst>
              </a:tr>
            </a:tbl>
          </a:graphicData>
        </a:graphic>
      </p:graphicFrame>
    </p:spTree>
    <p:extLst>
      <p:ext uri="{BB962C8B-B14F-4D97-AF65-F5344CB8AC3E}">
        <p14:creationId xmlns:p14="http://schemas.microsoft.com/office/powerpoint/2010/main" val="16564552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56ED8-057E-06E6-275B-1C7A9879D2DF}"/>
              </a:ext>
            </a:extLst>
          </p:cNvPr>
          <p:cNvSpPr>
            <a:spLocks noGrp="1"/>
          </p:cNvSpPr>
          <p:nvPr>
            <p:ph type="title"/>
          </p:nvPr>
        </p:nvSpPr>
        <p:spPr>
          <a:xfrm>
            <a:off x="293977" y="-117832"/>
            <a:ext cx="11604046" cy="969206"/>
          </a:xfrm>
        </p:spPr>
        <p:txBody>
          <a:bodyPr/>
          <a:lstStyle/>
          <a:p>
            <a:pPr algn="ctr"/>
            <a:r>
              <a:rPr lang="en-AU" b="1" dirty="0"/>
              <a:t>Change Healthcare Ransomware Incident, 2024</a:t>
            </a:r>
            <a:br>
              <a:rPr lang="en-AU" b="1" dirty="0"/>
            </a:br>
            <a:r>
              <a:rPr lang="en-AU" b="1" dirty="0"/>
              <a:t>Assets and Consequences</a:t>
            </a:r>
            <a:endParaRPr lang="en-AU" dirty="0"/>
          </a:p>
        </p:txBody>
      </p:sp>
      <p:graphicFrame>
        <p:nvGraphicFramePr>
          <p:cNvPr id="4" name="Table 3">
            <a:extLst>
              <a:ext uri="{FF2B5EF4-FFF2-40B4-BE49-F238E27FC236}">
                <a16:creationId xmlns:a16="http://schemas.microsoft.com/office/drawing/2014/main" id="{1733CB8C-CF1F-8564-6272-254CA04AB623}"/>
              </a:ext>
            </a:extLst>
          </p:cNvPr>
          <p:cNvGraphicFramePr>
            <a:graphicFrameLocks noGrp="1"/>
          </p:cNvGraphicFramePr>
          <p:nvPr>
            <p:extLst>
              <p:ext uri="{D42A27DB-BD31-4B8C-83A1-F6EECF244321}">
                <p14:modId xmlns:p14="http://schemas.microsoft.com/office/powerpoint/2010/main" val="4167938111"/>
              </p:ext>
            </p:extLst>
          </p:nvPr>
        </p:nvGraphicFramePr>
        <p:xfrm>
          <a:off x="2032000" y="1372809"/>
          <a:ext cx="8127999" cy="320548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00764216"/>
                    </a:ext>
                  </a:extLst>
                </a:gridCol>
                <a:gridCol w="2709333">
                  <a:extLst>
                    <a:ext uri="{9D8B030D-6E8A-4147-A177-3AD203B41FA5}">
                      <a16:colId xmlns:a16="http://schemas.microsoft.com/office/drawing/2014/main" val="1296131637"/>
                    </a:ext>
                  </a:extLst>
                </a:gridCol>
                <a:gridCol w="2709333">
                  <a:extLst>
                    <a:ext uri="{9D8B030D-6E8A-4147-A177-3AD203B41FA5}">
                      <a16:colId xmlns:a16="http://schemas.microsoft.com/office/drawing/2014/main" val="3006881933"/>
                    </a:ext>
                  </a:extLst>
                </a:gridCol>
              </a:tblGrid>
              <a:tr h="370840">
                <a:tc>
                  <a:txBody>
                    <a:bodyPr/>
                    <a:lstStyle/>
                    <a:p>
                      <a:pPr algn="ctr"/>
                      <a:r>
                        <a:rPr lang="en-US" dirty="0"/>
                        <a:t>Critical assets</a:t>
                      </a:r>
                      <a:endParaRPr lang="en-AU" dirty="0"/>
                    </a:p>
                  </a:txBody>
                  <a:tcPr/>
                </a:tc>
                <a:tc>
                  <a:txBody>
                    <a:bodyPr/>
                    <a:lstStyle/>
                    <a:p>
                      <a:pPr algn="ctr"/>
                      <a:r>
                        <a:rPr lang="en-US" dirty="0"/>
                        <a:t>Business consequences</a:t>
                      </a:r>
                      <a:endParaRPr lang="en-AU" dirty="0"/>
                    </a:p>
                  </a:txBody>
                  <a:tcPr/>
                </a:tc>
                <a:tc>
                  <a:txBody>
                    <a:bodyPr/>
                    <a:lstStyle/>
                    <a:p>
                      <a:pPr algn="ctr"/>
                      <a:r>
                        <a:rPr lang="en-US" dirty="0"/>
                        <a:t>Evidence gaps</a:t>
                      </a:r>
                      <a:endParaRPr lang="en-AU" dirty="0"/>
                    </a:p>
                  </a:txBody>
                  <a:tcPr/>
                </a:tc>
                <a:extLst>
                  <a:ext uri="{0D108BD9-81ED-4DB2-BD59-A6C34878D82A}">
                    <a16:rowId xmlns:a16="http://schemas.microsoft.com/office/drawing/2014/main" val="359227229"/>
                  </a:ext>
                </a:extLst>
              </a:tr>
              <a:tr h="370840">
                <a:tc>
                  <a:txBody>
                    <a:bodyPr/>
                    <a:lstStyle/>
                    <a:p>
                      <a:pPr algn="ctr"/>
                      <a:r>
                        <a:rPr lang="en-US" dirty="0"/>
                        <a:t>Claims processing and payment services</a:t>
                      </a:r>
                      <a:endParaRPr lang="en-AU" dirty="0"/>
                    </a:p>
                  </a:txBody>
                  <a:tcPr/>
                </a:tc>
                <a:tc>
                  <a:txBody>
                    <a:bodyPr/>
                    <a:lstStyle/>
                    <a:p>
                      <a:pPr algn="ctr"/>
                      <a:r>
                        <a:rPr lang="en-US" dirty="0"/>
                        <a:t>Nationwide disruption to healthcare payment workflows</a:t>
                      </a:r>
                      <a:endParaRPr lang="en-AU" dirty="0"/>
                    </a:p>
                  </a:txBody>
                  <a:tcPr/>
                </a:tc>
                <a:tc>
                  <a:txBody>
                    <a:bodyPr/>
                    <a:lstStyle/>
                    <a:p>
                      <a:pPr algn="ctr"/>
                      <a:r>
                        <a:rPr lang="en-US" dirty="0"/>
                        <a:t>Credential acquisition method: U</a:t>
                      </a:r>
                      <a:endParaRPr lang="en-AU" dirty="0"/>
                    </a:p>
                  </a:txBody>
                  <a:tcPr/>
                </a:tc>
                <a:extLst>
                  <a:ext uri="{0D108BD9-81ED-4DB2-BD59-A6C34878D82A}">
                    <a16:rowId xmlns:a16="http://schemas.microsoft.com/office/drawing/2014/main" val="686416798"/>
                  </a:ext>
                </a:extLst>
              </a:tr>
              <a:tr h="370840">
                <a:tc>
                  <a:txBody>
                    <a:bodyPr/>
                    <a:lstStyle/>
                    <a:p>
                      <a:pPr algn="ctr"/>
                      <a:r>
                        <a:rPr lang="en-US" dirty="0"/>
                        <a:t>Pharmacy transaction services</a:t>
                      </a:r>
                      <a:endParaRPr lang="en-AU" dirty="0"/>
                    </a:p>
                  </a:txBody>
                  <a:tcPr/>
                </a:tc>
                <a:tc>
                  <a:txBody>
                    <a:bodyPr/>
                    <a:lstStyle/>
                    <a:p>
                      <a:pPr algn="ctr"/>
                      <a:r>
                        <a:rPr lang="en-US" dirty="0"/>
                        <a:t>Cash flow pressure on healthcare providers</a:t>
                      </a:r>
                      <a:endParaRPr lang="en-AU" dirty="0"/>
                    </a:p>
                  </a:txBody>
                  <a:tcPr/>
                </a:tc>
                <a:tc>
                  <a:txBody>
                    <a:bodyPr/>
                    <a:lstStyle/>
                    <a:p>
                      <a:pPr algn="ctr"/>
                      <a:r>
                        <a:rPr lang="en-US" dirty="0"/>
                        <a:t>Lateral movement tools and techniques: U</a:t>
                      </a:r>
                      <a:endParaRPr lang="en-AU" dirty="0"/>
                    </a:p>
                  </a:txBody>
                  <a:tcPr/>
                </a:tc>
                <a:extLst>
                  <a:ext uri="{0D108BD9-81ED-4DB2-BD59-A6C34878D82A}">
                    <a16:rowId xmlns:a16="http://schemas.microsoft.com/office/drawing/2014/main" val="2587801129"/>
                  </a:ext>
                </a:extLst>
              </a:tr>
              <a:tr h="370840">
                <a:tc>
                  <a:txBody>
                    <a:bodyPr/>
                    <a:lstStyle/>
                    <a:p>
                      <a:pPr algn="ctr"/>
                      <a:r>
                        <a:rPr lang="en-US" dirty="0"/>
                        <a:t>Healthcare data exchange systems</a:t>
                      </a:r>
                      <a:endParaRPr lang="en-AU" dirty="0"/>
                    </a:p>
                  </a:txBody>
                  <a:tcPr/>
                </a:tc>
                <a:tc>
                  <a:txBody>
                    <a:bodyPr/>
                    <a:lstStyle/>
                    <a:p>
                      <a:pPr algn="ctr"/>
                      <a:r>
                        <a:rPr lang="en-US" dirty="0"/>
                        <a:t>Loss of system availability</a:t>
                      </a:r>
                      <a:endParaRPr lang="en-AU" dirty="0"/>
                    </a:p>
                  </a:txBody>
                  <a:tcPr/>
                </a:tc>
                <a:tc>
                  <a:txBody>
                    <a:bodyPr/>
                    <a:lstStyle/>
                    <a:p>
                      <a:pPr algn="ctr"/>
                      <a:r>
                        <a:rPr lang="en-US" dirty="0"/>
                        <a:t>Detailed data-exfiltration route: U</a:t>
                      </a:r>
                      <a:endParaRPr lang="en-AU" dirty="0"/>
                    </a:p>
                  </a:txBody>
                  <a:tcPr/>
                </a:tc>
                <a:extLst>
                  <a:ext uri="{0D108BD9-81ED-4DB2-BD59-A6C34878D82A}">
                    <a16:rowId xmlns:a16="http://schemas.microsoft.com/office/drawing/2014/main" val="972963112"/>
                  </a:ext>
                </a:extLst>
              </a:tr>
              <a:tr h="422608">
                <a:tc>
                  <a:txBody>
                    <a:bodyPr/>
                    <a:lstStyle/>
                    <a:p>
                      <a:pPr algn="ctr"/>
                      <a:r>
                        <a:rPr lang="en-US" dirty="0"/>
                        <a:t>Personal and protected health information</a:t>
                      </a:r>
                      <a:endParaRPr lang="en-AU" dirty="0"/>
                    </a:p>
                  </a:txBody>
                  <a:tcPr/>
                </a:tc>
                <a:tc>
                  <a:txBody>
                    <a:bodyPr/>
                    <a:lstStyle/>
                    <a:p>
                      <a:pPr algn="ctr"/>
                      <a:r>
                        <a:rPr lang="en-US" dirty="0"/>
                        <a:t>Privacy, notification and regulatory exposure</a:t>
                      </a:r>
                      <a:endParaRPr lang="en-AU" dirty="0"/>
                    </a:p>
                  </a:txBody>
                  <a:tcPr/>
                </a:tc>
                <a:tc>
                  <a:txBody>
                    <a:bodyPr/>
                    <a:lstStyle/>
                    <a:p>
                      <a:pPr algn="ctr"/>
                      <a:endParaRPr lang="en-AU" dirty="0"/>
                    </a:p>
                  </a:txBody>
                  <a:tcPr/>
                </a:tc>
                <a:extLst>
                  <a:ext uri="{0D108BD9-81ED-4DB2-BD59-A6C34878D82A}">
                    <a16:rowId xmlns:a16="http://schemas.microsoft.com/office/drawing/2014/main" val="2162246554"/>
                  </a:ext>
                </a:extLst>
              </a:tr>
            </a:tbl>
          </a:graphicData>
        </a:graphic>
      </p:graphicFrame>
      <p:sp>
        <p:nvSpPr>
          <p:cNvPr id="5" name="TextBox 4">
            <a:extLst>
              <a:ext uri="{FF2B5EF4-FFF2-40B4-BE49-F238E27FC236}">
                <a16:creationId xmlns:a16="http://schemas.microsoft.com/office/drawing/2014/main" id="{71686C44-A38E-06B3-4767-57A8317857D5}"/>
              </a:ext>
            </a:extLst>
          </p:cNvPr>
          <p:cNvSpPr txBox="1"/>
          <p:nvPr/>
        </p:nvSpPr>
        <p:spPr>
          <a:xfrm>
            <a:off x="718456" y="4992914"/>
            <a:ext cx="10755086" cy="646331"/>
          </a:xfrm>
          <a:prstGeom prst="rect">
            <a:avLst/>
          </a:prstGeom>
          <a:noFill/>
        </p:spPr>
        <p:txBody>
          <a:bodyPr wrap="square" rtlCol="0">
            <a:spAutoFit/>
          </a:bodyPr>
          <a:lstStyle/>
          <a:p>
            <a:pPr algn="ctr"/>
            <a:r>
              <a:rPr lang="en-US" b="1" dirty="0"/>
              <a:t>Preliminary finding: </a:t>
            </a:r>
            <a:r>
              <a:rPr lang="en-US" dirty="0"/>
              <a:t>There was no MFA, which allowed the attacker to use the compromised credentials to gain remote access</a:t>
            </a:r>
            <a:endParaRPr lang="en-AU" dirty="0"/>
          </a:p>
        </p:txBody>
      </p:sp>
      <p:sp>
        <p:nvSpPr>
          <p:cNvPr id="6" name="TextBox 5">
            <a:extLst>
              <a:ext uri="{FF2B5EF4-FFF2-40B4-BE49-F238E27FC236}">
                <a16:creationId xmlns:a16="http://schemas.microsoft.com/office/drawing/2014/main" id="{8EE8B776-37C9-9111-6D4B-D96CB1C09DFD}"/>
              </a:ext>
            </a:extLst>
          </p:cNvPr>
          <p:cNvSpPr txBox="1"/>
          <p:nvPr/>
        </p:nvSpPr>
        <p:spPr>
          <a:xfrm>
            <a:off x="0" y="6611779"/>
            <a:ext cx="7184571" cy="246221"/>
          </a:xfrm>
          <a:prstGeom prst="rect">
            <a:avLst/>
          </a:prstGeom>
          <a:noFill/>
        </p:spPr>
        <p:txBody>
          <a:bodyPr wrap="square" rtlCol="0">
            <a:spAutoFit/>
          </a:bodyPr>
          <a:lstStyle/>
          <a:p>
            <a:r>
              <a:rPr lang="en-AU" sz="1000" dirty="0"/>
              <a:t>Sources: Witty (2024, pp. 2–3); Fliegelman and Stemp (2024, pp. 1–6); UnitedHealth Group (2024); HHS (2025).</a:t>
            </a:r>
          </a:p>
        </p:txBody>
      </p:sp>
    </p:spTree>
    <p:extLst>
      <p:ext uri="{BB962C8B-B14F-4D97-AF65-F5344CB8AC3E}">
        <p14:creationId xmlns:p14="http://schemas.microsoft.com/office/powerpoint/2010/main" val="1042076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C6A2C-567B-46FC-727F-9FFFE3047F37}"/>
              </a:ext>
            </a:extLst>
          </p:cNvPr>
          <p:cNvSpPr>
            <a:spLocks noGrp="1"/>
          </p:cNvSpPr>
          <p:nvPr>
            <p:ph type="title"/>
          </p:nvPr>
        </p:nvSpPr>
        <p:spPr>
          <a:xfrm>
            <a:off x="293977" y="-248460"/>
            <a:ext cx="11604046" cy="969206"/>
          </a:xfrm>
        </p:spPr>
        <p:txBody>
          <a:bodyPr/>
          <a:lstStyle/>
          <a:p>
            <a:pPr algn="ctr"/>
            <a:r>
              <a:rPr lang="en-US" b="1" dirty="0"/>
              <a:t>Change Healthcare Manual and LLM Tree Comparison</a:t>
            </a:r>
            <a:endParaRPr lang="en-AU" b="1" dirty="0"/>
          </a:p>
        </p:txBody>
      </p:sp>
      <p:pic>
        <p:nvPicPr>
          <p:cNvPr id="5" name="Picture 4">
            <a:extLst>
              <a:ext uri="{FF2B5EF4-FFF2-40B4-BE49-F238E27FC236}">
                <a16:creationId xmlns:a16="http://schemas.microsoft.com/office/drawing/2014/main" id="{F0A82C59-85B4-1CDB-303C-24C7D806C429}"/>
              </a:ext>
            </a:extLst>
          </p:cNvPr>
          <p:cNvPicPr>
            <a:picLocks noChangeAspect="1"/>
          </p:cNvPicPr>
          <p:nvPr/>
        </p:nvPicPr>
        <p:blipFill>
          <a:blip r:embed="rId3"/>
          <a:stretch>
            <a:fillRect/>
          </a:stretch>
        </p:blipFill>
        <p:spPr>
          <a:xfrm>
            <a:off x="293977" y="1036639"/>
            <a:ext cx="5802023" cy="3299476"/>
          </a:xfrm>
          <a:prstGeom prst="rect">
            <a:avLst/>
          </a:prstGeom>
        </p:spPr>
      </p:pic>
      <p:sp>
        <p:nvSpPr>
          <p:cNvPr id="6" name="TextBox 5">
            <a:extLst>
              <a:ext uri="{FF2B5EF4-FFF2-40B4-BE49-F238E27FC236}">
                <a16:creationId xmlns:a16="http://schemas.microsoft.com/office/drawing/2014/main" id="{04B58927-073D-67DE-9FA3-50B312854E7A}"/>
              </a:ext>
            </a:extLst>
          </p:cNvPr>
          <p:cNvSpPr txBox="1"/>
          <p:nvPr/>
        </p:nvSpPr>
        <p:spPr>
          <a:xfrm>
            <a:off x="2147169" y="4631642"/>
            <a:ext cx="2095638" cy="369332"/>
          </a:xfrm>
          <a:prstGeom prst="rect">
            <a:avLst/>
          </a:prstGeom>
          <a:noFill/>
        </p:spPr>
        <p:txBody>
          <a:bodyPr wrap="none" rtlCol="0">
            <a:spAutoFit/>
          </a:bodyPr>
          <a:lstStyle/>
          <a:p>
            <a:r>
              <a:rPr lang="en-US" dirty="0"/>
              <a:t>Manual attack tree </a:t>
            </a:r>
            <a:endParaRPr lang="en-AU" dirty="0"/>
          </a:p>
        </p:txBody>
      </p:sp>
      <p:pic>
        <p:nvPicPr>
          <p:cNvPr id="7" name="Picture 6">
            <a:extLst>
              <a:ext uri="{FF2B5EF4-FFF2-40B4-BE49-F238E27FC236}">
                <a16:creationId xmlns:a16="http://schemas.microsoft.com/office/drawing/2014/main" id="{FCF3AC06-5D71-AF95-8217-87B038F5B275}"/>
              </a:ext>
            </a:extLst>
          </p:cNvPr>
          <p:cNvPicPr>
            <a:picLocks noChangeAspect="1"/>
          </p:cNvPicPr>
          <p:nvPr/>
        </p:nvPicPr>
        <p:blipFill>
          <a:blip r:embed="rId4"/>
          <a:stretch>
            <a:fillRect/>
          </a:stretch>
        </p:blipFill>
        <p:spPr>
          <a:xfrm>
            <a:off x="6096000" y="1036639"/>
            <a:ext cx="6096000" cy="3299476"/>
          </a:xfrm>
          <a:prstGeom prst="rect">
            <a:avLst/>
          </a:prstGeom>
        </p:spPr>
      </p:pic>
      <p:sp>
        <p:nvSpPr>
          <p:cNvPr id="8" name="TextBox 7">
            <a:extLst>
              <a:ext uri="{FF2B5EF4-FFF2-40B4-BE49-F238E27FC236}">
                <a16:creationId xmlns:a16="http://schemas.microsoft.com/office/drawing/2014/main" id="{588D0057-A6C9-9F31-505E-360094417BE5}"/>
              </a:ext>
            </a:extLst>
          </p:cNvPr>
          <p:cNvSpPr txBox="1"/>
          <p:nvPr/>
        </p:nvSpPr>
        <p:spPr>
          <a:xfrm>
            <a:off x="7656285" y="4493142"/>
            <a:ext cx="2975429" cy="646331"/>
          </a:xfrm>
          <a:prstGeom prst="rect">
            <a:avLst/>
          </a:prstGeom>
          <a:noFill/>
        </p:spPr>
        <p:txBody>
          <a:bodyPr wrap="square" rtlCol="0">
            <a:spAutoFit/>
          </a:bodyPr>
          <a:lstStyle/>
          <a:p>
            <a:pPr algn="ctr"/>
            <a:r>
              <a:rPr lang="en-US" dirty="0"/>
              <a:t>Original ChatGPT attack tree</a:t>
            </a:r>
            <a:endParaRPr lang="en-AU" dirty="0"/>
          </a:p>
        </p:txBody>
      </p:sp>
      <p:sp>
        <p:nvSpPr>
          <p:cNvPr id="10" name="TextBox 9">
            <a:extLst>
              <a:ext uri="{FF2B5EF4-FFF2-40B4-BE49-F238E27FC236}">
                <a16:creationId xmlns:a16="http://schemas.microsoft.com/office/drawing/2014/main" id="{D08E202B-AE42-A1FE-58EE-479E21EB639A}"/>
              </a:ext>
            </a:extLst>
          </p:cNvPr>
          <p:cNvSpPr txBox="1"/>
          <p:nvPr/>
        </p:nvSpPr>
        <p:spPr>
          <a:xfrm>
            <a:off x="3047999" y="5498195"/>
            <a:ext cx="6096000" cy="646331"/>
          </a:xfrm>
          <a:prstGeom prst="rect">
            <a:avLst/>
          </a:prstGeom>
          <a:noFill/>
        </p:spPr>
        <p:txBody>
          <a:bodyPr wrap="square">
            <a:spAutoFit/>
          </a:bodyPr>
          <a:lstStyle/>
          <a:p>
            <a:pPr algn="ctr"/>
            <a:r>
              <a:rPr lang="en-AU" sz="1800" dirty="0"/>
              <a:t>Simplified presentation view — full models provided in Appendix </a:t>
            </a:r>
            <a:r>
              <a:rPr lang="en-AU" dirty="0"/>
              <a:t>D and E</a:t>
            </a:r>
            <a:endParaRPr lang="en-AU" sz="1800" dirty="0"/>
          </a:p>
        </p:txBody>
      </p:sp>
    </p:spTree>
    <p:extLst>
      <p:ext uri="{BB962C8B-B14F-4D97-AF65-F5344CB8AC3E}">
        <p14:creationId xmlns:p14="http://schemas.microsoft.com/office/powerpoint/2010/main" val="12762840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1324C-E7B8-7CD9-A8FD-D810FD4F98AA}"/>
              </a:ext>
            </a:extLst>
          </p:cNvPr>
          <p:cNvSpPr>
            <a:spLocks noGrp="1"/>
          </p:cNvSpPr>
          <p:nvPr>
            <p:ph type="title"/>
          </p:nvPr>
        </p:nvSpPr>
        <p:spPr>
          <a:xfrm>
            <a:off x="1106777" y="-136260"/>
            <a:ext cx="11604046" cy="969206"/>
          </a:xfrm>
        </p:spPr>
        <p:txBody>
          <a:bodyPr/>
          <a:lstStyle/>
          <a:p>
            <a:pPr algn="ctr"/>
            <a:r>
              <a:rPr lang="en-US" b="1" dirty="0"/>
              <a:t>Change Healthcare Manual and LLM Attack Tree Comparison</a:t>
            </a:r>
            <a:endParaRPr lang="en-AU" dirty="0"/>
          </a:p>
        </p:txBody>
      </p:sp>
      <p:graphicFrame>
        <p:nvGraphicFramePr>
          <p:cNvPr id="6" name="Table 5">
            <a:extLst>
              <a:ext uri="{FF2B5EF4-FFF2-40B4-BE49-F238E27FC236}">
                <a16:creationId xmlns:a16="http://schemas.microsoft.com/office/drawing/2014/main" id="{33B5DA63-F594-D6D5-7930-7C48477932CF}"/>
              </a:ext>
            </a:extLst>
          </p:cNvPr>
          <p:cNvGraphicFramePr>
            <a:graphicFrameLocks noGrp="1"/>
          </p:cNvGraphicFramePr>
          <p:nvPr>
            <p:extLst>
              <p:ext uri="{D42A27DB-BD31-4B8C-83A1-F6EECF244321}">
                <p14:modId xmlns:p14="http://schemas.microsoft.com/office/powerpoint/2010/main" val="2218864594"/>
              </p:ext>
            </p:extLst>
          </p:nvPr>
        </p:nvGraphicFramePr>
        <p:xfrm>
          <a:off x="720303" y="1109255"/>
          <a:ext cx="10751394" cy="4119880"/>
        </p:xfrm>
        <a:graphic>
          <a:graphicData uri="http://schemas.openxmlformats.org/drawingml/2006/table">
            <a:tbl>
              <a:tblPr firstRow="1" bandRow="1">
                <a:tableStyleId>{5C22544A-7EE6-4342-B048-85BDC9FD1C3A}</a:tableStyleId>
              </a:tblPr>
              <a:tblGrid>
                <a:gridCol w="2351314">
                  <a:extLst>
                    <a:ext uri="{9D8B030D-6E8A-4147-A177-3AD203B41FA5}">
                      <a16:colId xmlns:a16="http://schemas.microsoft.com/office/drawing/2014/main" val="3256438910"/>
                    </a:ext>
                  </a:extLst>
                </a:gridCol>
                <a:gridCol w="4815051">
                  <a:extLst>
                    <a:ext uri="{9D8B030D-6E8A-4147-A177-3AD203B41FA5}">
                      <a16:colId xmlns:a16="http://schemas.microsoft.com/office/drawing/2014/main" val="3530830578"/>
                    </a:ext>
                  </a:extLst>
                </a:gridCol>
                <a:gridCol w="3585029">
                  <a:extLst>
                    <a:ext uri="{9D8B030D-6E8A-4147-A177-3AD203B41FA5}">
                      <a16:colId xmlns:a16="http://schemas.microsoft.com/office/drawing/2014/main" val="1946276534"/>
                    </a:ext>
                  </a:extLst>
                </a:gridCol>
              </a:tblGrid>
              <a:tr h="370840">
                <a:tc>
                  <a:txBody>
                    <a:bodyPr/>
                    <a:lstStyle/>
                    <a:p>
                      <a:r>
                        <a:rPr lang="en-US" dirty="0"/>
                        <a:t>Criterion</a:t>
                      </a:r>
                      <a:endParaRPr lang="en-AU" dirty="0"/>
                    </a:p>
                  </a:txBody>
                  <a:tcPr/>
                </a:tc>
                <a:tc>
                  <a:txBody>
                    <a:bodyPr/>
                    <a:lstStyle/>
                    <a:p>
                      <a:r>
                        <a:rPr lang="en-US" dirty="0"/>
                        <a:t>Manual Tree</a:t>
                      </a:r>
                      <a:endParaRPr lang="en-AU" dirty="0"/>
                    </a:p>
                  </a:txBody>
                  <a:tcPr/>
                </a:tc>
                <a:tc>
                  <a:txBody>
                    <a:bodyPr/>
                    <a:lstStyle/>
                    <a:p>
                      <a:r>
                        <a:rPr lang="en-US" dirty="0"/>
                        <a:t>ChatGPT Tree</a:t>
                      </a:r>
                      <a:endParaRPr lang="en-AU" dirty="0"/>
                    </a:p>
                  </a:txBody>
                  <a:tcPr/>
                </a:tc>
                <a:extLst>
                  <a:ext uri="{0D108BD9-81ED-4DB2-BD59-A6C34878D82A}">
                    <a16:rowId xmlns:a16="http://schemas.microsoft.com/office/drawing/2014/main" val="3982473626"/>
                  </a:ext>
                </a:extLst>
              </a:tr>
              <a:tr h="370840">
                <a:tc>
                  <a:txBody>
                    <a:bodyPr/>
                    <a:lstStyle/>
                    <a:p>
                      <a:r>
                        <a:rPr lang="en-US" dirty="0"/>
                        <a:t>Evidence</a:t>
                      </a:r>
                      <a:endParaRPr lang="en-AU" dirty="0"/>
                    </a:p>
                  </a:txBody>
                  <a:tcPr/>
                </a:tc>
                <a:tc>
                  <a:txBody>
                    <a:bodyPr/>
                    <a:lstStyle/>
                    <a:p>
                      <a:r>
                        <a:rPr lang="en-US" dirty="0"/>
                        <a:t>Includes sources, page numbers and evidence status beside each leaf</a:t>
                      </a:r>
                      <a:endParaRPr lang="en-AU" dirty="0"/>
                    </a:p>
                  </a:txBody>
                  <a:tcPr/>
                </a:tc>
                <a:tc>
                  <a:txBody>
                    <a:bodyPr/>
                    <a:lstStyle/>
                    <a:p>
                      <a:r>
                        <a:rPr lang="en-US" dirty="0"/>
                        <a:t>No evidence status inside the tree</a:t>
                      </a:r>
                      <a:endParaRPr lang="en-AU" dirty="0"/>
                    </a:p>
                  </a:txBody>
                  <a:tcPr/>
                </a:tc>
                <a:extLst>
                  <a:ext uri="{0D108BD9-81ED-4DB2-BD59-A6C34878D82A}">
                    <a16:rowId xmlns:a16="http://schemas.microsoft.com/office/drawing/2014/main" val="3098917778"/>
                  </a:ext>
                </a:extLst>
              </a:tr>
              <a:tr h="370840">
                <a:tc>
                  <a:txBody>
                    <a:bodyPr/>
                    <a:lstStyle/>
                    <a:p>
                      <a:r>
                        <a:rPr lang="en-US" dirty="0"/>
                        <a:t>Structure</a:t>
                      </a:r>
                      <a:endParaRPr lang="en-AU" dirty="0"/>
                    </a:p>
                  </a:txBody>
                  <a:tcPr/>
                </a:tc>
                <a:tc>
                  <a:txBody>
                    <a:bodyPr/>
                    <a:lstStyle/>
                    <a:p>
                      <a:r>
                        <a:rPr lang="en-US" dirty="0"/>
                        <a:t>Separate initial access, enterprise expansion, coercive impact and demand</a:t>
                      </a:r>
                      <a:endParaRPr lang="en-AU" dirty="0"/>
                    </a:p>
                  </a:txBody>
                  <a:tcPr/>
                </a:tc>
                <a:tc>
                  <a:txBody>
                    <a:bodyPr/>
                    <a:lstStyle/>
                    <a:p>
                      <a:r>
                        <a:rPr lang="en-US" dirty="0"/>
                        <a:t>Provides a clear overview but combines access and lateral movement</a:t>
                      </a:r>
                      <a:endParaRPr lang="en-AU" dirty="0"/>
                    </a:p>
                  </a:txBody>
                  <a:tcPr/>
                </a:tc>
                <a:extLst>
                  <a:ext uri="{0D108BD9-81ED-4DB2-BD59-A6C34878D82A}">
                    <a16:rowId xmlns:a16="http://schemas.microsoft.com/office/drawing/2014/main" val="2452342245"/>
                  </a:ext>
                </a:extLst>
              </a:tr>
              <a:tr h="370840">
                <a:tc>
                  <a:txBody>
                    <a:bodyPr/>
                    <a:lstStyle/>
                    <a:p>
                      <a:r>
                        <a:rPr lang="en-US" dirty="0"/>
                        <a:t>Control weaknesses</a:t>
                      </a:r>
                      <a:endParaRPr lang="en-AU" dirty="0"/>
                    </a:p>
                  </a:txBody>
                  <a:tcPr/>
                </a:tc>
                <a:tc>
                  <a:txBody>
                    <a:bodyPr/>
                    <a:lstStyle/>
                    <a:p>
                      <a:r>
                        <a:rPr lang="en-US" dirty="0"/>
                        <a:t>Places the absence of MFA outside the tree as a control weakness</a:t>
                      </a:r>
                      <a:endParaRPr lang="en-AU" dirty="0"/>
                    </a:p>
                  </a:txBody>
                  <a:tcPr/>
                </a:tc>
                <a:tc>
                  <a:txBody>
                    <a:bodyPr/>
                    <a:lstStyle/>
                    <a:p>
                      <a:r>
                        <a:rPr lang="en-US" dirty="0"/>
                        <a:t>Combines the attacker action and absence of MFA in one node</a:t>
                      </a:r>
                      <a:endParaRPr lang="en-AU" dirty="0"/>
                    </a:p>
                  </a:txBody>
                  <a:tcPr/>
                </a:tc>
                <a:extLst>
                  <a:ext uri="{0D108BD9-81ED-4DB2-BD59-A6C34878D82A}">
                    <a16:rowId xmlns:a16="http://schemas.microsoft.com/office/drawing/2014/main" val="2713475118"/>
                  </a:ext>
                </a:extLst>
              </a:tr>
              <a:tr h="370840">
                <a:tc>
                  <a:txBody>
                    <a:bodyPr/>
                    <a:lstStyle/>
                    <a:p>
                      <a:r>
                        <a:rPr lang="en-US" dirty="0"/>
                        <a:t>Uncertainty</a:t>
                      </a:r>
                      <a:endParaRPr lang="en-AU" dirty="0"/>
                    </a:p>
                  </a:txBody>
                  <a:tcPr/>
                </a:tc>
                <a:tc>
                  <a:txBody>
                    <a:bodyPr/>
                    <a:lstStyle/>
                    <a:p>
                      <a:r>
                        <a:rPr lang="en-US" dirty="0"/>
                        <a:t>Marks credential acquisition and undisclosed mechanisms as U</a:t>
                      </a:r>
                      <a:endParaRPr lang="en-AU" dirty="0"/>
                    </a:p>
                  </a:txBody>
                  <a:tcPr/>
                </a:tc>
                <a:tc>
                  <a:txBody>
                    <a:bodyPr/>
                    <a:lstStyle/>
                    <a:p>
                      <a:r>
                        <a:rPr lang="en-US" dirty="0"/>
                        <a:t>Avoids assuming phishing but does not visibly mark every evidence gap</a:t>
                      </a:r>
                      <a:endParaRPr lang="en-AU" dirty="0"/>
                    </a:p>
                  </a:txBody>
                  <a:tcPr/>
                </a:tc>
                <a:extLst>
                  <a:ext uri="{0D108BD9-81ED-4DB2-BD59-A6C34878D82A}">
                    <a16:rowId xmlns:a16="http://schemas.microsoft.com/office/drawing/2014/main" val="636068908"/>
                  </a:ext>
                </a:extLst>
              </a:tr>
              <a:tr h="370840">
                <a:tc>
                  <a:txBody>
                    <a:bodyPr/>
                    <a:lstStyle/>
                    <a:p>
                      <a:r>
                        <a:rPr lang="en-US" dirty="0"/>
                        <a:t>Main limitation</a:t>
                      </a:r>
                      <a:endParaRPr lang="en-AU" dirty="0"/>
                    </a:p>
                  </a:txBody>
                  <a:tcPr/>
                </a:tc>
                <a:tc>
                  <a:txBody>
                    <a:bodyPr/>
                    <a:lstStyle/>
                    <a:p>
                      <a:r>
                        <a:rPr lang="en-US" dirty="0"/>
                        <a:t>Detailed structure makes the diagram visually dense</a:t>
                      </a:r>
                      <a:endParaRPr lang="en-AU" dirty="0"/>
                    </a:p>
                  </a:txBody>
                  <a:tcPr/>
                </a:tc>
                <a:tc>
                  <a:txBody>
                    <a:bodyPr/>
                    <a:lstStyle/>
                    <a:p>
                      <a:r>
                        <a:rPr lang="en-US" dirty="0"/>
                        <a:t>Simplifies the incident and omits several post-access mechanisms </a:t>
                      </a:r>
                      <a:endParaRPr lang="en-AU" dirty="0"/>
                    </a:p>
                  </a:txBody>
                  <a:tcPr/>
                </a:tc>
                <a:extLst>
                  <a:ext uri="{0D108BD9-81ED-4DB2-BD59-A6C34878D82A}">
                    <a16:rowId xmlns:a16="http://schemas.microsoft.com/office/drawing/2014/main" val="263913899"/>
                  </a:ext>
                </a:extLst>
              </a:tr>
            </a:tbl>
          </a:graphicData>
        </a:graphic>
      </p:graphicFrame>
      <p:sp>
        <p:nvSpPr>
          <p:cNvPr id="8" name="TextBox 7">
            <a:extLst>
              <a:ext uri="{FF2B5EF4-FFF2-40B4-BE49-F238E27FC236}">
                <a16:creationId xmlns:a16="http://schemas.microsoft.com/office/drawing/2014/main" id="{533EA254-B7E0-2B7B-B04A-60D03DE7C095}"/>
              </a:ext>
            </a:extLst>
          </p:cNvPr>
          <p:cNvSpPr txBox="1"/>
          <p:nvPr/>
        </p:nvSpPr>
        <p:spPr>
          <a:xfrm>
            <a:off x="1908628" y="5276670"/>
            <a:ext cx="8374744" cy="954107"/>
          </a:xfrm>
          <a:prstGeom prst="rect">
            <a:avLst/>
          </a:prstGeom>
          <a:noFill/>
        </p:spPr>
        <p:txBody>
          <a:bodyPr wrap="square" rtlCol="0">
            <a:spAutoFit/>
          </a:bodyPr>
          <a:lstStyle/>
          <a:p>
            <a:pPr algn="ctr"/>
            <a:r>
              <a:rPr lang="en-US" sz="1400" b="1" dirty="0">
                <a:highlight>
                  <a:srgbClr val="008000"/>
                </a:highlight>
              </a:rPr>
              <a:t>Synthesis decision:</a:t>
            </a:r>
            <a:br>
              <a:rPr lang="en-US" sz="1400" dirty="0">
                <a:highlight>
                  <a:srgbClr val="008000"/>
                </a:highlight>
              </a:rPr>
            </a:br>
            <a:r>
              <a:rPr lang="en-US" sz="1400" dirty="0">
                <a:highlight>
                  <a:srgbClr val="008000"/>
                </a:highlight>
              </a:rPr>
              <a:t>Used the manual tree as the evidence base. Kept ChatGPT’s clear separation between encryption pressure and stolen data pressure. Moved lateral movement into the enterprise expansion branch, annotated the missing MFA as a control weakness and preserved undisclosed mechanisms as U</a:t>
            </a:r>
            <a:endParaRPr lang="en-AU" sz="1400" dirty="0">
              <a:highlight>
                <a:srgbClr val="008000"/>
              </a:highlight>
            </a:endParaRPr>
          </a:p>
        </p:txBody>
      </p:sp>
      <p:sp>
        <p:nvSpPr>
          <p:cNvPr id="10" name="TextBox 9">
            <a:extLst>
              <a:ext uri="{FF2B5EF4-FFF2-40B4-BE49-F238E27FC236}">
                <a16:creationId xmlns:a16="http://schemas.microsoft.com/office/drawing/2014/main" id="{E96ACD14-B300-566A-32AF-3ACFE8CD4BE6}"/>
              </a:ext>
            </a:extLst>
          </p:cNvPr>
          <p:cNvSpPr txBox="1"/>
          <p:nvPr/>
        </p:nvSpPr>
        <p:spPr>
          <a:xfrm>
            <a:off x="0" y="6427113"/>
            <a:ext cx="6821713" cy="430887"/>
          </a:xfrm>
          <a:prstGeom prst="rect">
            <a:avLst/>
          </a:prstGeom>
          <a:noFill/>
        </p:spPr>
        <p:txBody>
          <a:bodyPr wrap="square" rtlCol="0">
            <a:spAutoFit/>
          </a:bodyPr>
          <a:lstStyle/>
          <a:p>
            <a:r>
              <a:rPr lang="en-AU" sz="1050" dirty="0"/>
              <a:t>Sources: Comparison based on Witty (2024, pp. 2–3), UnitedHealth Group (2024) and ChatGPT output, Full models and LLM prompt provided in the appendix.</a:t>
            </a:r>
          </a:p>
        </p:txBody>
      </p:sp>
    </p:spTree>
    <p:extLst>
      <p:ext uri="{BB962C8B-B14F-4D97-AF65-F5344CB8AC3E}">
        <p14:creationId xmlns:p14="http://schemas.microsoft.com/office/powerpoint/2010/main" val="3885288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A133859-0BDD-2314-5125-23B0BF7B7E82}"/>
              </a:ext>
            </a:extLst>
          </p:cNvPr>
          <p:cNvSpPr txBox="1"/>
          <p:nvPr/>
        </p:nvSpPr>
        <p:spPr>
          <a:xfrm>
            <a:off x="1270000" y="314463"/>
            <a:ext cx="9652000" cy="523220"/>
          </a:xfrm>
          <a:prstGeom prst="rect">
            <a:avLst/>
          </a:prstGeom>
          <a:noFill/>
        </p:spPr>
        <p:txBody>
          <a:bodyPr wrap="square">
            <a:spAutoFit/>
          </a:bodyPr>
          <a:lstStyle/>
          <a:p>
            <a:pPr algn="ctr"/>
            <a:r>
              <a:rPr lang="en-US" sz="2800" b="1" dirty="0"/>
              <a:t>Change Healthcare Case </a:t>
            </a:r>
            <a:r>
              <a:rPr lang="en-US" sz="2800" b="1" dirty="0" err="1"/>
              <a:t>Synthesised</a:t>
            </a:r>
            <a:r>
              <a:rPr lang="en-US" sz="2800" b="1" dirty="0"/>
              <a:t> Attack Tree</a:t>
            </a:r>
            <a:endParaRPr lang="en-AU" dirty="0"/>
          </a:p>
        </p:txBody>
      </p:sp>
      <p:pic>
        <p:nvPicPr>
          <p:cNvPr id="7" name="Picture 6">
            <a:extLst>
              <a:ext uri="{FF2B5EF4-FFF2-40B4-BE49-F238E27FC236}">
                <a16:creationId xmlns:a16="http://schemas.microsoft.com/office/drawing/2014/main" id="{D7F0C416-1FAA-EC77-41E7-962E85EF753B}"/>
              </a:ext>
            </a:extLst>
          </p:cNvPr>
          <p:cNvPicPr>
            <a:picLocks noChangeAspect="1"/>
          </p:cNvPicPr>
          <p:nvPr/>
        </p:nvPicPr>
        <p:blipFill>
          <a:blip r:embed="rId3"/>
          <a:stretch>
            <a:fillRect/>
          </a:stretch>
        </p:blipFill>
        <p:spPr>
          <a:xfrm>
            <a:off x="2044813" y="1103086"/>
            <a:ext cx="8102374" cy="4234810"/>
          </a:xfrm>
          <a:prstGeom prst="rect">
            <a:avLst/>
          </a:prstGeom>
        </p:spPr>
      </p:pic>
      <p:sp>
        <p:nvSpPr>
          <p:cNvPr id="8" name="TextBox 7">
            <a:extLst>
              <a:ext uri="{FF2B5EF4-FFF2-40B4-BE49-F238E27FC236}">
                <a16:creationId xmlns:a16="http://schemas.microsoft.com/office/drawing/2014/main" id="{E7C41265-1E51-67AE-511A-D1FFE048AD7E}"/>
              </a:ext>
            </a:extLst>
          </p:cNvPr>
          <p:cNvSpPr txBox="1"/>
          <p:nvPr/>
        </p:nvSpPr>
        <p:spPr>
          <a:xfrm>
            <a:off x="3360057" y="5603299"/>
            <a:ext cx="5471886" cy="646331"/>
          </a:xfrm>
          <a:prstGeom prst="rect">
            <a:avLst/>
          </a:prstGeom>
          <a:noFill/>
        </p:spPr>
        <p:txBody>
          <a:bodyPr wrap="square" rtlCol="0">
            <a:spAutoFit/>
          </a:bodyPr>
          <a:lstStyle/>
          <a:p>
            <a:pPr algn="ctr"/>
            <a:r>
              <a:rPr lang="en-AU" dirty="0"/>
              <a:t>Simplified presentation view. Full model provided in Appendix F.</a:t>
            </a:r>
          </a:p>
        </p:txBody>
      </p:sp>
    </p:spTree>
    <p:extLst>
      <p:ext uri="{BB962C8B-B14F-4D97-AF65-F5344CB8AC3E}">
        <p14:creationId xmlns:p14="http://schemas.microsoft.com/office/powerpoint/2010/main" val="7065445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437D8-1C91-548B-7737-DE87EB7A7A4F}"/>
              </a:ext>
            </a:extLst>
          </p:cNvPr>
          <p:cNvSpPr>
            <a:spLocks noGrp="1"/>
          </p:cNvSpPr>
          <p:nvPr>
            <p:ph type="title"/>
          </p:nvPr>
        </p:nvSpPr>
        <p:spPr>
          <a:xfrm>
            <a:off x="1933525" y="0"/>
            <a:ext cx="8324950" cy="677203"/>
          </a:xfrm>
        </p:spPr>
        <p:txBody>
          <a:bodyPr>
            <a:normAutofit fontScale="90000"/>
          </a:bodyPr>
          <a:lstStyle/>
          <a:p>
            <a:pPr algn="ctr"/>
            <a:r>
              <a:rPr lang="en-AU" b="1" dirty="0"/>
              <a:t>Change Healthcare Case-Synthesised Attack Tree Analysis</a:t>
            </a:r>
          </a:p>
        </p:txBody>
      </p:sp>
      <p:sp>
        <p:nvSpPr>
          <p:cNvPr id="4" name="TextBox 3">
            <a:extLst>
              <a:ext uri="{FF2B5EF4-FFF2-40B4-BE49-F238E27FC236}">
                <a16:creationId xmlns:a16="http://schemas.microsoft.com/office/drawing/2014/main" id="{EF8E7DB6-9F00-E77B-43D6-31B11456A6F7}"/>
              </a:ext>
            </a:extLst>
          </p:cNvPr>
          <p:cNvSpPr txBox="1"/>
          <p:nvPr/>
        </p:nvSpPr>
        <p:spPr>
          <a:xfrm>
            <a:off x="420913" y="907543"/>
            <a:ext cx="11350171" cy="2031325"/>
          </a:xfrm>
          <a:prstGeom prst="rect">
            <a:avLst/>
          </a:prstGeom>
          <a:noFill/>
        </p:spPr>
        <p:txBody>
          <a:bodyPr wrap="square" rtlCol="0">
            <a:spAutoFit/>
          </a:bodyPr>
          <a:lstStyle/>
          <a:p>
            <a:pPr algn="ctr"/>
            <a:r>
              <a:rPr lang="en-US" b="1" dirty="0"/>
              <a:t>Key Interpretation</a:t>
            </a:r>
            <a:br>
              <a:rPr lang="en-US" b="1" dirty="0"/>
            </a:br>
            <a:r>
              <a:rPr lang="en-US" dirty="0"/>
              <a:t>The root uses AND because the attacker required access, enterprise expansion, coercive impact and communication of the demand.</a:t>
            </a:r>
            <a:br>
              <a:rPr lang="en-US" dirty="0"/>
            </a:br>
            <a:r>
              <a:rPr lang="en-US" dirty="0"/>
              <a:t>Initial access as strong evidence: attackers used compromised credentials to enter the Citrix Portal.</a:t>
            </a:r>
          </a:p>
          <a:p>
            <a:pPr algn="ctr"/>
            <a:r>
              <a:rPr lang="en-US" dirty="0"/>
              <a:t>The method used to obtain those credentials remains unknown.</a:t>
            </a:r>
          </a:p>
          <a:p>
            <a:pPr algn="ctr"/>
            <a:r>
              <a:rPr lang="en-US" dirty="0"/>
              <a:t>Encryption and stolen data form OR branches because either could create extortion pressure. Both occurred in this incident.</a:t>
            </a:r>
            <a:endParaRPr lang="en-AU" dirty="0"/>
          </a:p>
        </p:txBody>
      </p:sp>
      <p:sp>
        <p:nvSpPr>
          <p:cNvPr id="5" name="TextBox 4">
            <a:extLst>
              <a:ext uri="{FF2B5EF4-FFF2-40B4-BE49-F238E27FC236}">
                <a16:creationId xmlns:a16="http://schemas.microsoft.com/office/drawing/2014/main" id="{F52E294A-51E8-F819-FD18-0AC48E3A42F7}"/>
              </a:ext>
            </a:extLst>
          </p:cNvPr>
          <p:cNvSpPr txBox="1"/>
          <p:nvPr/>
        </p:nvSpPr>
        <p:spPr>
          <a:xfrm>
            <a:off x="3026224" y="2938868"/>
            <a:ext cx="6139543" cy="646331"/>
          </a:xfrm>
          <a:prstGeom prst="rect">
            <a:avLst/>
          </a:prstGeom>
          <a:noFill/>
        </p:spPr>
        <p:txBody>
          <a:bodyPr wrap="square" rtlCol="0">
            <a:spAutoFit/>
          </a:bodyPr>
          <a:lstStyle/>
          <a:p>
            <a:pPr algn="ctr"/>
            <a:r>
              <a:rPr lang="en-US" b="1" dirty="0"/>
              <a:t>Confirmed control weakness</a:t>
            </a:r>
            <a:br>
              <a:rPr lang="en-US" b="1" dirty="0"/>
            </a:br>
            <a:r>
              <a:rPr lang="en-US" dirty="0"/>
              <a:t>The Citrix portal did not require multifactor authentication</a:t>
            </a:r>
            <a:endParaRPr lang="en-AU" b="1" dirty="0"/>
          </a:p>
        </p:txBody>
      </p:sp>
      <p:sp>
        <p:nvSpPr>
          <p:cNvPr id="6" name="TextBox 5">
            <a:extLst>
              <a:ext uri="{FF2B5EF4-FFF2-40B4-BE49-F238E27FC236}">
                <a16:creationId xmlns:a16="http://schemas.microsoft.com/office/drawing/2014/main" id="{6DB88A44-6AF7-DC42-6E0E-62E1615FE494}"/>
              </a:ext>
            </a:extLst>
          </p:cNvPr>
          <p:cNvSpPr txBox="1"/>
          <p:nvPr/>
        </p:nvSpPr>
        <p:spPr>
          <a:xfrm>
            <a:off x="3701137" y="3585199"/>
            <a:ext cx="4789715" cy="1754326"/>
          </a:xfrm>
          <a:prstGeom prst="rect">
            <a:avLst/>
          </a:prstGeom>
          <a:noFill/>
        </p:spPr>
        <p:txBody>
          <a:bodyPr wrap="square" rtlCol="0">
            <a:spAutoFit/>
          </a:bodyPr>
          <a:lstStyle/>
          <a:p>
            <a:pPr algn="ctr"/>
            <a:r>
              <a:rPr lang="en-US" b="1" dirty="0"/>
              <a:t>Remaining evidence gaps</a:t>
            </a:r>
            <a:br>
              <a:rPr lang="en-US" dirty="0"/>
            </a:br>
            <a:r>
              <a:rPr lang="en-US" dirty="0"/>
              <a:t>Credential acquisition method: U</a:t>
            </a:r>
            <a:br>
              <a:rPr lang="en-US" dirty="0"/>
            </a:br>
            <a:r>
              <a:rPr lang="en-US" dirty="0"/>
              <a:t>Persistence mechanism: U</a:t>
            </a:r>
            <a:br>
              <a:rPr lang="en-US" dirty="0"/>
            </a:br>
            <a:r>
              <a:rPr lang="en-US" dirty="0"/>
              <a:t>Privilege escalation and lateral-movement methods: U</a:t>
            </a:r>
            <a:br>
              <a:rPr lang="en-US" dirty="0"/>
            </a:br>
            <a:r>
              <a:rPr lang="en-US" dirty="0"/>
              <a:t>Detailed data-exfiltration route: U</a:t>
            </a:r>
            <a:endParaRPr lang="en-AU" dirty="0"/>
          </a:p>
        </p:txBody>
      </p:sp>
      <p:sp>
        <p:nvSpPr>
          <p:cNvPr id="7" name="TextBox 6">
            <a:extLst>
              <a:ext uri="{FF2B5EF4-FFF2-40B4-BE49-F238E27FC236}">
                <a16:creationId xmlns:a16="http://schemas.microsoft.com/office/drawing/2014/main" id="{2CEA7213-D821-0EA1-5282-CB6A1362F9F5}"/>
              </a:ext>
            </a:extLst>
          </p:cNvPr>
          <p:cNvSpPr txBox="1"/>
          <p:nvPr/>
        </p:nvSpPr>
        <p:spPr>
          <a:xfrm>
            <a:off x="2140848" y="5488792"/>
            <a:ext cx="7910292" cy="923330"/>
          </a:xfrm>
          <a:prstGeom prst="rect">
            <a:avLst/>
          </a:prstGeom>
          <a:noFill/>
        </p:spPr>
        <p:txBody>
          <a:bodyPr wrap="square" rtlCol="0">
            <a:spAutoFit/>
          </a:bodyPr>
          <a:lstStyle/>
          <a:p>
            <a:pPr algn="ctr"/>
            <a:r>
              <a:rPr lang="en-US" b="1" dirty="0"/>
              <a:t>Key finding: </a:t>
            </a:r>
            <a:r>
              <a:rPr lang="en-US" dirty="0"/>
              <a:t>Public evidence clearly establishes the initial entry and resulting impact, but provides limited details about the attacker’s activity between those stages</a:t>
            </a:r>
            <a:endParaRPr lang="en-AU" dirty="0"/>
          </a:p>
        </p:txBody>
      </p:sp>
      <p:sp>
        <p:nvSpPr>
          <p:cNvPr id="8" name="TextBox 7">
            <a:extLst>
              <a:ext uri="{FF2B5EF4-FFF2-40B4-BE49-F238E27FC236}">
                <a16:creationId xmlns:a16="http://schemas.microsoft.com/office/drawing/2014/main" id="{84360A82-52E7-5B31-DF12-219B8E929D87}"/>
              </a:ext>
            </a:extLst>
          </p:cNvPr>
          <p:cNvSpPr txBox="1"/>
          <p:nvPr/>
        </p:nvSpPr>
        <p:spPr>
          <a:xfrm>
            <a:off x="0" y="6588695"/>
            <a:ext cx="11016343" cy="538609"/>
          </a:xfrm>
          <a:prstGeom prst="rect">
            <a:avLst/>
          </a:prstGeom>
          <a:noFill/>
        </p:spPr>
        <p:txBody>
          <a:bodyPr wrap="square" rtlCol="0">
            <a:spAutoFit/>
          </a:bodyPr>
          <a:lstStyle/>
          <a:p>
            <a:r>
              <a:rPr lang="en-AU" sz="1100" i="1" dirty="0"/>
              <a:t>Sources: Synthesis based on Witty (2024, pp. 2–3), Fliegelman and Stemp (2024, pp. 1–6) and UnitedHealth Group (2024). Full model in Appendix F.</a:t>
            </a:r>
          </a:p>
          <a:p>
            <a:endParaRPr lang="en-AU" dirty="0"/>
          </a:p>
        </p:txBody>
      </p:sp>
    </p:spTree>
    <p:extLst>
      <p:ext uri="{BB962C8B-B14F-4D97-AF65-F5344CB8AC3E}">
        <p14:creationId xmlns:p14="http://schemas.microsoft.com/office/powerpoint/2010/main" val="13519022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4A459-856B-B0ED-FF57-3E9A1D981D76}"/>
              </a:ext>
            </a:extLst>
          </p:cNvPr>
          <p:cNvSpPr>
            <a:spLocks noGrp="1"/>
          </p:cNvSpPr>
          <p:nvPr>
            <p:ph type="title"/>
          </p:nvPr>
        </p:nvSpPr>
        <p:spPr>
          <a:xfrm>
            <a:off x="301752" y="-175889"/>
            <a:ext cx="11604046" cy="969206"/>
          </a:xfrm>
        </p:spPr>
        <p:txBody>
          <a:bodyPr/>
          <a:lstStyle/>
          <a:p>
            <a:pPr algn="ctr"/>
            <a:r>
              <a:rPr lang="en-US" b="1" dirty="0"/>
              <a:t>Cross Incident Comparison</a:t>
            </a:r>
            <a:endParaRPr lang="en-AU" b="1" dirty="0"/>
          </a:p>
        </p:txBody>
      </p:sp>
      <p:graphicFrame>
        <p:nvGraphicFramePr>
          <p:cNvPr id="4" name="Table 3">
            <a:extLst>
              <a:ext uri="{FF2B5EF4-FFF2-40B4-BE49-F238E27FC236}">
                <a16:creationId xmlns:a16="http://schemas.microsoft.com/office/drawing/2014/main" id="{BC3BF296-17B6-0B90-4852-2FD62AA3AFF0}"/>
              </a:ext>
            </a:extLst>
          </p:cNvPr>
          <p:cNvGraphicFramePr>
            <a:graphicFrameLocks noGrp="1"/>
          </p:cNvGraphicFramePr>
          <p:nvPr>
            <p:extLst>
              <p:ext uri="{D42A27DB-BD31-4B8C-83A1-F6EECF244321}">
                <p14:modId xmlns:p14="http://schemas.microsoft.com/office/powerpoint/2010/main" val="331991723"/>
              </p:ext>
            </p:extLst>
          </p:nvPr>
        </p:nvGraphicFramePr>
        <p:xfrm>
          <a:off x="145143" y="973436"/>
          <a:ext cx="11887200" cy="4455160"/>
        </p:xfrm>
        <a:graphic>
          <a:graphicData uri="http://schemas.openxmlformats.org/drawingml/2006/table">
            <a:tbl>
              <a:tblPr firstRow="1" bandRow="1">
                <a:tableStyleId>{5C22544A-7EE6-4342-B048-85BDC9FD1C3A}</a:tableStyleId>
              </a:tblPr>
              <a:tblGrid>
                <a:gridCol w="1944914">
                  <a:extLst>
                    <a:ext uri="{9D8B030D-6E8A-4147-A177-3AD203B41FA5}">
                      <a16:colId xmlns:a16="http://schemas.microsoft.com/office/drawing/2014/main" val="2390819338"/>
                    </a:ext>
                  </a:extLst>
                </a:gridCol>
                <a:gridCol w="3831772">
                  <a:extLst>
                    <a:ext uri="{9D8B030D-6E8A-4147-A177-3AD203B41FA5}">
                      <a16:colId xmlns:a16="http://schemas.microsoft.com/office/drawing/2014/main" val="394093924"/>
                    </a:ext>
                  </a:extLst>
                </a:gridCol>
                <a:gridCol w="3701142">
                  <a:extLst>
                    <a:ext uri="{9D8B030D-6E8A-4147-A177-3AD203B41FA5}">
                      <a16:colId xmlns:a16="http://schemas.microsoft.com/office/drawing/2014/main" val="2251746983"/>
                    </a:ext>
                  </a:extLst>
                </a:gridCol>
                <a:gridCol w="2409372">
                  <a:extLst>
                    <a:ext uri="{9D8B030D-6E8A-4147-A177-3AD203B41FA5}">
                      <a16:colId xmlns:a16="http://schemas.microsoft.com/office/drawing/2014/main" val="3114554752"/>
                    </a:ext>
                  </a:extLst>
                </a:gridCol>
              </a:tblGrid>
              <a:tr h="370840">
                <a:tc>
                  <a:txBody>
                    <a:bodyPr/>
                    <a:lstStyle/>
                    <a:p>
                      <a:pPr algn="ctr"/>
                      <a:r>
                        <a:rPr lang="en-US" sz="1400" dirty="0"/>
                        <a:t>Attack Dimension</a:t>
                      </a:r>
                      <a:endParaRPr lang="en-AU" sz="1400" dirty="0"/>
                    </a:p>
                  </a:txBody>
                  <a:tcPr/>
                </a:tc>
                <a:tc>
                  <a:txBody>
                    <a:bodyPr/>
                    <a:lstStyle/>
                    <a:p>
                      <a:pPr algn="ctr"/>
                      <a:r>
                        <a:rPr lang="en-US" sz="1400" dirty="0"/>
                        <a:t>HSE, 2021</a:t>
                      </a:r>
                      <a:endParaRPr lang="en-AU" sz="1400" dirty="0"/>
                    </a:p>
                  </a:txBody>
                  <a:tcPr/>
                </a:tc>
                <a:tc>
                  <a:txBody>
                    <a:bodyPr/>
                    <a:lstStyle/>
                    <a:p>
                      <a:pPr algn="ctr"/>
                      <a:r>
                        <a:rPr lang="en-US" sz="1400" dirty="0"/>
                        <a:t>Change Healthcare, 2024</a:t>
                      </a:r>
                      <a:endParaRPr lang="en-AU" sz="1400" dirty="0"/>
                    </a:p>
                  </a:txBody>
                  <a:tcPr/>
                </a:tc>
                <a:tc>
                  <a:txBody>
                    <a:bodyPr/>
                    <a:lstStyle/>
                    <a:p>
                      <a:pPr algn="ctr"/>
                      <a:r>
                        <a:rPr lang="en-US" sz="1400" dirty="0"/>
                        <a:t>Cross incident conclusion</a:t>
                      </a:r>
                      <a:endParaRPr lang="en-AU" sz="1400" dirty="0"/>
                    </a:p>
                  </a:txBody>
                  <a:tcPr/>
                </a:tc>
                <a:extLst>
                  <a:ext uri="{0D108BD9-81ED-4DB2-BD59-A6C34878D82A}">
                    <a16:rowId xmlns:a16="http://schemas.microsoft.com/office/drawing/2014/main" val="4145945735"/>
                  </a:ext>
                </a:extLst>
              </a:tr>
              <a:tr h="370840">
                <a:tc>
                  <a:txBody>
                    <a:bodyPr/>
                    <a:lstStyle/>
                    <a:p>
                      <a:pPr algn="ctr"/>
                      <a:r>
                        <a:rPr lang="en-US" sz="1400" dirty="0"/>
                        <a:t>Initial access</a:t>
                      </a:r>
                      <a:endParaRPr lang="en-AU" sz="1400" dirty="0"/>
                    </a:p>
                  </a:txBody>
                  <a:tcPr/>
                </a:tc>
                <a:tc>
                  <a:txBody>
                    <a:bodyPr/>
                    <a:lstStyle/>
                    <a:p>
                      <a:pPr algn="ctr"/>
                      <a:r>
                        <a:rPr lang="en-US" sz="1400" dirty="0"/>
                        <a:t>Malicious Excel attachment delivered through phishing</a:t>
                      </a:r>
                      <a:endParaRPr lang="en-AU" sz="1400" dirty="0"/>
                    </a:p>
                  </a:txBody>
                  <a:tcPr/>
                </a:tc>
                <a:tc>
                  <a:txBody>
                    <a:bodyPr/>
                    <a:lstStyle/>
                    <a:p>
                      <a:pPr algn="ctr"/>
                      <a:r>
                        <a:rPr lang="en-US" sz="1400" dirty="0"/>
                        <a:t>Compromised credentials used to access a Citrix portal without MFA</a:t>
                      </a:r>
                      <a:endParaRPr lang="en-AU" sz="1400" dirty="0"/>
                    </a:p>
                  </a:txBody>
                  <a:tcPr/>
                </a:tc>
                <a:tc>
                  <a:txBody>
                    <a:bodyPr/>
                    <a:lstStyle/>
                    <a:p>
                      <a:pPr algn="ctr"/>
                      <a:r>
                        <a:rPr lang="en-US" sz="1400" dirty="0"/>
                        <a:t>Ransomware can begin through different entry routes, represented as OR alternatives</a:t>
                      </a:r>
                      <a:endParaRPr lang="en-AU" sz="1400" dirty="0"/>
                    </a:p>
                  </a:txBody>
                  <a:tcPr/>
                </a:tc>
                <a:extLst>
                  <a:ext uri="{0D108BD9-81ED-4DB2-BD59-A6C34878D82A}">
                    <a16:rowId xmlns:a16="http://schemas.microsoft.com/office/drawing/2014/main" val="488209649"/>
                  </a:ext>
                </a:extLst>
              </a:tr>
              <a:tr h="370840">
                <a:tc>
                  <a:txBody>
                    <a:bodyPr/>
                    <a:lstStyle/>
                    <a:p>
                      <a:pPr algn="ctr"/>
                      <a:r>
                        <a:rPr lang="en-US" sz="1400" dirty="0"/>
                        <a:t>Enterprise expansion</a:t>
                      </a:r>
                      <a:endParaRPr lang="en-AU" sz="1400" dirty="0"/>
                    </a:p>
                  </a:txBody>
                  <a:tcPr/>
                </a:tc>
                <a:tc>
                  <a:txBody>
                    <a:bodyPr/>
                    <a:lstStyle/>
                    <a:p>
                      <a:pPr algn="ctr"/>
                      <a:r>
                        <a:rPr lang="en-US" sz="1400" dirty="0"/>
                        <a:t>AD reconnaissance, privileged accounts, trusted connections and vulnerability exploitation</a:t>
                      </a:r>
                      <a:endParaRPr lang="en-AU" sz="1400" dirty="0"/>
                    </a:p>
                  </a:txBody>
                  <a:tcPr/>
                </a:tc>
                <a:tc>
                  <a:txBody>
                    <a:bodyPr/>
                    <a:lstStyle/>
                    <a:p>
                      <a:pPr algn="ctr"/>
                      <a:r>
                        <a:rPr lang="en-US" sz="1400" dirty="0"/>
                        <a:t>Lateral movement and data theft reported, but detailed methods remain undisclosed</a:t>
                      </a:r>
                      <a:endParaRPr lang="en-AU" sz="1400" dirty="0"/>
                    </a:p>
                  </a:txBody>
                  <a:tcPr/>
                </a:tc>
                <a:tc>
                  <a:txBody>
                    <a:bodyPr/>
                    <a:lstStyle/>
                    <a:p>
                      <a:pPr algn="ctr"/>
                      <a:r>
                        <a:rPr lang="en-US" sz="1400" dirty="0"/>
                        <a:t>Enterprise access depends on identity, privilege and network reach</a:t>
                      </a:r>
                      <a:endParaRPr lang="en-AU" sz="1400" dirty="0"/>
                    </a:p>
                  </a:txBody>
                  <a:tcPr/>
                </a:tc>
                <a:extLst>
                  <a:ext uri="{0D108BD9-81ED-4DB2-BD59-A6C34878D82A}">
                    <a16:rowId xmlns:a16="http://schemas.microsoft.com/office/drawing/2014/main" val="4080973407"/>
                  </a:ext>
                </a:extLst>
              </a:tr>
              <a:tr h="370840">
                <a:tc>
                  <a:txBody>
                    <a:bodyPr/>
                    <a:lstStyle/>
                    <a:p>
                      <a:pPr algn="ctr"/>
                      <a:r>
                        <a:rPr lang="en-US" sz="1400" dirty="0"/>
                        <a:t>Coercive impact</a:t>
                      </a:r>
                      <a:endParaRPr lang="en-AU" sz="1400" dirty="0"/>
                    </a:p>
                  </a:txBody>
                  <a:tcPr/>
                </a:tc>
                <a:tc>
                  <a:txBody>
                    <a:bodyPr/>
                    <a:lstStyle/>
                    <a:p>
                      <a:pPr algn="ctr"/>
                      <a:r>
                        <a:rPr lang="en-US" sz="1400" dirty="0"/>
                        <a:t>Conti encryption combined with theft and publication of data</a:t>
                      </a:r>
                      <a:endParaRPr lang="en-AU" sz="1400" dirty="0"/>
                    </a:p>
                  </a:txBody>
                  <a:tcPr/>
                </a:tc>
                <a:tc>
                  <a:txBody>
                    <a:bodyPr/>
                    <a:lstStyle/>
                    <a:p>
                      <a:pPr algn="ctr"/>
                      <a:r>
                        <a:rPr lang="en-US" sz="1400" dirty="0"/>
                        <a:t>Ransomware combined with theft of personal and health information</a:t>
                      </a:r>
                      <a:endParaRPr lang="en-AU" sz="1400" dirty="0"/>
                    </a:p>
                  </a:txBody>
                  <a:tcPr/>
                </a:tc>
                <a:tc>
                  <a:txBody>
                    <a:bodyPr/>
                    <a:lstStyle/>
                    <a:p>
                      <a:pPr algn="ctr"/>
                      <a:r>
                        <a:rPr lang="en-US" sz="1400" dirty="0"/>
                        <a:t>Both incidents used availability and confidentiality pressure </a:t>
                      </a:r>
                      <a:endParaRPr lang="en-AU" sz="1400" dirty="0"/>
                    </a:p>
                  </a:txBody>
                  <a:tcPr/>
                </a:tc>
                <a:extLst>
                  <a:ext uri="{0D108BD9-81ED-4DB2-BD59-A6C34878D82A}">
                    <a16:rowId xmlns:a16="http://schemas.microsoft.com/office/drawing/2014/main" val="1501842751"/>
                  </a:ext>
                </a:extLst>
              </a:tr>
              <a:tr h="370840">
                <a:tc>
                  <a:txBody>
                    <a:bodyPr/>
                    <a:lstStyle/>
                    <a:p>
                      <a:pPr algn="ctr"/>
                      <a:r>
                        <a:rPr lang="en-US" sz="1400" dirty="0"/>
                        <a:t>Business exposure</a:t>
                      </a:r>
                      <a:endParaRPr lang="en-AU" sz="1400" dirty="0"/>
                    </a:p>
                  </a:txBody>
                  <a:tcPr/>
                </a:tc>
                <a:tc>
                  <a:txBody>
                    <a:bodyPr/>
                    <a:lstStyle/>
                    <a:p>
                      <a:pPr algn="ctr"/>
                      <a:r>
                        <a:rPr lang="en-US" sz="1400" dirty="0"/>
                        <a:t>Disruption across the national health service and connected hospitals</a:t>
                      </a:r>
                      <a:endParaRPr lang="en-AU" sz="1400" dirty="0"/>
                    </a:p>
                  </a:txBody>
                  <a:tcPr/>
                </a:tc>
                <a:tc>
                  <a:txBody>
                    <a:bodyPr/>
                    <a:lstStyle/>
                    <a:p>
                      <a:pPr algn="ctr"/>
                      <a:r>
                        <a:rPr lang="en-US" sz="1400" dirty="0"/>
                        <a:t>Disruption to claims, payments and pharmacy transactions across the healthcare sector</a:t>
                      </a:r>
                      <a:endParaRPr lang="en-AU" sz="1400" dirty="0"/>
                    </a:p>
                  </a:txBody>
                  <a:tcPr/>
                </a:tc>
                <a:tc>
                  <a:txBody>
                    <a:bodyPr/>
                    <a:lstStyle/>
                    <a:p>
                      <a:pPr algn="ctr"/>
                      <a:r>
                        <a:rPr lang="en-US" sz="1400" dirty="0"/>
                        <a:t>Healthcare dependencies increased the scale of downstream disruption</a:t>
                      </a:r>
                      <a:endParaRPr lang="en-AU" sz="1400" dirty="0"/>
                    </a:p>
                  </a:txBody>
                  <a:tcPr/>
                </a:tc>
                <a:extLst>
                  <a:ext uri="{0D108BD9-81ED-4DB2-BD59-A6C34878D82A}">
                    <a16:rowId xmlns:a16="http://schemas.microsoft.com/office/drawing/2014/main" val="188580283"/>
                  </a:ext>
                </a:extLst>
              </a:tr>
              <a:tr h="0">
                <a:tc>
                  <a:txBody>
                    <a:bodyPr/>
                    <a:lstStyle/>
                    <a:p>
                      <a:pPr algn="ctr"/>
                      <a:r>
                        <a:rPr lang="en-US" sz="1400" dirty="0"/>
                        <a:t>Evidence gaps</a:t>
                      </a:r>
                      <a:endParaRPr lang="en-AU" sz="1400" dirty="0"/>
                    </a:p>
                  </a:txBody>
                  <a:tcPr/>
                </a:tc>
                <a:tc>
                  <a:txBody>
                    <a:bodyPr/>
                    <a:lstStyle/>
                    <a:p>
                      <a:pPr algn="ctr"/>
                      <a:r>
                        <a:rPr lang="en-US" sz="1400" dirty="0"/>
                        <a:t>Persistence, hospital exploit and exfiltration mechanisms remain partly unknown or redacted</a:t>
                      </a:r>
                      <a:endParaRPr lang="en-AU" sz="1400" dirty="0"/>
                    </a:p>
                  </a:txBody>
                  <a:tcPr/>
                </a:tc>
                <a:tc>
                  <a:txBody>
                    <a:bodyPr/>
                    <a:lstStyle/>
                    <a:p>
                      <a:pPr algn="ctr"/>
                      <a:r>
                        <a:rPr lang="en-US" sz="1400" dirty="0"/>
                        <a:t>Credential acquisition and most post-access techniques remain unknown</a:t>
                      </a:r>
                      <a:endParaRPr lang="en-AU" sz="1400" dirty="0"/>
                    </a:p>
                  </a:txBody>
                  <a:tcPr/>
                </a:tc>
                <a:tc>
                  <a:txBody>
                    <a:bodyPr/>
                    <a:lstStyle/>
                    <a:p>
                      <a:pPr algn="ctr"/>
                      <a:r>
                        <a:rPr lang="en-US" sz="1400" dirty="0"/>
                        <a:t>The final model must distinguish reported actions from assumptions and competing hypothesis</a:t>
                      </a:r>
                      <a:endParaRPr lang="en-AU" sz="1400" dirty="0"/>
                    </a:p>
                  </a:txBody>
                  <a:tcPr/>
                </a:tc>
                <a:extLst>
                  <a:ext uri="{0D108BD9-81ED-4DB2-BD59-A6C34878D82A}">
                    <a16:rowId xmlns:a16="http://schemas.microsoft.com/office/drawing/2014/main" val="1782569385"/>
                  </a:ext>
                </a:extLst>
              </a:tr>
            </a:tbl>
          </a:graphicData>
        </a:graphic>
      </p:graphicFrame>
      <p:sp>
        <p:nvSpPr>
          <p:cNvPr id="5" name="TextBox 4">
            <a:extLst>
              <a:ext uri="{FF2B5EF4-FFF2-40B4-BE49-F238E27FC236}">
                <a16:creationId xmlns:a16="http://schemas.microsoft.com/office/drawing/2014/main" id="{94CC202B-C70C-0105-AF08-200B47B56C99}"/>
              </a:ext>
            </a:extLst>
          </p:cNvPr>
          <p:cNvSpPr txBox="1"/>
          <p:nvPr/>
        </p:nvSpPr>
        <p:spPr>
          <a:xfrm>
            <a:off x="914400" y="5608716"/>
            <a:ext cx="10348686" cy="923330"/>
          </a:xfrm>
          <a:prstGeom prst="rect">
            <a:avLst/>
          </a:prstGeom>
          <a:noFill/>
        </p:spPr>
        <p:txBody>
          <a:bodyPr wrap="square" rtlCol="0">
            <a:spAutoFit/>
          </a:bodyPr>
          <a:lstStyle/>
          <a:p>
            <a:pPr algn="ctr"/>
            <a:r>
              <a:rPr lang="en-US" dirty="0"/>
              <a:t>Cross incident finding: Different initial access routes converged after entry. Both attackers expanded beyond the initial foothold and created extortion pressure through operational disruption and stolen data.</a:t>
            </a:r>
            <a:endParaRPr lang="en-AU" dirty="0"/>
          </a:p>
        </p:txBody>
      </p:sp>
      <p:sp>
        <p:nvSpPr>
          <p:cNvPr id="6" name="TextBox 5">
            <a:extLst>
              <a:ext uri="{FF2B5EF4-FFF2-40B4-BE49-F238E27FC236}">
                <a16:creationId xmlns:a16="http://schemas.microsoft.com/office/drawing/2014/main" id="{8F160ECF-6D0D-46FC-0D45-3E47A52BD1DC}"/>
              </a:ext>
            </a:extLst>
          </p:cNvPr>
          <p:cNvSpPr txBox="1"/>
          <p:nvPr/>
        </p:nvSpPr>
        <p:spPr>
          <a:xfrm>
            <a:off x="0" y="6596390"/>
            <a:ext cx="9289143" cy="523220"/>
          </a:xfrm>
          <a:prstGeom prst="rect">
            <a:avLst/>
          </a:prstGeom>
          <a:noFill/>
        </p:spPr>
        <p:txBody>
          <a:bodyPr wrap="square" rtlCol="0">
            <a:spAutoFit/>
          </a:bodyPr>
          <a:lstStyle/>
          <a:p>
            <a:r>
              <a:rPr lang="en-AU" sz="1000" i="1" dirty="0"/>
              <a:t>Sources: PwC (2021, pp. 29, 45, 47–55); Witty (2024, pp. 2–3); Fliegelman and Stemp (2024, pp. 1–6); UnitedHealth Group (2024).</a:t>
            </a:r>
          </a:p>
          <a:p>
            <a:endParaRPr lang="en-AU" dirty="0"/>
          </a:p>
        </p:txBody>
      </p:sp>
    </p:spTree>
    <p:extLst>
      <p:ext uri="{BB962C8B-B14F-4D97-AF65-F5344CB8AC3E}">
        <p14:creationId xmlns:p14="http://schemas.microsoft.com/office/powerpoint/2010/main" val="3734446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FF6A1-0B0B-44BB-A4A7-C86308A057AE}"/>
              </a:ext>
            </a:extLst>
          </p:cNvPr>
          <p:cNvSpPr>
            <a:spLocks noGrp="1"/>
          </p:cNvSpPr>
          <p:nvPr>
            <p:ph type="title"/>
          </p:nvPr>
        </p:nvSpPr>
        <p:spPr>
          <a:xfrm>
            <a:off x="1616818" y="-1"/>
            <a:ext cx="8958363" cy="769257"/>
          </a:xfrm>
        </p:spPr>
        <p:txBody>
          <a:bodyPr/>
          <a:lstStyle/>
          <a:p>
            <a:pPr algn="ctr"/>
            <a:r>
              <a:rPr lang="en-US" b="1" dirty="0"/>
              <a:t>Final </a:t>
            </a:r>
            <a:r>
              <a:rPr lang="en-US" b="1" dirty="0" err="1"/>
              <a:t>Synthesised</a:t>
            </a:r>
            <a:r>
              <a:rPr lang="en-US" b="1" dirty="0"/>
              <a:t> Healthcare Ransomware Attack Tree</a:t>
            </a:r>
            <a:endParaRPr lang="en-AU" b="1" dirty="0"/>
          </a:p>
        </p:txBody>
      </p:sp>
      <p:pic>
        <p:nvPicPr>
          <p:cNvPr id="6" name="Picture 5">
            <a:extLst>
              <a:ext uri="{FF2B5EF4-FFF2-40B4-BE49-F238E27FC236}">
                <a16:creationId xmlns:a16="http://schemas.microsoft.com/office/drawing/2014/main" id="{29A92290-13EB-954C-8D42-522FC7055B98}"/>
              </a:ext>
            </a:extLst>
          </p:cNvPr>
          <p:cNvPicPr>
            <a:picLocks noChangeAspect="1"/>
          </p:cNvPicPr>
          <p:nvPr/>
        </p:nvPicPr>
        <p:blipFill>
          <a:blip r:embed="rId3"/>
          <a:stretch>
            <a:fillRect/>
          </a:stretch>
        </p:blipFill>
        <p:spPr>
          <a:xfrm>
            <a:off x="206106" y="890754"/>
            <a:ext cx="6815899" cy="5076492"/>
          </a:xfrm>
          <a:prstGeom prst="rect">
            <a:avLst/>
          </a:prstGeom>
        </p:spPr>
      </p:pic>
      <p:sp>
        <p:nvSpPr>
          <p:cNvPr id="8" name="TextBox 7">
            <a:extLst>
              <a:ext uri="{FF2B5EF4-FFF2-40B4-BE49-F238E27FC236}">
                <a16:creationId xmlns:a16="http://schemas.microsoft.com/office/drawing/2014/main" id="{74400AC1-7A4D-A3EE-5E2E-67F1520AD269}"/>
              </a:ext>
            </a:extLst>
          </p:cNvPr>
          <p:cNvSpPr txBox="1"/>
          <p:nvPr/>
        </p:nvSpPr>
        <p:spPr>
          <a:xfrm>
            <a:off x="3047997" y="5965633"/>
            <a:ext cx="6096000" cy="646331"/>
          </a:xfrm>
          <a:prstGeom prst="rect">
            <a:avLst/>
          </a:prstGeom>
          <a:noFill/>
        </p:spPr>
        <p:txBody>
          <a:bodyPr wrap="square">
            <a:spAutoFit/>
          </a:bodyPr>
          <a:lstStyle/>
          <a:p>
            <a:pPr algn="ctr">
              <a:buNone/>
            </a:pPr>
            <a:r>
              <a:rPr lang="en-AU" dirty="0"/>
              <a:t>Initial cross-incident model based on HSE and Change Healthcare. Full-size model provided in Appendix G.</a:t>
            </a:r>
          </a:p>
        </p:txBody>
      </p:sp>
      <p:sp>
        <p:nvSpPr>
          <p:cNvPr id="11" name="TextBox 10">
            <a:extLst>
              <a:ext uri="{FF2B5EF4-FFF2-40B4-BE49-F238E27FC236}">
                <a16:creationId xmlns:a16="http://schemas.microsoft.com/office/drawing/2014/main" id="{FEBB3A67-9832-2893-0638-34C656A3E2BD}"/>
              </a:ext>
            </a:extLst>
          </p:cNvPr>
          <p:cNvSpPr txBox="1"/>
          <p:nvPr/>
        </p:nvSpPr>
        <p:spPr>
          <a:xfrm>
            <a:off x="7022005" y="1016000"/>
            <a:ext cx="4963889" cy="2462213"/>
          </a:xfrm>
          <a:prstGeom prst="rect">
            <a:avLst/>
          </a:prstGeom>
          <a:noFill/>
        </p:spPr>
        <p:txBody>
          <a:bodyPr wrap="square" rtlCol="0">
            <a:spAutoFit/>
          </a:bodyPr>
          <a:lstStyle/>
          <a:p>
            <a:r>
              <a:rPr lang="en-US" sz="1400" b="1" dirty="0"/>
              <a:t>How to read the model</a:t>
            </a:r>
            <a:br>
              <a:rPr lang="en-US" sz="1400" dirty="0"/>
            </a:br>
            <a:r>
              <a:rPr lang="en-US" sz="1400" dirty="0"/>
              <a:t>1. The root uses AND because extortion requires access, enterprise expansion, </a:t>
            </a:r>
            <a:r>
              <a:rPr lang="en-US" sz="1400" dirty="0" err="1"/>
              <a:t>coersive</a:t>
            </a:r>
            <a:r>
              <a:rPr lang="en-US" sz="1400" dirty="0"/>
              <a:t> impact and communication of a demand</a:t>
            </a:r>
          </a:p>
          <a:p>
            <a:r>
              <a:rPr lang="en-US" sz="1400" dirty="0"/>
              <a:t>2. Initial access uses OR branches to represent the different entry routes identified across the incidents</a:t>
            </a:r>
            <a:br>
              <a:rPr lang="en-US" sz="1400" dirty="0"/>
            </a:br>
            <a:r>
              <a:rPr lang="en-US" sz="1400" dirty="0"/>
              <a:t>3. Enterprise expansion captures the common need to move beyond the initial foothold</a:t>
            </a:r>
            <a:br>
              <a:rPr lang="en-US" sz="1400" dirty="0"/>
            </a:br>
            <a:r>
              <a:rPr lang="en-US" sz="1400" dirty="0"/>
              <a:t>4. Encryption and stolen data pressure form OR branches. Attackers may use either method or combine both</a:t>
            </a:r>
            <a:br>
              <a:rPr lang="en-US" sz="1400" dirty="0"/>
            </a:br>
            <a:endParaRPr lang="en-AU" sz="1400" dirty="0"/>
          </a:p>
        </p:txBody>
      </p:sp>
      <p:sp>
        <p:nvSpPr>
          <p:cNvPr id="12" name="TextBox 11">
            <a:extLst>
              <a:ext uri="{FF2B5EF4-FFF2-40B4-BE49-F238E27FC236}">
                <a16:creationId xmlns:a16="http://schemas.microsoft.com/office/drawing/2014/main" id="{B0E76EA7-E946-458C-75A2-1182852A370C}"/>
              </a:ext>
            </a:extLst>
          </p:cNvPr>
          <p:cNvSpPr txBox="1"/>
          <p:nvPr/>
        </p:nvSpPr>
        <p:spPr>
          <a:xfrm>
            <a:off x="7022005" y="3306150"/>
            <a:ext cx="5384800" cy="954107"/>
          </a:xfrm>
          <a:prstGeom prst="rect">
            <a:avLst/>
          </a:prstGeom>
          <a:noFill/>
        </p:spPr>
        <p:txBody>
          <a:bodyPr wrap="square" rtlCol="0">
            <a:spAutoFit/>
          </a:bodyPr>
          <a:lstStyle/>
          <a:p>
            <a:r>
              <a:rPr lang="en-US" sz="1400" b="1" dirty="0"/>
              <a:t>Evidence boundary</a:t>
            </a:r>
            <a:br>
              <a:rPr lang="en-US" sz="1400" dirty="0"/>
            </a:br>
            <a:r>
              <a:rPr lang="en-US" sz="1400" dirty="0"/>
              <a:t>The model distinguishes reported evidence, evidence based inference and unknown mechanisms. It represents two incidents and remain preliminary.</a:t>
            </a:r>
            <a:endParaRPr lang="en-AU" sz="1400" dirty="0"/>
          </a:p>
        </p:txBody>
      </p:sp>
      <p:sp>
        <p:nvSpPr>
          <p:cNvPr id="13" name="TextBox 12">
            <a:extLst>
              <a:ext uri="{FF2B5EF4-FFF2-40B4-BE49-F238E27FC236}">
                <a16:creationId xmlns:a16="http://schemas.microsoft.com/office/drawing/2014/main" id="{DE11AAEE-B976-E174-76C2-DDC5E11F9E65}"/>
              </a:ext>
            </a:extLst>
          </p:cNvPr>
          <p:cNvSpPr txBox="1"/>
          <p:nvPr/>
        </p:nvSpPr>
        <p:spPr>
          <a:xfrm>
            <a:off x="7022005" y="4334418"/>
            <a:ext cx="5169995" cy="1169551"/>
          </a:xfrm>
          <a:prstGeom prst="rect">
            <a:avLst/>
          </a:prstGeom>
          <a:noFill/>
        </p:spPr>
        <p:txBody>
          <a:bodyPr wrap="square" rtlCol="0">
            <a:spAutoFit/>
          </a:bodyPr>
          <a:lstStyle/>
          <a:p>
            <a:r>
              <a:rPr lang="en-US" sz="1400" b="1" dirty="0"/>
              <a:t>Main conclusion</a:t>
            </a:r>
          </a:p>
          <a:p>
            <a:r>
              <a:rPr lang="en-US" sz="1400" dirty="0"/>
              <a:t>Different entry routes converged on the same downstream objective. Controls that prevent enterprise expansion can disrupt several ransomware pathways before attackers create extortion pressure.</a:t>
            </a:r>
            <a:endParaRPr lang="en-AU" sz="1400" dirty="0"/>
          </a:p>
        </p:txBody>
      </p:sp>
      <p:sp>
        <p:nvSpPr>
          <p:cNvPr id="14" name="TextBox 13">
            <a:extLst>
              <a:ext uri="{FF2B5EF4-FFF2-40B4-BE49-F238E27FC236}">
                <a16:creationId xmlns:a16="http://schemas.microsoft.com/office/drawing/2014/main" id="{631733C9-524B-74E8-3D09-E948DFB03ED6}"/>
              </a:ext>
            </a:extLst>
          </p:cNvPr>
          <p:cNvSpPr txBox="1"/>
          <p:nvPr/>
        </p:nvSpPr>
        <p:spPr>
          <a:xfrm>
            <a:off x="-78378" y="6611964"/>
            <a:ext cx="12348751" cy="246221"/>
          </a:xfrm>
          <a:prstGeom prst="rect">
            <a:avLst/>
          </a:prstGeom>
          <a:noFill/>
        </p:spPr>
        <p:txBody>
          <a:bodyPr wrap="square" rtlCol="0">
            <a:spAutoFit/>
          </a:bodyPr>
          <a:lstStyle/>
          <a:p>
            <a:r>
              <a:rPr lang="en-AU" sz="1000" i="1" dirty="0"/>
              <a:t>Sources: Synthesis based on PwC (2021, pp. 29, 37, 45, 47–55); Witty (2024, pp. 2–3); Fliegelman and Stemp (2024, pp. 1–6); UnitedHealth Group (2024); CISA et al. (2024).</a:t>
            </a:r>
          </a:p>
        </p:txBody>
      </p:sp>
    </p:spTree>
    <p:extLst>
      <p:ext uri="{BB962C8B-B14F-4D97-AF65-F5344CB8AC3E}">
        <p14:creationId xmlns:p14="http://schemas.microsoft.com/office/powerpoint/2010/main" val="1723872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99F95-35CA-F8CB-752A-73AB61D3CD5F}"/>
              </a:ext>
            </a:extLst>
          </p:cNvPr>
          <p:cNvSpPr>
            <a:spLocks noGrp="1"/>
          </p:cNvSpPr>
          <p:nvPr>
            <p:ph type="title"/>
          </p:nvPr>
        </p:nvSpPr>
        <p:spPr>
          <a:xfrm>
            <a:off x="301752" y="179414"/>
            <a:ext cx="11604046" cy="590117"/>
          </a:xfrm>
        </p:spPr>
        <p:txBody>
          <a:bodyPr/>
          <a:lstStyle/>
          <a:p>
            <a:pPr algn="ctr"/>
            <a:r>
              <a:rPr lang="en-US" b="1" dirty="0"/>
              <a:t>Priority Risks and Recommendations</a:t>
            </a:r>
            <a:endParaRPr lang="en-AU" b="1" dirty="0"/>
          </a:p>
        </p:txBody>
      </p:sp>
      <p:graphicFrame>
        <p:nvGraphicFramePr>
          <p:cNvPr id="4" name="Table 3">
            <a:extLst>
              <a:ext uri="{FF2B5EF4-FFF2-40B4-BE49-F238E27FC236}">
                <a16:creationId xmlns:a16="http://schemas.microsoft.com/office/drawing/2014/main" id="{BCC49A7F-B1B1-430D-6AE2-CA2897774605}"/>
              </a:ext>
            </a:extLst>
          </p:cNvPr>
          <p:cNvGraphicFramePr>
            <a:graphicFrameLocks noGrp="1"/>
          </p:cNvGraphicFramePr>
          <p:nvPr>
            <p:extLst>
              <p:ext uri="{D42A27DB-BD31-4B8C-83A1-F6EECF244321}">
                <p14:modId xmlns:p14="http://schemas.microsoft.com/office/powerpoint/2010/main" val="3095540197"/>
              </p:ext>
            </p:extLst>
          </p:nvPr>
        </p:nvGraphicFramePr>
        <p:xfrm>
          <a:off x="391886" y="769531"/>
          <a:ext cx="11375662" cy="4577080"/>
        </p:xfrm>
        <a:graphic>
          <a:graphicData uri="http://schemas.openxmlformats.org/drawingml/2006/table">
            <a:tbl>
              <a:tblPr firstRow="1" bandRow="1">
                <a:tableStyleId>{5C22544A-7EE6-4342-B048-85BDC9FD1C3A}</a:tableStyleId>
              </a:tblPr>
              <a:tblGrid>
                <a:gridCol w="548005">
                  <a:extLst>
                    <a:ext uri="{9D8B030D-6E8A-4147-A177-3AD203B41FA5}">
                      <a16:colId xmlns:a16="http://schemas.microsoft.com/office/drawing/2014/main" val="774884516"/>
                    </a:ext>
                  </a:extLst>
                </a:gridCol>
                <a:gridCol w="4441889">
                  <a:extLst>
                    <a:ext uri="{9D8B030D-6E8A-4147-A177-3AD203B41FA5}">
                      <a16:colId xmlns:a16="http://schemas.microsoft.com/office/drawing/2014/main" val="1549737715"/>
                    </a:ext>
                  </a:extLst>
                </a:gridCol>
                <a:gridCol w="928914">
                  <a:extLst>
                    <a:ext uri="{9D8B030D-6E8A-4147-A177-3AD203B41FA5}">
                      <a16:colId xmlns:a16="http://schemas.microsoft.com/office/drawing/2014/main" val="3632456750"/>
                    </a:ext>
                  </a:extLst>
                </a:gridCol>
                <a:gridCol w="5456854">
                  <a:extLst>
                    <a:ext uri="{9D8B030D-6E8A-4147-A177-3AD203B41FA5}">
                      <a16:colId xmlns:a16="http://schemas.microsoft.com/office/drawing/2014/main" val="3222675457"/>
                    </a:ext>
                  </a:extLst>
                </a:gridCol>
              </a:tblGrid>
              <a:tr h="370840">
                <a:tc>
                  <a:txBody>
                    <a:bodyPr/>
                    <a:lstStyle/>
                    <a:p>
                      <a:pPr algn="ctr"/>
                      <a:r>
                        <a:rPr lang="en-US" sz="1600" dirty="0"/>
                        <a:t>ID</a:t>
                      </a:r>
                      <a:endParaRPr lang="en-AU" sz="1600" dirty="0"/>
                    </a:p>
                  </a:txBody>
                  <a:tcPr/>
                </a:tc>
                <a:tc>
                  <a:txBody>
                    <a:bodyPr/>
                    <a:lstStyle/>
                    <a:p>
                      <a:pPr algn="ctr"/>
                      <a:r>
                        <a:rPr lang="en-US" sz="1600" dirty="0"/>
                        <a:t>Risk identified from the final tree</a:t>
                      </a:r>
                      <a:endParaRPr lang="en-AU" sz="1600" dirty="0"/>
                    </a:p>
                  </a:txBody>
                  <a:tcPr/>
                </a:tc>
                <a:tc>
                  <a:txBody>
                    <a:bodyPr/>
                    <a:lstStyle/>
                    <a:p>
                      <a:pPr algn="ctr"/>
                      <a:r>
                        <a:rPr lang="en-US" sz="1600" dirty="0"/>
                        <a:t>Priority </a:t>
                      </a:r>
                      <a:endParaRPr lang="en-AU" sz="1600" dirty="0"/>
                    </a:p>
                  </a:txBody>
                  <a:tcPr/>
                </a:tc>
                <a:tc>
                  <a:txBody>
                    <a:bodyPr/>
                    <a:lstStyle/>
                    <a:p>
                      <a:pPr algn="ctr"/>
                      <a:r>
                        <a:rPr lang="en-US" sz="1600" dirty="0"/>
                        <a:t>Recommended action</a:t>
                      </a:r>
                      <a:endParaRPr lang="en-AU" sz="1600" dirty="0"/>
                    </a:p>
                  </a:txBody>
                  <a:tcPr/>
                </a:tc>
                <a:extLst>
                  <a:ext uri="{0D108BD9-81ED-4DB2-BD59-A6C34878D82A}">
                    <a16:rowId xmlns:a16="http://schemas.microsoft.com/office/drawing/2014/main" val="3905568491"/>
                  </a:ext>
                </a:extLst>
              </a:tr>
              <a:tr h="370840">
                <a:tc>
                  <a:txBody>
                    <a:bodyPr/>
                    <a:lstStyle/>
                    <a:p>
                      <a:pPr algn="ctr"/>
                      <a:r>
                        <a:rPr lang="en-US" sz="1600" dirty="0"/>
                        <a:t>FI1</a:t>
                      </a:r>
                      <a:endParaRPr lang="en-AU" sz="1600" dirty="0"/>
                    </a:p>
                  </a:txBody>
                  <a:tcPr/>
                </a:tc>
                <a:tc>
                  <a:txBody>
                    <a:bodyPr/>
                    <a:lstStyle/>
                    <a:p>
                      <a:pPr algn="ctr"/>
                      <a:r>
                        <a:rPr lang="en-US" sz="1600" dirty="0"/>
                        <a:t>Phishing or compromised credentials provide initial access</a:t>
                      </a:r>
                      <a:endParaRPr lang="en-AU" sz="1600" dirty="0"/>
                    </a:p>
                  </a:txBody>
                  <a:tcPr/>
                </a:tc>
                <a:tc>
                  <a:txBody>
                    <a:bodyPr/>
                    <a:lstStyle/>
                    <a:p>
                      <a:pPr algn="ctr"/>
                      <a:r>
                        <a:rPr lang="en-US" sz="1600" dirty="0">
                          <a:highlight>
                            <a:srgbClr val="FF0000"/>
                          </a:highlight>
                        </a:rPr>
                        <a:t>Critical</a:t>
                      </a:r>
                      <a:endParaRPr lang="en-AU" sz="1600" dirty="0">
                        <a:highlight>
                          <a:srgbClr val="FF0000"/>
                        </a:highlight>
                      </a:endParaRPr>
                    </a:p>
                  </a:txBody>
                  <a:tcPr/>
                </a:tc>
                <a:tc>
                  <a:txBody>
                    <a:bodyPr/>
                    <a:lstStyle/>
                    <a:p>
                      <a:pPr algn="ctr"/>
                      <a:r>
                        <a:rPr lang="en-AU" sz="1600" dirty="0"/>
                        <a:t>Require phishing-resistant MFA for remote access, restrict untrusted macros and strengthen email filtering</a:t>
                      </a:r>
                    </a:p>
                  </a:txBody>
                  <a:tcPr/>
                </a:tc>
                <a:extLst>
                  <a:ext uri="{0D108BD9-81ED-4DB2-BD59-A6C34878D82A}">
                    <a16:rowId xmlns:a16="http://schemas.microsoft.com/office/drawing/2014/main" val="3940244973"/>
                  </a:ext>
                </a:extLst>
              </a:tr>
              <a:tr h="370840">
                <a:tc>
                  <a:txBody>
                    <a:bodyPr/>
                    <a:lstStyle/>
                    <a:p>
                      <a:pPr algn="ctr"/>
                      <a:r>
                        <a:rPr lang="en-US" sz="1600" dirty="0"/>
                        <a:t>FI2</a:t>
                      </a:r>
                      <a:endParaRPr lang="en-AU" sz="1600" dirty="0"/>
                    </a:p>
                  </a:txBody>
                  <a:tcPr/>
                </a:tc>
                <a:tc>
                  <a:txBody>
                    <a:bodyPr/>
                    <a:lstStyle/>
                    <a:p>
                      <a:pPr algn="ctr"/>
                      <a:r>
                        <a:rPr lang="en-US" sz="1600" dirty="0"/>
                        <a:t>Attackers maintain access without effective detection</a:t>
                      </a:r>
                      <a:endParaRPr lang="en-AU" sz="1600" dirty="0"/>
                    </a:p>
                  </a:txBody>
                  <a:tcPr/>
                </a:tc>
                <a:tc>
                  <a:txBody>
                    <a:bodyPr/>
                    <a:lstStyle/>
                    <a:p>
                      <a:pPr algn="ctr"/>
                      <a:r>
                        <a:rPr lang="en-US" sz="1600" dirty="0">
                          <a:highlight>
                            <a:srgbClr val="FF0000"/>
                          </a:highlight>
                        </a:rPr>
                        <a:t>Critical</a:t>
                      </a:r>
                      <a:endParaRPr lang="en-AU" sz="1600" dirty="0">
                        <a:highlight>
                          <a:srgbClr val="FF0000"/>
                        </a:highlight>
                      </a:endParaRPr>
                    </a:p>
                  </a:txBody>
                  <a:tcPr/>
                </a:tc>
                <a:tc>
                  <a:txBody>
                    <a:bodyPr/>
                    <a:lstStyle/>
                    <a:p>
                      <a:pPr algn="ctr"/>
                      <a:r>
                        <a:rPr lang="en-AU" sz="1600" dirty="0"/>
                        <a:t>Operate endpoint protection in blocking mode, centralise security logs and provide continuous monitoring with tested alert escalation</a:t>
                      </a:r>
                    </a:p>
                  </a:txBody>
                  <a:tcPr/>
                </a:tc>
                <a:extLst>
                  <a:ext uri="{0D108BD9-81ED-4DB2-BD59-A6C34878D82A}">
                    <a16:rowId xmlns:a16="http://schemas.microsoft.com/office/drawing/2014/main" val="3809706922"/>
                  </a:ext>
                </a:extLst>
              </a:tr>
              <a:tr h="370840">
                <a:tc>
                  <a:txBody>
                    <a:bodyPr/>
                    <a:lstStyle/>
                    <a:p>
                      <a:pPr algn="ctr"/>
                      <a:r>
                        <a:rPr lang="en-US" sz="1600" dirty="0"/>
                        <a:t>FI3</a:t>
                      </a:r>
                      <a:endParaRPr lang="en-AU" sz="1600" dirty="0"/>
                    </a:p>
                  </a:txBody>
                  <a:tcPr/>
                </a:tc>
                <a:tc>
                  <a:txBody>
                    <a:bodyPr/>
                    <a:lstStyle/>
                    <a:p>
                      <a:pPr algn="ctr"/>
                      <a:r>
                        <a:rPr lang="en-US" sz="1600" dirty="0"/>
                        <a:t>Compromised privileged accounts enable enterprise control</a:t>
                      </a:r>
                      <a:endParaRPr lang="en-AU" sz="1600" dirty="0"/>
                    </a:p>
                  </a:txBody>
                  <a:tcPr/>
                </a:tc>
                <a:tc>
                  <a:txBody>
                    <a:bodyPr/>
                    <a:lstStyle/>
                    <a:p>
                      <a:pPr algn="ctr"/>
                      <a:r>
                        <a:rPr lang="en-US" sz="1600" dirty="0">
                          <a:highlight>
                            <a:srgbClr val="FF0000"/>
                          </a:highlight>
                        </a:rPr>
                        <a:t>Critical</a:t>
                      </a:r>
                      <a:endParaRPr lang="en-AU" sz="1600" dirty="0">
                        <a:highlight>
                          <a:srgbClr val="FF0000"/>
                        </a:highlight>
                      </a:endParaRPr>
                    </a:p>
                  </a:txBody>
                  <a:tcPr/>
                </a:tc>
                <a:tc>
                  <a:txBody>
                    <a:bodyPr/>
                    <a:lstStyle/>
                    <a:p>
                      <a:pPr algn="ctr"/>
                      <a:r>
                        <a:rPr lang="en-AU" sz="1600" dirty="0"/>
                        <a:t>Implement privileged access management, separate administrator accounts, enforce admin MFA and apply least privilege</a:t>
                      </a:r>
                    </a:p>
                  </a:txBody>
                  <a:tcPr/>
                </a:tc>
                <a:extLst>
                  <a:ext uri="{0D108BD9-81ED-4DB2-BD59-A6C34878D82A}">
                    <a16:rowId xmlns:a16="http://schemas.microsoft.com/office/drawing/2014/main" val="3659126360"/>
                  </a:ext>
                </a:extLst>
              </a:tr>
              <a:tr h="370840">
                <a:tc>
                  <a:txBody>
                    <a:bodyPr/>
                    <a:lstStyle/>
                    <a:p>
                      <a:pPr algn="ctr"/>
                      <a:r>
                        <a:rPr lang="en-US" sz="1600" dirty="0"/>
                        <a:t>FI4</a:t>
                      </a:r>
                      <a:endParaRPr lang="en-AU" sz="1600" dirty="0"/>
                    </a:p>
                  </a:txBody>
                  <a:tcPr/>
                </a:tc>
                <a:tc>
                  <a:txBody>
                    <a:bodyPr/>
                    <a:lstStyle/>
                    <a:p>
                      <a:pPr algn="ctr"/>
                      <a:r>
                        <a:rPr lang="en-US" sz="1600" dirty="0"/>
                        <a:t>Flat or trusted networks enable lateral movement</a:t>
                      </a:r>
                      <a:endParaRPr lang="en-AU" sz="1600" dirty="0"/>
                    </a:p>
                  </a:txBody>
                  <a:tcPr/>
                </a:tc>
                <a:tc>
                  <a:txBody>
                    <a:bodyPr/>
                    <a:lstStyle/>
                    <a:p>
                      <a:pPr algn="ctr"/>
                      <a:r>
                        <a:rPr lang="en-US" sz="1600" dirty="0">
                          <a:highlight>
                            <a:srgbClr val="808000"/>
                          </a:highlight>
                        </a:rPr>
                        <a:t>High</a:t>
                      </a:r>
                      <a:endParaRPr lang="en-AU" sz="1600" dirty="0">
                        <a:highlight>
                          <a:srgbClr val="808000"/>
                        </a:highlight>
                      </a:endParaRPr>
                    </a:p>
                  </a:txBody>
                  <a:tcPr/>
                </a:tc>
                <a:tc>
                  <a:txBody>
                    <a:bodyPr/>
                    <a:lstStyle/>
                    <a:p>
                      <a:pPr algn="ctr"/>
                      <a:r>
                        <a:rPr lang="en-AU" sz="1600" dirty="0"/>
                        <a:t>Segment critical environments, restrict unnecessary AD trusts and monitor traffic between network zones</a:t>
                      </a:r>
                    </a:p>
                  </a:txBody>
                  <a:tcPr/>
                </a:tc>
                <a:extLst>
                  <a:ext uri="{0D108BD9-81ED-4DB2-BD59-A6C34878D82A}">
                    <a16:rowId xmlns:a16="http://schemas.microsoft.com/office/drawing/2014/main" val="3622827400"/>
                  </a:ext>
                </a:extLst>
              </a:tr>
              <a:tr h="370840">
                <a:tc>
                  <a:txBody>
                    <a:bodyPr/>
                    <a:lstStyle/>
                    <a:p>
                      <a:pPr algn="ctr"/>
                      <a:r>
                        <a:rPr lang="en-US" sz="1600" dirty="0"/>
                        <a:t>FI5</a:t>
                      </a:r>
                      <a:endParaRPr lang="en-AU" sz="1600" dirty="0"/>
                    </a:p>
                  </a:txBody>
                  <a:tcPr/>
                </a:tc>
                <a:tc>
                  <a:txBody>
                    <a:bodyPr/>
                    <a:lstStyle/>
                    <a:p>
                      <a:pPr algn="ctr"/>
                      <a:r>
                        <a:rPr lang="en-US" sz="1600" dirty="0"/>
                        <a:t>Encryption disrupts critical services and delays recovery</a:t>
                      </a:r>
                      <a:endParaRPr lang="en-AU" sz="1600" dirty="0"/>
                    </a:p>
                  </a:txBody>
                  <a:tcPr/>
                </a:tc>
                <a:tc>
                  <a:txBody>
                    <a:bodyPr/>
                    <a:lstStyle/>
                    <a:p>
                      <a:pPr algn="ctr"/>
                      <a:r>
                        <a:rPr lang="en-US" sz="1600" dirty="0">
                          <a:highlight>
                            <a:srgbClr val="FF0000"/>
                          </a:highlight>
                        </a:rPr>
                        <a:t>Critical</a:t>
                      </a:r>
                      <a:endParaRPr lang="en-AU" sz="1600" dirty="0">
                        <a:highlight>
                          <a:srgbClr val="FF0000"/>
                        </a:highlight>
                      </a:endParaRPr>
                    </a:p>
                  </a:txBody>
                  <a:tcPr/>
                </a:tc>
                <a:tc>
                  <a:txBody>
                    <a:bodyPr/>
                    <a:lstStyle/>
                    <a:p>
                      <a:pPr algn="ctr"/>
                      <a:r>
                        <a:rPr lang="en-AU" sz="1600" dirty="0"/>
                        <a:t>Maintain unalterable and offline backups, map critical dependencies and regularly test service-scale restoration</a:t>
                      </a:r>
                    </a:p>
                  </a:txBody>
                  <a:tcPr/>
                </a:tc>
                <a:extLst>
                  <a:ext uri="{0D108BD9-81ED-4DB2-BD59-A6C34878D82A}">
                    <a16:rowId xmlns:a16="http://schemas.microsoft.com/office/drawing/2014/main" val="331843766"/>
                  </a:ext>
                </a:extLst>
              </a:tr>
              <a:tr h="370840">
                <a:tc>
                  <a:txBody>
                    <a:bodyPr/>
                    <a:lstStyle/>
                    <a:p>
                      <a:pPr algn="ctr"/>
                      <a:r>
                        <a:rPr lang="en-US" sz="1600" dirty="0"/>
                        <a:t>FI6</a:t>
                      </a:r>
                      <a:endParaRPr lang="en-AU" sz="1600" dirty="0"/>
                    </a:p>
                  </a:txBody>
                  <a:tcPr/>
                </a:tc>
                <a:tc>
                  <a:txBody>
                    <a:bodyPr/>
                    <a:lstStyle/>
                    <a:p>
                      <a:pPr algn="ctr"/>
                      <a:r>
                        <a:rPr lang="en-US" sz="1600" dirty="0"/>
                        <a:t>Stolen sensitive data creates additional extortion pressure</a:t>
                      </a:r>
                      <a:endParaRPr lang="en-AU" sz="1600" dirty="0"/>
                    </a:p>
                  </a:txBody>
                  <a:tcPr/>
                </a:tc>
                <a:tc>
                  <a:txBody>
                    <a:bodyPr/>
                    <a:lstStyle/>
                    <a:p>
                      <a:pPr algn="ctr"/>
                      <a:r>
                        <a:rPr lang="en-US" sz="1600" dirty="0">
                          <a:highlight>
                            <a:srgbClr val="808000"/>
                          </a:highlight>
                        </a:rPr>
                        <a:t>High</a:t>
                      </a:r>
                      <a:endParaRPr lang="en-AU" sz="1600" dirty="0">
                        <a:highlight>
                          <a:srgbClr val="808000"/>
                        </a:highlight>
                      </a:endParaRPr>
                    </a:p>
                  </a:txBody>
                  <a:tcPr/>
                </a:tc>
                <a:tc>
                  <a:txBody>
                    <a:bodyPr/>
                    <a:lstStyle/>
                    <a:p>
                      <a:pPr algn="ctr"/>
                      <a:r>
                        <a:rPr lang="en-AU" sz="1600" dirty="0"/>
                        <a:t>Inventory sensitive data, restrict bulk access, monitor unusual data transfers and rehearse breach response procedures</a:t>
                      </a:r>
                    </a:p>
                  </a:txBody>
                  <a:tcPr/>
                </a:tc>
                <a:extLst>
                  <a:ext uri="{0D108BD9-81ED-4DB2-BD59-A6C34878D82A}">
                    <a16:rowId xmlns:a16="http://schemas.microsoft.com/office/drawing/2014/main" val="3540417981"/>
                  </a:ext>
                </a:extLst>
              </a:tr>
            </a:tbl>
          </a:graphicData>
        </a:graphic>
      </p:graphicFrame>
      <p:sp>
        <p:nvSpPr>
          <p:cNvPr id="5" name="TextBox 4">
            <a:extLst>
              <a:ext uri="{FF2B5EF4-FFF2-40B4-BE49-F238E27FC236}">
                <a16:creationId xmlns:a16="http://schemas.microsoft.com/office/drawing/2014/main" id="{78F8C68F-C9E4-4E4D-ADEA-DBE915909009}"/>
              </a:ext>
            </a:extLst>
          </p:cNvPr>
          <p:cNvSpPr txBox="1"/>
          <p:nvPr/>
        </p:nvSpPr>
        <p:spPr>
          <a:xfrm>
            <a:off x="1739946" y="5346611"/>
            <a:ext cx="8679542" cy="584775"/>
          </a:xfrm>
          <a:prstGeom prst="rect">
            <a:avLst/>
          </a:prstGeom>
          <a:noFill/>
        </p:spPr>
        <p:txBody>
          <a:bodyPr wrap="square" rtlCol="0">
            <a:spAutoFit/>
          </a:bodyPr>
          <a:lstStyle/>
          <a:p>
            <a:pPr algn="ctr"/>
            <a:r>
              <a:rPr lang="en-US" sz="1600" b="1" dirty="0"/>
              <a:t>Immediate priorities: </a:t>
            </a:r>
            <a:r>
              <a:rPr lang="en-US" sz="1600" dirty="0"/>
              <a:t>Strong identity controls, active security monitoring, protected privileged accounts and recoverable backups interrupt the greatest number of pathways</a:t>
            </a:r>
            <a:endParaRPr lang="en-AU" sz="1600" dirty="0"/>
          </a:p>
        </p:txBody>
      </p:sp>
      <p:sp>
        <p:nvSpPr>
          <p:cNvPr id="6" name="TextBox 5">
            <a:extLst>
              <a:ext uri="{FF2B5EF4-FFF2-40B4-BE49-F238E27FC236}">
                <a16:creationId xmlns:a16="http://schemas.microsoft.com/office/drawing/2014/main" id="{D2248C9C-D0FA-5768-0A76-404131A83BC2}"/>
              </a:ext>
            </a:extLst>
          </p:cNvPr>
          <p:cNvSpPr txBox="1"/>
          <p:nvPr/>
        </p:nvSpPr>
        <p:spPr>
          <a:xfrm>
            <a:off x="1756229" y="5931386"/>
            <a:ext cx="8679542" cy="830997"/>
          </a:xfrm>
          <a:prstGeom prst="rect">
            <a:avLst/>
          </a:prstGeom>
          <a:noFill/>
        </p:spPr>
        <p:txBody>
          <a:bodyPr wrap="square" rtlCol="0">
            <a:spAutoFit/>
          </a:bodyPr>
          <a:lstStyle/>
          <a:p>
            <a:pPr algn="ctr"/>
            <a:r>
              <a:rPr lang="en-AU" sz="1600" dirty="0"/>
              <a:t>Recommendations assume a large, interconnected healthcare organisation handling critical services and sensitive health information. Not every weakness has been confirmed in both incidents.</a:t>
            </a:r>
          </a:p>
        </p:txBody>
      </p:sp>
      <p:sp>
        <p:nvSpPr>
          <p:cNvPr id="7" name="TextBox 6">
            <a:extLst>
              <a:ext uri="{FF2B5EF4-FFF2-40B4-BE49-F238E27FC236}">
                <a16:creationId xmlns:a16="http://schemas.microsoft.com/office/drawing/2014/main" id="{0B40236F-D731-DE86-1201-67EC4A792F85}"/>
              </a:ext>
            </a:extLst>
          </p:cNvPr>
          <p:cNvSpPr txBox="1"/>
          <p:nvPr/>
        </p:nvSpPr>
        <p:spPr>
          <a:xfrm>
            <a:off x="0" y="6639272"/>
            <a:ext cx="8026400" cy="246221"/>
          </a:xfrm>
          <a:prstGeom prst="rect">
            <a:avLst/>
          </a:prstGeom>
          <a:noFill/>
        </p:spPr>
        <p:txBody>
          <a:bodyPr wrap="square" rtlCol="0">
            <a:spAutoFit/>
          </a:bodyPr>
          <a:lstStyle/>
          <a:p>
            <a:r>
              <a:rPr lang="en-AU" sz="1000" i="1" dirty="0"/>
              <a:t>Sources: PwC (2021, pp. 47–56); Witty (2024, pp. 2–3); CISA et al. (2024); Australian Signals Directorate (2023); Mahn et al. (2021)</a:t>
            </a:r>
          </a:p>
        </p:txBody>
      </p:sp>
    </p:spTree>
    <p:extLst>
      <p:ext uri="{BB962C8B-B14F-4D97-AF65-F5344CB8AC3E}">
        <p14:creationId xmlns:p14="http://schemas.microsoft.com/office/powerpoint/2010/main" val="36156495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ECD10-BA08-2832-E30E-85248932CB1A}"/>
              </a:ext>
            </a:extLst>
          </p:cNvPr>
          <p:cNvSpPr>
            <a:spLocks noGrp="1"/>
          </p:cNvSpPr>
          <p:nvPr>
            <p:ph type="title"/>
          </p:nvPr>
        </p:nvSpPr>
        <p:spPr>
          <a:xfrm>
            <a:off x="293977" y="-161375"/>
            <a:ext cx="11604046" cy="969206"/>
          </a:xfrm>
        </p:spPr>
        <p:txBody>
          <a:bodyPr/>
          <a:lstStyle/>
          <a:p>
            <a:pPr algn="ctr"/>
            <a:r>
              <a:rPr lang="en-US" b="1" dirty="0"/>
              <a:t>Priority Areas for Further Investigation</a:t>
            </a:r>
            <a:endParaRPr lang="en-AU" b="1" dirty="0"/>
          </a:p>
        </p:txBody>
      </p:sp>
      <p:graphicFrame>
        <p:nvGraphicFramePr>
          <p:cNvPr id="4" name="Table 3">
            <a:extLst>
              <a:ext uri="{FF2B5EF4-FFF2-40B4-BE49-F238E27FC236}">
                <a16:creationId xmlns:a16="http://schemas.microsoft.com/office/drawing/2014/main" id="{CD4696C2-4519-D140-B369-EE04AA8B7853}"/>
              </a:ext>
            </a:extLst>
          </p:cNvPr>
          <p:cNvGraphicFramePr>
            <a:graphicFrameLocks noGrp="1"/>
          </p:cNvGraphicFramePr>
          <p:nvPr>
            <p:extLst>
              <p:ext uri="{D42A27DB-BD31-4B8C-83A1-F6EECF244321}">
                <p14:modId xmlns:p14="http://schemas.microsoft.com/office/powerpoint/2010/main" val="2381558957"/>
              </p:ext>
            </p:extLst>
          </p:nvPr>
        </p:nvGraphicFramePr>
        <p:xfrm>
          <a:off x="214023" y="807831"/>
          <a:ext cx="11745748" cy="4942840"/>
        </p:xfrm>
        <a:graphic>
          <a:graphicData uri="http://schemas.openxmlformats.org/drawingml/2006/table">
            <a:tbl>
              <a:tblPr firstRow="1" bandRow="1">
                <a:tableStyleId>{5C22544A-7EE6-4342-B048-85BDC9FD1C3A}</a:tableStyleId>
              </a:tblPr>
              <a:tblGrid>
                <a:gridCol w="896194">
                  <a:extLst>
                    <a:ext uri="{9D8B030D-6E8A-4147-A177-3AD203B41FA5}">
                      <a16:colId xmlns:a16="http://schemas.microsoft.com/office/drawing/2014/main" val="4093801237"/>
                    </a:ext>
                  </a:extLst>
                </a:gridCol>
                <a:gridCol w="3215040">
                  <a:extLst>
                    <a:ext uri="{9D8B030D-6E8A-4147-A177-3AD203B41FA5}">
                      <a16:colId xmlns:a16="http://schemas.microsoft.com/office/drawing/2014/main" val="1821969574"/>
                    </a:ext>
                  </a:extLst>
                </a:gridCol>
                <a:gridCol w="3889829">
                  <a:extLst>
                    <a:ext uri="{9D8B030D-6E8A-4147-A177-3AD203B41FA5}">
                      <a16:colId xmlns:a16="http://schemas.microsoft.com/office/drawing/2014/main" val="2698443265"/>
                    </a:ext>
                  </a:extLst>
                </a:gridCol>
                <a:gridCol w="3744685">
                  <a:extLst>
                    <a:ext uri="{9D8B030D-6E8A-4147-A177-3AD203B41FA5}">
                      <a16:colId xmlns:a16="http://schemas.microsoft.com/office/drawing/2014/main" val="1604599655"/>
                    </a:ext>
                  </a:extLst>
                </a:gridCol>
              </a:tblGrid>
              <a:tr h="370840">
                <a:tc>
                  <a:txBody>
                    <a:bodyPr/>
                    <a:lstStyle/>
                    <a:p>
                      <a:pPr algn="ctr"/>
                      <a:r>
                        <a:rPr lang="en-US" dirty="0"/>
                        <a:t>Priority</a:t>
                      </a:r>
                      <a:endParaRPr lang="en-AU" dirty="0"/>
                    </a:p>
                  </a:txBody>
                  <a:tcPr/>
                </a:tc>
                <a:tc>
                  <a:txBody>
                    <a:bodyPr/>
                    <a:lstStyle/>
                    <a:p>
                      <a:pPr algn="ctr"/>
                      <a:r>
                        <a:rPr lang="en-US" dirty="0"/>
                        <a:t>Investigation question</a:t>
                      </a:r>
                      <a:endParaRPr lang="en-AU" dirty="0"/>
                    </a:p>
                  </a:txBody>
                  <a:tcPr/>
                </a:tc>
                <a:tc>
                  <a:txBody>
                    <a:bodyPr/>
                    <a:lstStyle/>
                    <a:p>
                      <a:pPr algn="ctr"/>
                      <a:r>
                        <a:rPr lang="en-US" dirty="0"/>
                        <a:t>Why it matters</a:t>
                      </a:r>
                      <a:endParaRPr lang="en-AU" dirty="0"/>
                    </a:p>
                  </a:txBody>
                  <a:tcPr/>
                </a:tc>
                <a:tc>
                  <a:txBody>
                    <a:bodyPr/>
                    <a:lstStyle/>
                    <a:p>
                      <a:pPr algn="ctr"/>
                      <a:r>
                        <a:rPr lang="en-US" dirty="0"/>
                        <a:t>Evidence required</a:t>
                      </a:r>
                      <a:endParaRPr lang="en-AU" dirty="0"/>
                    </a:p>
                  </a:txBody>
                  <a:tcPr/>
                </a:tc>
                <a:extLst>
                  <a:ext uri="{0D108BD9-81ED-4DB2-BD59-A6C34878D82A}">
                    <a16:rowId xmlns:a16="http://schemas.microsoft.com/office/drawing/2014/main" val="3087473382"/>
                  </a:ext>
                </a:extLst>
              </a:tr>
              <a:tr h="370840">
                <a:tc>
                  <a:txBody>
                    <a:bodyPr/>
                    <a:lstStyle/>
                    <a:p>
                      <a:pPr algn="ctr"/>
                      <a:r>
                        <a:rPr lang="en-US" dirty="0"/>
                        <a:t>1</a:t>
                      </a:r>
                      <a:endParaRPr lang="en-AU" dirty="0"/>
                    </a:p>
                  </a:txBody>
                  <a:tcPr/>
                </a:tc>
                <a:tc>
                  <a:txBody>
                    <a:bodyPr/>
                    <a:lstStyle/>
                    <a:p>
                      <a:pPr algn="ctr"/>
                      <a:r>
                        <a:rPr lang="en-AU" b="0" dirty="0"/>
                        <a:t>How did the attackers obtain the Change Healthcare credentials? </a:t>
                      </a:r>
                      <a:r>
                        <a:rPr lang="en-AU" b="0" dirty="0">
                          <a:solidFill>
                            <a:srgbClr val="FF0000"/>
                          </a:solidFill>
                        </a:rPr>
                        <a:t>U</a:t>
                      </a:r>
                    </a:p>
                  </a:txBody>
                  <a:tcPr/>
                </a:tc>
                <a:tc>
                  <a:txBody>
                    <a:bodyPr/>
                    <a:lstStyle/>
                    <a:p>
                      <a:pPr algn="ctr"/>
                      <a:r>
                        <a:rPr lang="en-AU" dirty="0"/>
                        <a:t>Confirms the initial-access pathway and the controls that failed</a:t>
                      </a:r>
                    </a:p>
                  </a:txBody>
                  <a:tcPr/>
                </a:tc>
                <a:tc>
                  <a:txBody>
                    <a:bodyPr/>
                    <a:lstStyle/>
                    <a:p>
                      <a:pPr algn="ctr"/>
                      <a:r>
                        <a:rPr lang="en-AU" dirty="0"/>
                        <a:t>Identity-provider and Citrix logs, phishing reports and credential-exposure records</a:t>
                      </a:r>
                    </a:p>
                  </a:txBody>
                  <a:tcPr/>
                </a:tc>
                <a:extLst>
                  <a:ext uri="{0D108BD9-81ED-4DB2-BD59-A6C34878D82A}">
                    <a16:rowId xmlns:a16="http://schemas.microsoft.com/office/drawing/2014/main" val="3145736142"/>
                  </a:ext>
                </a:extLst>
              </a:tr>
              <a:tr h="370840">
                <a:tc>
                  <a:txBody>
                    <a:bodyPr/>
                    <a:lstStyle/>
                    <a:p>
                      <a:pPr algn="ctr"/>
                      <a:r>
                        <a:rPr lang="en-US" dirty="0"/>
                        <a:t>2</a:t>
                      </a:r>
                      <a:endParaRPr lang="en-AU" dirty="0"/>
                    </a:p>
                  </a:txBody>
                  <a:tcPr/>
                </a:tc>
                <a:tc>
                  <a:txBody>
                    <a:bodyPr/>
                    <a:lstStyle/>
                    <a:p>
                      <a:pPr algn="ctr"/>
                      <a:r>
                        <a:rPr lang="en-AU" b="0" dirty="0"/>
                        <a:t>How did the attackers maintain access and avoid detection? </a:t>
                      </a:r>
                      <a:r>
                        <a:rPr lang="en-AU" b="0" dirty="0">
                          <a:solidFill>
                            <a:srgbClr val="FF0000"/>
                          </a:solidFill>
                        </a:rPr>
                        <a:t>U</a:t>
                      </a:r>
                      <a:r>
                        <a:rPr lang="en-AU" b="0" dirty="0"/>
                        <a:t> / </a:t>
                      </a:r>
                      <a:r>
                        <a:rPr lang="en-AU" b="0" dirty="0">
                          <a:solidFill>
                            <a:srgbClr val="FFC000"/>
                          </a:solidFill>
                        </a:rPr>
                        <a:t>I-M</a:t>
                      </a:r>
                    </a:p>
                  </a:txBody>
                  <a:tcPr/>
                </a:tc>
                <a:tc>
                  <a:txBody>
                    <a:bodyPr/>
                    <a:lstStyle/>
                    <a:p>
                      <a:pPr algn="ctr"/>
                      <a:r>
                        <a:rPr lang="en-AU" dirty="0"/>
                        <a:t>Establishes whether monitoring or escalation failures extended the dwell time</a:t>
                      </a:r>
                    </a:p>
                  </a:txBody>
                  <a:tcPr/>
                </a:tc>
                <a:tc>
                  <a:txBody>
                    <a:bodyPr/>
                    <a:lstStyle/>
                    <a:p>
                      <a:pPr algn="ctr"/>
                      <a:r>
                        <a:rPr lang="en-AU" dirty="0"/>
                        <a:t>Endpoint telemetry, SIEM alerts, host images and incident tickets</a:t>
                      </a:r>
                    </a:p>
                  </a:txBody>
                  <a:tcPr/>
                </a:tc>
                <a:extLst>
                  <a:ext uri="{0D108BD9-81ED-4DB2-BD59-A6C34878D82A}">
                    <a16:rowId xmlns:a16="http://schemas.microsoft.com/office/drawing/2014/main" val="2415251284"/>
                  </a:ext>
                </a:extLst>
              </a:tr>
              <a:tr h="370840">
                <a:tc>
                  <a:txBody>
                    <a:bodyPr/>
                    <a:lstStyle/>
                    <a:p>
                      <a:pPr algn="ctr"/>
                      <a:r>
                        <a:rPr lang="en-US" dirty="0"/>
                        <a:t>3</a:t>
                      </a:r>
                      <a:endParaRPr lang="en-AU" dirty="0"/>
                    </a:p>
                  </a:txBody>
                  <a:tcPr/>
                </a:tc>
                <a:tc>
                  <a:txBody>
                    <a:bodyPr/>
                    <a:lstStyle/>
                    <a:p>
                      <a:pPr algn="ctr"/>
                      <a:r>
                        <a:rPr lang="en-AU" b="0" dirty="0"/>
                        <a:t>Which accounts, trusts or vulnerabilities enabled enterprise expansion? </a:t>
                      </a:r>
                      <a:r>
                        <a:rPr lang="en-AU" b="0" dirty="0">
                          <a:solidFill>
                            <a:srgbClr val="00B050"/>
                          </a:solidFill>
                        </a:rPr>
                        <a:t>R-H</a:t>
                      </a:r>
                      <a:r>
                        <a:rPr lang="en-AU" b="0" dirty="0"/>
                        <a:t> / </a:t>
                      </a:r>
                      <a:r>
                        <a:rPr lang="en-AU" b="0" dirty="0">
                          <a:solidFill>
                            <a:srgbClr val="FF0000"/>
                          </a:solidFill>
                        </a:rPr>
                        <a:t>U</a:t>
                      </a:r>
                    </a:p>
                  </a:txBody>
                  <a:tcPr/>
                </a:tc>
                <a:tc>
                  <a:txBody>
                    <a:bodyPr/>
                    <a:lstStyle/>
                    <a:p>
                      <a:pPr algn="ctr"/>
                      <a:r>
                        <a:rPr lang="en-AU" dirty="0"/>
                        <a:t>Identifies the main opportunities to stop privilege abuse and lateral movement</a:t>
                      </a:r>
                    </a:p>
                  </a:txBody>
                  <a:tcPr/>
                </a:tc>
                <a:tc>
                  <a:txBody>
                    <a:bodyPr/>
                    <a:lstStyle/>
                    <a:p>
                      <a:pPr algn="ctr"/>
                      <a:r>
                        <a:rPr lang="en-AU" dirty="0"/>
                        <a:t>AD and privileged-access records, trust maps, vulnerability data and network logs</a:t>
                      </a:r>
                    </a:p>
                  </a:txBody>
                  <a:tcPr/>
                </a:tc>
                <a:extLst>
                  <a:ext uri="{0D108BD9-81ED-4DB2-BD59-A6C34878D82A}">
                    <a16:rowId xmlns:a16="http://schemas.microsoft.com/office/drawing/2014/main" val="1897805561"/>
                  </a:ext>
                </a:extLst>
              </a:tr>
              <a:tr h="370840">
                <a:tc>
                  <a:txBody>
                    <a:bodyPr/>
                    <a:lstStyle/>
                    <a:p>
                      <a:pPr algn="ctr"/>
                      <a:r>
                        <a:rPr lang="en-US" dirty="0"/>
                        <a:t>4</a:t>
                      </a:r>
                      <a:endParaRPr lang="en-AU" dirty="0"/>
                    </a:p>
                  </a:txBody>
                  <a:tcPr/>
                </a:tc>
                <a:tc>
                  <a:txBody>
                    <a:bodyPr/>
                    <a:lstStyle/>
                    <a:p>
                      <a:pPr algn="ctr"/>
                      <a:r>
                        <a:rPr lang="en-AU" b="0" dirty="0"/>
                        <a:t>How and when did data exfiltration occur? </a:t>
                      </a:r>
                      <a:r>
                        <a:rPr lang="en-AU" b="0" dirty="0">
                          <a:solidFill>
                            <a:srgbClr val="FFC000"/>
                          </a:solidFill>
                        </a:rPr>
                        <a:t>I-M</a:t>
                      </a:r>
                      <a:r>
                        <a:rPr lang="en-AU" b="0" dirty="0"/>
                        <a:t> / </a:t>
                      </a:r>
                      <a:r>
                        <a:rPr lang="en-AU" b="0" dirty="0">
                          <a:solidFill>
                            <a:srgbClr val="FF0000"/>
                          </a:solidFill>
                        </a:rPr>
                        <a:t>U</a:t>
                      </a:r>
                    </a:p>
                  </a:txBody>
                  <a:tcPr/>
                </a:tc>
                <a:tc>
                  <a:txBody>
                    <a:bodyPr/>
                    <a:lstStyle/>
                    <a:p>
                      <a:pPr algn="ctr"/>
                      <a:r>
                        <a:rPr lang="en-AU" dirty="0"/>
                        <a:t>Determines breach scope, notification duties and confidentiality risk</a:t>
                      </a:r>
                    </a:p>
                  </a:txBody>
                  <a:tcPr/>
                </a:tc>
                <a:tc>
                  <a:txBody>
                    <a:bodyPr/>
                    <a:lstStyle/>
                    <a:p>
                      <a:pPr algn="ctr"/>
                      <a:r>
                        <a:rPr lang="en-AU" dirty="0"/>
                        <a:t>Firewall, proxy, DNS and cloud logs, file-access records and data-loss alerts</a:t>
                      </a:r>
                    </a:p>
                  </a:txBody>
                  <a:tcPr/>
                </a:tc>
                <a:extLst>
                  <a:ext uri="{0D108BD9-81ED-4DB2-BD59-A6C34878D82A}">
                    <a16:rowId xmlns:a16="http://schemas.microsoft.com/office/drawing/2014/main" val="868359570"/>
                  </a:ext>
                </a:extLst>
              </a:tr>
              <a:tr h="370840">
                <a:tc>
                  <a:txBody>
                    <a:bodyPr/>
                    <a:lstStyle/>
                    <a:p>
                      <a:pPr algn="ctr"/>
                      <a:r>
                        <a:rPr lang="en-US" dirty="0"/>
                        <a:t>5</a:t>
                      </a:r>
                      <a:endParaRPr lang="en-AU" dirty="0"/>
                    </a:p>
                  </a:txBody>
                  <a:tcPr/>
                </a:tc>
                <a:tc>
                  <a:txBody>
                    <a:bodyPr/>
                    <a:lstStyle/>
                    <a:p>
                      <a:pPr algn="ctr"/>
                      <a:r>
                        <a:rPr lang="en-AU" b="0" dirty="0"/>
                        <a:t>Could critical services and backups recover independently at scale? </a:t>
                      </a:r>
                      <a:r>
                        <a:rPr lang="en-AU" b="0" dirty="0">
                          <a:solidFill>
                            <a:srgbClr val="FFC000"/>
                          </a:solidFill>
                        </a:rPr>
                        <a:t>I-M</a:t>
                      </a:r>
                    </a:p>
                  </a:txBody>
                  <a:tcPr/>
                </a:tc>
                <a:tc>
                  <a:txBody>
                    <a:bodyPr/>
                    <a:lstStyle/>
                    <a:p>
                      <a:pPr algn="ctr"/>
                      <a:r>
                        <a:rPr lang="en-AU" dirty="0"/>
                        <a:t>Tests whether recovery arrangements match healthcare service dependencies</a:t>
                      </a:r>
                    </a:p>
                  </a:txBody>
                  <a:tcPr/>
                </a:tc>
                <a:tc>
                  <a:txBody>
                    <a:bodyPr/>
                    <a:lstStyle/>
                    <a:p>
                      <a:pPr algn="ctr"/>
                      <a:r>
                        <a:rPr lang="en-AU" dirty="0"/>
                        <a:t>Asset registers, dependency maps, backup configurations and restoration-test results</a:t>
                      </a:r>
                    </a:p>
                  </a:txBody>
                  <a:tcPr/>
                </a:tc>
                <a:extLst>
                  <a:ext uri="{0D108BD9-81ED-4DB2-BD59-A6C34878D82A}">
                    <a16:rowId xmlns:a16="http://schemas.microsoft.com/office/drawing/2014/main" val="2840286226"/>
                  </a:ext>
                </a:extLst>
              </a:tr>
            </a:tbl>
          </a:graphicData>
        </a:graphic>
      </p:graphicFrame>
      <p:sp>
        <p:nvSpPr>
          <p:cNvPr id="5" name="TextBox 4">
            <a:extLst>
              <a:ext uri="{FF2B5EF4-FFF2-40B4-BE49-F238E27FC236}">
                <a16:creationId xmlns:a16="http://schemas.microsoft.com/office/drawing/2014/main" id="{36A0B4CE-5C6C-CBBC-980C-70ABDD914B4F}"/>
              </a:ext>
            </a:extLst>
          </p:cNvPr>
          <p:cNvSpPr txBox="1"/>
          <p:nvPr/>
        </p:nvSpPr>
        <p:spPr>
          <a:xfrm>
            <a:off x="1979354" y="5796547"/>
            <a:ext cx="8215086" cy="923330"/>
          </a:xfrm>
          <a:prstGeom prst="rect">
            <a:avLst/>
          </a:prstGeom>
          <a:noFill/>
        </p:spPr>
        <p:txBody>
          <a:bodyPr wrap="square" rtlCol="0">
            <a:spAutoFit/>
          </a:bodyPr>
          <a:lstStyle/>
          <a:p>
            <a:pPr algn="ctr"/>
            <a:r>
              <a:rPr lang="en-US" dirty="0"/>
              <a:t>Next research stage: </a:t>
            </a:r>
            <a:r>
              <a:rPr lang="en-US" dirty="0" err="1"/>
              <a:t>Analyse</a:t>
            </a:r>
            <a:r>
              <a:rPr lang="en-US" dirty="0"/>
              <a:t> additional healthcare ransomware incidents to determine which branches represent recurring patterns and which remain specific to HSE or Change Healthcare</a:t>
            </a:r>
            <a:endParaRPr lang="en-AU" dirty="0"/>
          </a:p>
        </p:txBody>
      </p:sp>
      <p:sp>
        <p:nvSpPr>
          <p:cNvPr id="9" name="TextBox 8">
            <a:extLst>
              <a:ext uri="{FF2B5EF4-FFF2-40B4-BE49-F238E27FC236}">
                <a16:creationId xmlns:a16="http://schemas.microsoft.com/office/drawing/2014/main" id="{36967377-DAE8-9B84-9133-6C703BCEB35A}"/>
              </a:ext>
            </a:extLst>
          </p:cNvPr>
          <p:cNvSpPr txBox="1"/>
          <p:nvPr/>
        </p:nvSpPr>
        <p:spPr>
          <a:xfrm>
            <a:off x="0" y="6638795"/>
            <a:ext cx="10071988" cy="253916"/>
          </a:xfrm>
          <a:prstGeom prst="rect">
            <a:avLst/>
          </a:prstGeom>
          <a:noFill/>
        </p:spPr>
        <p:txBody>
          <a:bodyPr wrap="none" rtlCol="0">
            <a:spAutoFit/>
          </a:bodyPr>
          <a:lstStyle/>
          <a:p>
            <a:r>
              <a:rPr lang="en-AU" sz="1050" i="1" dirty="0"/>
              <a:t>Investigation priorities derived from evidence gaps in PwC (2021, pp. 29, 47–56); Witty (2024, pp. 2–3); Fliegelman and Stemp (2024, pp. 1–6); UnitedHealth Group (2024).</a:t>
            </a:r>
          </a:p>
        </p:txBody>
      </p:sp>
    </p:spTree>
    <p:extLst>
      <p:ext uri="{BB962C8B-B14F-4D97-AF65-F5344CB8AC3E}">
        <p14:creationId xmlns:p14="http://schemas.microsoft.com/office/powerpoint/2010/main" val="18557247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1B80A-0411-DAD8-6180-9474B9EB36B3}"/>
              </a:ext>
            </a:extLst>
          </p:cNvPr>
          <p:cNvSpPr>
            <a:spLocks noGrp="1"/>
          </p:cNvSpPr>
          <p:nvPr>
            <p:ph type="title"/>
          </p:nvPr>
        </p:nvSpPr>
        <p:spPr>
          <a:xfrm>
            <a:off x="2980644" y="101600"/>
            <a:ext cx="6230712" cy="590117"/>
          </a:xfrm>
        </p:spPr>
        <p:txBody>
          <a:bodyPr/>
          <a:lstStyle/>
          <a:p>
            <a:pPr algn="ctr"/>
            <a:r>
              <a:rPr lang="en-US" b="1" dirty="0"/>
              <a:t>Executive Conclusion</a:t>
            </a:r>
            <a:endParaRPr lang="en-AU" b="1" dirty="0"/>
          </a:p>
        </p:txBody>
      </p:sp>
      <p:sp>
        <p:nvSpPr>
          <p:cNvPr id="4" name="TextBox 3">
            <a:extLst>
              <a:ext uri="{FF2B5EF4-FFF2-40B4-BE49-F238E27FC236}">
                <a16:creationId xmlns:a16="http://schemas.microsoft.com/office/drawing/2014/main" id="{15029820-0B91-E373-4B20-4D8C58A2E0E3}"/>
              </a:ext>
            </a:extLst>
          </p:cNvPr>
          <p:cNvSpPr txBox="1"/>
          <p:nvPr/>
        </p:nvSpPr>
        <p:spPr>
          <a:xfrm>
            <a:off x="2010228" y="783327"/>
            <a:ext cx="8171543" cy="646331"/>
          </a:xfrm>
          <a:prstGeom prst="rect">
            <a:avLst/>
          </a:prstGeom>
          <a:noFill/>
        </p:spPr>
        <p:txBody>
          <a:bodyPr wrap="square" rtlCol="0">
            <a:spAutoFit/>
          </a:bodyPr>
          <a:lstStyle/>
          <a:p>
            <a:pPr algn="ctr"/>
            <a:r>
              <a:rPr lang="en-AU" b="1" dirty="0"/>
              <a:t>Different initial-access routes produced the same result once attackers gained enterprise reach: critical service disruption combined with stolen data pressure.</a:t>
            </a:r>
          </a:p>
        </p:txBody>
      </p:sp>
      <p:sp>
        <p:nvSpPr>
          <p:cNvPr id="5" name="TextBox 4">
            <a:extLst>
              <a:ext uri="{FF2B5EF4-FFF2-40B4-BE49-F238E27FC236}">
                <a16:creationId xmlns:a16="http://schemas.microsoft.com/office/drawing/2014/main" id="{B4F51333-D746-B8E4-EDB4-4454572B585E}"/>
              </a:ext>
            </a:extLst>
          </p:cNvPr>
          <p:cNvSpPr txBox="1"/>
          <p:nvPr/>
        </p:nvSpPr>
        <p:spPr>
          <a:xfrm>
            <a:off x="709158" y="1528854"/>
            <a:ext cx="4542972" cy="1815882"/>
          </a:xfrm>
          <a:prstGeom prst="rect">
            <a:avLst/>
          </a:prstGeom>
          <a:noFill/>
        </p:spPr>
        <p:txBody>
          <a:bodyPr wrap="square" rtlCol="0">
            <a:spAutoFit/>
          </a:bodyPr>
          <a:lstStyle/>
          <a:p>
            <a:pPr algn="ctr"/>
            <a:r>
              <a:rPr lang="en-US" sz="1600" dirty="0"/>
              <a:t>1. Main finding</a:t>
            </a:r>
            <a:br>
              <a:rPr lang="en-US" sz="1600" dirty="0"/>
            </a:br>
            <a:r>
              <a:rPr lang="en-AU" sz="1600" dirty="0"/>
              <a:t>HSE was breached through a malicious attachment, while Change Healthcare was breached using compromised remote access credentials. These incidents then expanded within the enterprises, leading to ransomware deployment and data theft</a:t>
            </a:r>
          </a:p>
        </p:txBody>
      </p:sp>
      <p:sp>
        <p:nvSpPr>
          <p:cNvPr id="6" name="TextBox 5">
            <a:extLst>
              <a:ext uri="{FF2B5EF4-FFF2-40B4-BE49-F238E27FC236}">
                <a16:creationId xmlns:a16="http://schemas.microsoft.com/office/drawing/2014/main" id="{A95059D3-BB62-B65E-414C-416B23B5E8A5}"/>
              </a:ext>
            </a:extLst>
          </p:cNvPr>
          <p:cNvSpPr txBox="1"/>
          <p:nvPr/>
        </p:nvSpPr>
        <p:spPr>
          <a:xfrm>
            <a:off x="6910841" y="1947020"/>
            <a:ext cx="4252687" cy="3046988"/>
          </a:xfrm>
          <a:prstGeom prst="rect">
            <a:avLst/>
          </a:prstGeom>
          <a:noFill/>
        </p:spPr>
        <p:txBody>
          <a:bodyPr wrap="square" rtlCol="0">
            <a:spAutoFit/>
          </a:bodyPr>
          <a:lstStyle/>
          <a:p>
            <a:pPr algn="ctr"/>
            <a:r>
              <a:rPr lang="en-AU" sz="1600" b="1" dirty="0"/>
              <a:t>2. Executive priority</a:t>
            </a:r>
            <a:endParaRPr lang="en-AU" sz="1600" dirty="0"/>
          </a:p>
          <a:p>
            <a:pPr algn="ctr"/>
            <a:r>
              <a:rPr lang="en-AU" sz="1600" dirty="0"/>
              <a:t>Organisations should place importance on  controls that prevent a local foothold from becoming an enterprise compromise:</a:t>
            </a:r>
          </a:p>
          <a:p>
            <a:pPr lvl="0" algn="ctr"/>
            <a:r>
              <a:rPr lang="en-AU" sz="1600" dirty="0"/>
              <a:t>- Strong remote access and privileged-account authentication </a:t>
            </a:r>
          </a:p>
          <a:p>
            <a:pPr lvl="0" algn="ctr"/>
            <a:r>
              <a:rPr lang="en-AU" sz="1600" dirty="0"/>
              <a:t>- Active endpoint monitoring and alert escalation </a:t>
            </a:r>
          </a:p>
          <a:p>
            <a:pPr lvl="0" algn="ctr"/>
            <a:r>
              <a:rPr lang="en-AU" sz="1600" dirty="0"/>
              <a:t>- Network segmentation and restricted trust relationships </a:t>
            </a:r>
          </a:p>
          <a:p>
            <a:pPr lvl="0" algn="ctr"/>
            <a:r>
              <a:rPr lang="en-AU" sz="1600" dirty="0"/>
              <a:t>- Unalterable backups and tested restoration of critical services</a:t>
            </a:r>
            <a:endParaRPr lang="en-AU" dirty="0"/>
          </a:p>
        </p:txBody>
      </p:sp>
      <p:sp>
        <p:nvSpPr>
          <p:cNvPr id="7" name="TextBox 6">
            <a:extLst>
              <a:ext uri="{FF2B5EF4-FFF2-40B4-BE49-F238E27FC236}">
                <a16:creationId xmlns:a16="http://schemas.microsoft.com/office/drawing/2014/main" id="{8D580142-8820-8170-2CF9-F5FDD2B6AE70}"/>
              </a:ext>
            </a:extLst>
          </p:cNvPr>
          <p:cNvSpPr txBox="1"/>
          <p:nvPr/>
        </p:nvSpPr>
        <p:spPr>
          <a:xfrm>
            <a:off x="1028472" y="3337149"/>
            <a:ext cx="3904344" cy="2339102"/>
          </a:xfrm>
          <a:prstGeom prst="rect">
            <a:avLst/>
          </a:prstGeom>
          <a:noFill/>
        </p:spPr>
        <p:txBody>
          <a:bodyPr wrap="square" rtlCol="0">
            <a:spAutoFit/>
          </a:bodyPr>
          <a:lstStyle/>
          <a:p>
            <a:pPr algn="ctr"/>
            <a:r>
              <a:rPr lang="en-AU" sz="1600" b="1" dirty="0"/>
              <a:t>3. Limitation and next step</a:t>
            </a:r>
            <a:endParaRPr lang="en-AU" sz="1600" dirty="0"/>
          </a:p>
          <a:p>
            <a:pPr algn="ctr"/>
            <a:r>
              <a:rPr lang="en-AU" sz="1600" dirty="0"/>
              <a:t>The model draws from two publicly reported incidents. Redactions and incomplete disclosures leave several persistence, lateral-movement and exfiltration mechanisms unresolved. Additional cases should test and refine these branches.</a:t>
            </a:r>
          </a:p>
          <a:p>
            <a:endParaRPr lang="en-AU" dirty="0"/>
          </a:p>
        </p:txBody>
      </p:sp>
      <p:sp>
        <p:nvSpPr>
          <p:cNvPr id="8" name="TextBox 7">
            <a:extLst>
              <a:ext uri="{FF2B5EF4-FFF2-40B4-BE49-F238E27FC236}">
                <a16:creationId xmlns:a16="http://schemas.microsoft.com/office/drawing/2014/main" id="{D3A5280A-CF8A-CB56-94CA-8966682287EC}"/>
              </a:ext>
            </a:extLst>
          </p:cNvPr>
          <p:cNvSpPr txBox="1"/>
          <p:nvPr/>
        </p:nvSpPr>
        <p:spPr>
          <a:xfrm>
            <a:off x="3086327" y="5511370"/>
            <a:ext cx="6386286" cy="923330"/>
          </a:xfrm>
          <a:prstGeom prst="rect">
            <a:avLst/>
          </a:prstGeom>
          <a:noFill/>
        </p:spPr>
        <p:txBody>
          <a:bodyPr wrap="square" rtlCol="0">
            <a:spAutoFit/>
          </a:bodyPr>
          <a:lstStyle/>
          <a:p>
            <a:pPr algn="ctr"/>
            <a:r>
              <a:rPr lang="en-AU" b="1" dirty="0"/>
              <a:t>Executive decision:</a:t>
            </a:r>
            <a:r>
              <a:rPr lang="en-AU" dirty="0"/>
              <a:t> Direct early investment toward identity security, detection, containment and verified recovery because these controls interrupt several attack pathways.</a:t>
            </a:r>
          </a:p>
        </p:txBody>
      </p:sp>
      <p:sp>
        <p:nvSpPr>
          <p:cNvPr id="10" name="TextBox 9">
            <a:extLst>
              <a:ext uri="{FF2B5EF4-FFF2-40B4-BE49-F238E27FC236}">
                <a16:creationId xmlns:a16="http://schemas.microsoft.com/office/drawing/2014/main" id="{BAFB8046-1D35-739E-38BA-5533912B3475}"/>
              </a:ext>
            </a:extLst>
          </p:cNvPr>
          <p:cNvSpPr txBox="1"/>
          <p:nvPr/>
        </p:nvSpPr>
        <p:spPr>
          <a:xfrm>
            <a:off x="0" y="6611779"/>
            <a:ext cx="7191392" cy="246221"/>
          </a:xfrm>
          <a:prstGeom prst="rect">
            <a:avLst/>
          </a:prstGeom>
          <a:noFill/>
        </p:spPr>
        <p:txBody>
          <a:bodyPr wrap="none" rtlCol="0">
            <a:spAutoFit/>
          </a:bodyPr>
          <a:lstStyle/>
          <a:p>
            <a:r>
              <a:rPr lang="en-AU" sz="1000" i="1" dirty="0"/>
              <a:t>Conclusions based on PwC (2021); Witty (2024); Fliegelman and Stemp (2024); UnitedHealth Group (2024); CISA et al. (2024).</a:t>
            </a:r>
          </a:p>
        </p:txBody>
      </p:sp>
    </p:spTree>
    <p:extLst>
      <p:ext uri="{BB962C8B-B14F-4D97-AF65-F5344CB8AC3E}">
        <p14:creationId xmlns:p14="http://schemas.microsoft.com/office/powerpoint/2010/main" val="42519008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0ED10-C647-323F-8719-A68DCD4B3562}"/>
              </a:ext>
            </a:extLst>
          </p:cNvPr>
          <p:cNvSpPr>
            <a:spLocks noGrp="1"/>
          </p:cNvSpPr>
          <p:nvPr>
            <p:ph type="title"/>
          </p:nvPr>
        </p:nvSpPr>
        <p:spPr>
          <a:xfrm>
            <a:off x="3154814" y="135929"/>
            <a:ext cx="6346827" cy="633660"/>
          </a:xfrm>
        </p:spPr>
        <p:txBody>
          <a:bodyPr/>
          <a:lstStyle/>
          <a:p>
            <a:pPr algn="ctr"/>
            <a:r>
              <a:rPr lang="en-AU" b="1" dirty="0"/>
              <a:t>References Incident Evidence</a:t>
            </a:r>
          </a:p>
        </p:txBody>
      </p:sp>
      <p:sp>
        <p:nvSpPr>
          <p:cNvPr id="4" name="TextBox 3">
            <a:extLst>
              <a:ext uri="{FF2B5EF4-FFF2-40B4-BE49-F238E27FC236}">
                <a16:creationId xmlns:a16="http://schemas.microsoft.com/office/drawing/2014/main" id="{D9CD1E1C-A647-6292-EBD0-49B3E96BF2E1}"/>
              </a:ext>
            </a:extLst>
          </p:cNvPr>
          <p:cNvSpPr txBox="1"/>
          <p:nvPr/>
        </p:nvSpPr>
        <p:spPr>
          <a:xfrm>
            <a:off x="1226455" y="1041212"/>
            <a:ext cx="10203543" cy="577081"/>
          </a:xfrm>
          <a:prstGeom prst="rect">
            <a:avLst/>
          </a:prstGeom>
          <a:noFill/>
        </p:spPr>
        <p:txBody>
          <a:bodyPr wrap="square" rtlCol="0">
            <a:spAutoFit/>
          </a:bodyPr>
          <a:lstStyle/>
          <a:p>
            <a:pPr algn="ctr"/>
            <a:r>
              <a:rPr lang="en-AU" sz="1050" dirty="0"/>
              <a:t>PricewaterhouseCoopers (PwC) 2021, </a:t>
            </a:r>
            <a:r>
              <a:rPr lang="en-AU" sz="1050" i="1" dirty="0"/>
              <a:t>Conti cyber attack on the HSE: Independent post incident review</a:t>
            </a:r>
            <a:r>
              <a:rPr lang="en-AU" sz="1050" dirty="0"/>
              <a:t>, Health Service Executive, 3 December, viewed 20 August 2026, </a:t>
            </a:r>
            <a:br>
              <a:rPr lang="en-AU" sz="1050" dirty="0"/>
            </a:br>
            <a:r>
              <a:rPr lang="en-AU" sz="1050" dirty="0">
                <a:hlinkClick r:id="rId3"/>
              </a:rPr>
              <a:t>https://about.hse.ie/api/v2/download-file/file_based_publications/conti_cyber_attack_on_the_hse_full_report.pdf/</a:t>
            </a:r>
            <a:endParaRPr lang="en-AU" sz="1050" dirty="0"/>
          </a:p>
          <a:p>
            <a:endParaRPr lang="en-AU" sz="1050" dirty="0"/>
          </a:p>
        </p:txBody>
      </p:sp>
      <p:sp>
        <p:nvSpPr>
          <p:cNvPr id="6" name="TextBox 5">
            <a:extLst>
              <a:ext uri="{FF2B5EF4-FFF2-40B4-BE49-F238E27FC236}">
                <a16:creationId xmlns:a16="http://schemas.microsoft.com/office/drawing/2014/main" id="{6642A608-7C2B-2110-8052-74F34AA9ADF2}"/>
              </a:ext>
            </a:extLst>
          </p:cNvPr>
          <p:cNvSpPr txBox="1"/>
          <p:nvPr/>
        </p:nvSpPr>
        <p:spPr>
          <a:xfrm>
            <a:off x="1096344" y="1508252"/>
            <a:ext cx="10014858" cy="738664"/>
          </a:xfrm>
          <a:prstGeom prst="rect">
            <a:avLst/>
          </a:prstGeom>
          <a:noFill/>
        </p:spPr>
        <p:txBody>
          <a:bodyPr wrap="square">
            <a:spAutoFit/>
          </a:bodyPr>
          <a:lstStyle/>
          <a:p>
            <a:pPr algn="ctr"/>
            <a:r>
              <a:rPr lang="en-AU" sz="1050" dirty="0"/>
              <a:t>Witty, A. 2024, ‘Hacking America’s health care: assessing the Change Healthcare cyber attack and what’s next’, testimony before the United States Senate Committee on Finance, 1 May, viewed 25 August 2026, </a:t>
            </a:r>
            <a:r>
              <a:rPr lang="en-AU" sz="1050" dirty="0">
                <a:hlinkClick r:id="rId4"/>
              </a:rPr>
              <a:t>https://www.finance.senate.gov/imo/media/doc/hacking_americas_health_care_assessing_the_change_healthcare_cyber_attack_and_whats_next.pdf</a:t>
            </a:r>
            <a:endParaRPr lang="en-AU" sz="1050" dirty="0"/>
          </a:p>
          <a:p>
            <a:endParaRPr lang="en-AU" sz="1050" dirty="0"/>
          </a:p>
        </p:txBody>
      </p:sp>
      <p:sp>
        <p:nvSpPr>
          <p:cNvPr id="8" name="TextBox 7">
            <a:extLst>
              <a:ext uri="{FF2B5EF4-FFF2-40B4-BE49-F238E27FC236}">
                <a16:creationId xmlns:a16="http://schemas.microsoft.com/office/drawing/2014/main" id="{F4E223DA-A6CB-FA46-ACF3-C436401CA04A}"/>
              </a:ext>
            </a:extLst>
          </p:cNvPr>
          <p:cNvSpPr txBox="1"/>
          <p:nvPr/>
        </p:nvSpPr>
        <p:spPr>
          <a:xfrm>
            <a:off x="3048000" y="2107971"/>
            <a:ext cx="6096000" cy="854080"/>
          </a:xfrm>
          <a:prstGeom prst="rect">
            <a:avLst/>
          </a:prstGeom>
          <a:noFill/>
        </p:spPr>
        <p:txBody>
          <a:bodyPr wrap="square">
            <a:spAutoFit/>
          </a:bodyPr>
          <a:lstStyle/>
          <a:p>
            <a:pPr algn="ctr"/>
            <a:r>
              <a:rPr lang="en-AU" sz="1000" dirty="0"/>
              <a:t>Fliegelman, A. and Stemp, D. 2024, </a:t>
            </a:r>
            <a:r>
              <a:rPr lang="en-AU" sz="1000" i="1" dirty="0"/>
              <a:t>The cyberattack on Change Healthcare: lessons for financial stability</a:t>
            </a:r>
            <a:r>
              <a:rPr lang="en-AU" sz="1000" dirty="0"/>
              <a:t>, OFR Brief no. 24-05, Office of Financial Research, 13 November, viewed 25 August 2026, </a:t>
            </a:r>
            <a:r>
              <a:rPr lang="en-AU" sz="1000" dirty="0">
                <a:hlinkClick r:id="rId5"/>
              </a:rPr>
              <a:t>https://www.financialresearch.gov/briefs/files/OFRBrief-24-05-change-healthcare-cyberattack.pdf</a:t>
            </a:r>
            <a:endParaRPr lang="en-AU" sz="1000" dirty="0"/>
          </a:p>
          <a:p>
            <a:endParaRPr lang="en-AU" dirty="0"/>
          </a:p>
        </p:txBody>
      </p:sp>
      <p:sp>
        <p:nvSpPr>
          <p:cNvPr id="9" name="TextBox 8">
            <a:extLst>
              <a:ext uri="{FF2B5EF4-FFF2-40B4-BE49-F238E27FC236}">
                <a16:creationId xmlns:a16="http://schemas.microsoft.com/office/drawing/2014/main" id="{AA51A462-8239-9334-DBFD-55424AD35F86}"/>
              </a:ext>
            </a:extLst>
          </p:cNvPr>
          <p:cNvSpPr txBox="1"/>
          <p:nvPr/>
        </p:nvSpPr>
        <p:spPr>
          <a:xfrm rot="10800000" flipV="1">
            <a:off x="1444171" y="2669710"/>
            <a:ext cx="9303657" cy="553998"/>
          </a:xfrm>
          <a:prstGeom prst="rect">
            <a:avLst/>
          </a:prstGeom>
          <a:noFill/>
        </p:spPr>
        <p:txBody>
          <a:bodyPr wrap="square" rtlCol="0">
            <a:spAutoFit/>
          </a:bodyPr>
          <a:lstStyle/>
          <a:p>
            <a:pPr algn="ctr"/>
            <a:r>
              <a:rPr lang="en-AU" sz="1000" dirty="0"/>
              <a:t>UnitedHealth Group 2024, ‘UnitedHealth Group updates on Change Healthcare cyberattack’, 22 April, viewed 25 August 2026, </a:t>
            </a:r>
            <a:br>
              <a:rPr lang="en-AU" sz="1000" dirty="0"/>
            </a:br>
            <a:r>
              <a:rPr lang="en-AU" sz="1000" dirty="0">
                <a:hlinkClick r:id="rId6"/>
              </a:rPr>
              <a:t>https://www.unitedhealthgroup.com/newsroom/2024/2024-04-22-uhg-updates-on-change-healthcare-cyberattack.html</a:t>
            </a:r>
            <a:endParaRPr lang="en-AU" sz="1000" dirty="0"/>
          </a:p>
          <a:p>
            <a:endParaRPr lang="en-AU" sz="1000" dirty="0"/>
          </a:p>
        </p:txBody>
      </p:sp>
      <p:sp>
        <p:nvSpPr>
          <p:cNvPr id="10" name="TextBox 9">
            <a:extLst>
              <a:ext uri="{FF2B5EF4-FFF2-40B4-BE49-F238E27FC236}">
                <a16:creationId xmlns:a16="http://schemas.microsoft.com/office/drawing/2014/main" id="{089B3501-4FE5-85F9-E776-DFEF41263088}"/>
              </a:ext>
            </a:extLst>
          </p:cNvPr>
          <p:cNvSpPr txBox="1"/>
          <p:nvPr/>
        </p:nvSpPr>
        <p:spPr>
          <a:xfrm>
            <a:off x="1096344" y="3159998"/>
            <a:ext cx="10687541" cy="707886"/>
          </a:xfrm>
          <a:prstGeom prst="rect">
            <a:avLst/>
          </a:prstGeom>
          <a:noFill/>
        </p:spPr>
        <p:txBody>
          <a:bodyPr wrap="none" rtlCol="0">
            <a:spAutoFit/>
          </a:bodyPr>
          <a:lstStyle/>
          <a:p>
            <a:pPr algn="ctr"/>
            <a:r>
              <a:rPr lang="en-AU" sz="1000" dirty="0"/>
              <a:t>U.S. Department of Health and Human Services, Office for Civil Rights 2025, ‘Change Healthcare cybersecurity incident frequently asked questions’, updated 14 March, viewed 25 August 2026</a:t>
            </a:r>
            <a:br>
              <a:rPr lang="en-AU" sz="1000" dirty="0"/>
            </a:br>
            <a:r>
              <a:rPr lang="en-AU" sz="1000" dirty="0">
                <a:hlinkClick r:id="rId7"/>
              </a:rPr>
              <a:t>https://www.hhs.gov/hipaa/for-professionals/special-topics/change-healthcare-cybersecurity-incident-frequently-asked-questions/index.html</a:t>
            </a:r>
            <a:br>
              <a:rPr lang="en-AU" sz="1000" dirty="0"/>
            </a:br>
            <a:br>
              <a:rPr lang="en-AU" sz="1000" dirty="0"/>
            </a:br>
            <a:endParaRPr lang="en-AU" sz="1000" dirty="0"/>
          </a:p>
        </p:txBody>
      </p:sp>
      <p:sp>
        <p:nvSpPr>
          <p:cNvPr id="12" name="TextBox 11">
            <a:extLst>
              <a:ext uri="{FF2B5EF4-FFF2-40B4-BE49-F238E27FC236}">
                <a16:creationId xmlns:a16="http://schemas.microsoft.com/office/drawing/2014/main" id="{9E913433-DB38-5DDC-895E-CC09DAD8D8EC}"/>
              </a:ext>
            </a:extLst>
          </p:cNvPr>
          <p:cNvSpPr txBox="1"/>
          <p:nvPr/>
        </p:nvSpPr>
        <p:spPr>
          <a:xfrm>
            <a:off x="5244726" y="4019020"/>
            <a:ext cx="2390775" cy="369332"/>
          </a:xfrm>
          <a:prstGeom prst="rect">
            <a:avLst/>
          </a:prstGeom>
          <a:noFill/>
        </p:spPr>
        <p:txBody>
          <a:bodyPr wrap="square" rtlCol="0">
            <a:spAutoFit/>
          </a:bodyPr>
          <a:lstStyle/>
          <a:p>
            <a:pPr algn="ctr"/>
            <a:r>
              <a:rPr lang="en-US" b="1" dirty="0"/>
              <a:t>Software reference</a:t>
            </a:r>
            <a:endParaRPr lang="en-AU" b="1" dirty="0"/>
          </a:p>
        </p:txBody>
      </p:sp>
      <p:sp>
        <p:nvSpPr>
          <p:cNvPr id="13" name="TextBox 12">
            <a:extLst>
              <a:ext uri="{FF2B5EF4-FFF2-40B4-BE49-F238E27FC236}">
                <a16:creationId xmlns:a16="http://schemas.microsoft.com/office/drawing/2014/main" id="{676F1299-3439-6504-9616-3C0873E7109F}"/>
              </a:ext>
            </a:extLst>
          </p:cNvPr>
          <p:cNvSpPr txBox="1"/>
          <p:nvPr/>
        </p:nvSpPr>
        <p:spPr>
          <a:xfrm>
            <a:off x="3544930" y="4418931"/>
            <a:ext cx="5790368" cy="523220"/>
          </a:xfrm>
          <a:prstGeom prst="rect">
            <a:avLst/>
          </a:prstGeom>
          <a:noFill/>
        </p:spPr>
        <p:txBody>
          <a:bodyPr wrap="none" rtlCol="0">
            <a:spAutoFit/>
          </a:bodyPr>
          <a:lstStyle/>
          <a:p>
            <a:pPr algn="ctr"/>
            <a:r>
              <a:rPr lang="en-AU" sz="1000" dirty="0" err="1"/>
              <a:t>JGraph</a:t>
            </a:r>
            <a:r>
              <a:rPr lang="en-AU" sz="1000" dirty="0"/>
              <a:t> Ltd 2026, </a:t>
            </a:r>
            <a:r>
              <a:rPr lang="en-AU" sz="1000" i="1" dirty="0"/>
              <a:t>draw.io</a:t>
            </a:r>
            <a:r>
              <a:rPr lang="en-AU" sz="1000" dirty="0"/>
              <a:t> [diagramming software], viewed 20 August 2026, </a:t>
            </a:r>
            <a:r>
              <a:rPr lang="en-AU" sz="1000" dirty="0">
                <a:hlinkClick r:id="rId8"/>
              </a:rPr>
              <a:t>https://www.drawio.com/</a:t>
            </a:r>
            <a:r>
              <a:rPr lang="en-AU" sz="1000" dirty="0"/>
              <a:t>.</a:t>
            </a:r>
          </a:p>
          <a:p>
            <a:endParaRPr lang="en-AU" dirty="0"/>
          </a:p>
        </p:txBody>
      </p:sp>
      <p:sp>
        <p:nvSpPr>
          <p:cNvPr id="14" name="TextBox 13">
            <a:extLst>
              <a:ext uri="{FF2B5EF4-FFF2-40B4-BE49-F238E27FC236}">
                <a16:creationId xmlns:a16="http://schemas.microsoft.com/office/drawing/2014/main" id="{A7178A07-FF5B-7201-3480-069A30BD8A43}"/>
              </a:ext>
            </a:extLst>
          </p:cNvPr>
          <p:cNvSpPr txBox="1"/>
          <p:nvPr/>
        </p:nvSpPr>
        <p:spPr>
          <a:xfrm>
            <a:off x="4069472" y="4727105"/>
            <a:ext cx="4517506" cy="707886"/>
          </a:xfrm>
          <a:prstGeom prst="rect">
            <a:avLst/>
          </a:prstGeom>
          <a:noFill/>
        </p:spPr>
        <p:txBody>
          <a:bodyPr wrap="square" rtlCol="0">
            <a:spAutoFit/>
          </a:bodyPr>
          <a:lstStyle/>
          <a:p>
            <a:pPr algn="ctr"/>
            <a:r>
              <a:rPr lang="en-AU" sz="1000" dirty="0"/>
              <a:t>OpenAI 2026a, </a:t>
            </a:r>
            <a:r>
              <a:rPr lang="en-AU" sz="1000" i="1" dirty="0"/>
              <a:t>ChatGPT response to a prompt requesting an attack tree for the 2021 HSE Conti ransomware incident</a:t>
            </a:r>
            <a:r>
              <a:rPr lang="en-AU" sz="1000" dirty="0"/>
              <a:t>, large language model output, 26 August, OpenAI, </a:t>
            </a:r>
            <a:r>
              <a:rPr lang="en-AU" sz="1000" dirty="0">
                <a:hlinkClick r:id="rId9"/>
              </a:rPr>
              <a:t>https://chatgpt.com/</a:t>
            </a:r>
            <a:r>
              <a:rPr lang="en-AU" sz="1000" dirty="0"/>
              <a:t>. Prompt and output reproduced in Appendix B.</a:t>
            </a:r>
          </a:p>
        </p:txBody>
      </p:sp>
      <p:sp>
        <p:nvSpPr>
          <p:cNvPr id="15" name="TextBox 14">
            <a:extLst>
              <a:ext uri="{FF2B5EF4-FFF2-40B4-BE49-F238E27FC236}">
                <a16:creationId xmlns:a16="http://schemas.microsoft.com/office/drawing/2014/main" id="{4183CF65-BCD3-242F-B919-3C0DC4A8D79D}"/>
              </a:ext>
            </a:extLst>
          </p:cNvPr>
          <p:cNvSpPr txBox="1"/>
          <p:nvPr/>
        </p:nvSpPr>
        <p:spPr>
          <a:xfrm>
            <a:off x="4221808" y="5506384"/>
            <a:ext cx="4212834" cy="984885"/>
          </a:xfrm>
          <a:prstGeom prst="rect">
            <a:avLst/>
          </a:prstGeom>
          <a:noFill/>
        </p:spPr>
        <p:txBody>
          <a:bodyPr wrap="square" rtlCol="0">
            <a:spAutoFit/>
          </a:bodyPr>
          <a:lstStyle/>
          <a:p>
            <a:pPr algn="ctr"/>
            <a:r>
              <a:rPr lang="en-AU" sz="1000" dirty="0"/>
              <a:t>OpenAI 2026b, </a:t>
            </a:r>
            <a:r>
              <a:rPr lang="en-AU" sz="1000" i="1" dirty="0"/>
              <a:t>ChatGPT Astra response to a prompt requesting an attack tree for the 2024 Change Healthcare ransomware incident</a:t>
            </a:r>
            <a:r>
              <a:rPr lang="en-AU" sz="1000" dirty="0"/>
              <a:t>, large language model output, 26 August, OpenAI, </a:t>
            </a:r>
            <a:r>
              <a:rPr lang="en-AU" sz="1000" dirty="0">
                <a:hlinkClick r:id="rId9"/>
              </a:rPr>
              <a:t>https://chatgpt.com/</a:t>
            </a:r>
            <a:r>
              <a:rPr lang="en-AU" sz="1000" dirty="0"/>
              <a:t>. Prompt and output reproduced in Appendix E.</a:t>
            </a:r>
          </a:p>
          <a:p>
            <a:endParaRPr lang="en-AU" dirty="0"/>
          </a:p>
        </p:txBody>
      </p:sp>
      <p:sp>
        <p:nvSpPr>
          <p:cNvPr id="16" name="TextBox 15">
            <a:extLst>
              <a:ext uri="{FF2B5EF4-FFF2-40B4-BE49-F238E27FC236}">
                <a16:creationId xmlns:a16="http://schemas.microsoft.com/office/drawing/2014/main" id="{251A509B-52EC-AC3F-442D-9D272D3AF6A3}"/>
              </a:ext>
            </a:extLst>
          </p:cNvPr>
          <p:cNvSpPr txBox="1"/>
          <p:nvPr/>
        </p:nvSpPr>
        <p:spPr>
          <a:xfrm>
            <a:off x="1765750" y="3573076"/>
            <a:ext cx="9124950" cy="400110"/>
          </a:xfrm>
          <a:prstGeom prst="rect">
            <a:avLst/>
          </a:prstGeom>
          <a:noFill/>
        </p:spPr>
        <p:txBody>
          <a:bodyPr wrap="square" rtlCol="0">
            <a:spAutoFit/>
          </a:bodyPr>
          <a:lstStyle/>
          <a:p>
            <a:r>
              <a:rPr lang="en-AU" sz="1000" dirty="0"/>
              <a:t>Mahn, A., Marron, J., Quinn, S. and Topper, D. (2021) </a:t>
            </a:r>
            <a:r>
              <a:rPr lang="en-AU" sz="1000" i="1" dirty="0"/>
              <a:t>Getting Started with the NIST Cybersecurity Framework: A Quick Start Guide</a:t>
            </a:r>
            <a:r>
              <a:rPr lang="en-AU" sz="1000" dirty="0"/>
              <a:t>. NIST Special Publication 1271. Gaithersburg, MD: National Institute of Standards and Technology. Available at: </a:t>
            </a:r>
            <a:r>
              <a:rPr lang="en-AU" sz="1000" dirty="0">
                <a:hlinkClick r:id="rId10"/>
              </a:rPr>
              <a:t>https://doi.org/10.6028/NIST.SP.1271</a:t>
            </a:r>
            <a:r>
              <a:rPr lang="en-AU" sz="1000" dirty="0"/>
              <a:t> (Accessed: 8 September 2026).</a:t>
            </a:r>
          </a:p>
        </p:txBody>
      </p:sp>
    </p:spTree>
    <p:extLst>
      <p:ext uri="{BB962C8B-B14F-4D97-AF65-F5344CB8AC3E}">
        <p14:creationId xmlns:p14="http://schemas.microsoft.com/office/powerpoint/2010/main" val="12074685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28035-E7D7-DA19-9FDF-8AD757C84DF4}"/>
              </a:ext>
            </a:extLst>
          </p:cNvPr>
          <p:cNvSpPr>
            <a:spLocks noGrp="1"/>
          </p:cNvSpPr>
          <p:nvPr>
            <p:ph type="title"/>
          </p:nvPr>
        </p:nvSpPr>
        <p:spPr>
          <a:xfrm>
            <a:off x="293977" y="-188135"/>
            <a:ext cx="11604046" cy="969206"/>
          </a:xfrm>
        </p:spPr>
        <p:txBody>
          <a:bodyPr/>
          <a:lstStyle/>
          <a:p>
            <a:pPr algn="ctr"/>
            <a:r>
              <a:rPr lang="en-US" b="1" dirty="0"/>
              <a:t>References Framework, Guidance, and Tools</a:t>
            </a:r>
            <a:endParaRPr lang="en-AU" b="1" dirty="0"/>
          </a:p>
        </p:txBody>
      </p:sp>
      <p:sp>
        <p:nvSpPr>
          <p:cNvPr id="4" name="TextBox 3">
            <a:extLst>
              <a:ext uri="{FF2B5EF4-FFF2-40B4-BE49-F238E27FC236}">
                <a16:creationId xmlns:a16="http://schemas.microsoft.com/office/drawing/2014/main" id="{A9C3B628-9BBB-3135-137E-78596AC61884}"/>
              </a:ext>
            </a:extLst>
          </p:cNvPr>
          <p:cNvSpPr txBox="1"/>
          <p:nvPr/>
        </p:nvSpPr>
        <p:spPr>
          <a:xfrm>
            <a:off x="133350" y="1085850"/>
            <a:ext cx="11604046" cy="2769989"/>
          </a:xfrm>
          <a:prstGeom prst="rect">
            <a:avLst/>
          </a:prstGeom>
          <a:noFill/>
        </p:spPr>
        <p:txBody>
          <a:bodyPr wrap="square" rtlCol="0">
            <a:spAutoFit/>
          </a:bodyPr>
          <a:lstStyle/>
          <a:p>
            <a:pPr algn="ctr"/>
            <a:r>
              <a:rPr lang="en-US" sz="1200" dirty="0"/>
              <a:t>Frameworks and guidance</a:t>
            </a:r>
            <a:br>
              <a:rPr lang="en-US" sz="1200" dirty="0"/>
            </a:br>
            <a:r>
              <a:rPr lang="en-AU" sz="1200" dirty="0"/>
              <a:t>Australian Signals Directorate 2023, </a:t>
            </a:r>
            <a:r>
              <a:rPr lang="en-AU" sz="1200" i="1" dirty="0"/>
              <a:t>Essential Eight maturity model</a:t>
            </a:r>
            <a:r>
              <a:rPr lang="en-AU" sz="1200" dirty="0"/>
              <a:t>, Australian Cyber Security Centre, updated 27 November, viewed 23 August 2026, </a:t>
            </a:r>
            <a:r>
              <a:rPr lang="en-AU" sz="1200" dirty="0">
                <a:hlinkClick r:id="rId2"/>
              </a:rPr>
              <a:t>https://www.cyber.gov.au/business-government/asds-cyber-security-frameworks/essential-eight/essential-eight-maturity-model</a:t>
            </a:r>
            <a:r>
              <a:rPr lang="en-AU" sz="1200" dirty="0"/>
              <a:t>.</a:t>
            </a:r>
          </a:p>
          <a:p>
            <a:endParaRPr lang="en-AU" sz="1200" dirty="0"/>
          </a:p>
          <a:p>
            <a:pPr algn="ctr"/>
            <a:r>
              <a:rPr lang="en-AU" sz="1200" dirty="0"/>
              <a:t>Cybersecurity and Infrastructure Security Agency, Federal Bureau of Investigation and U.S. Department of Health and Human Services 2024, </a:t>
            </a:r>
            <a:r>
              <a:rPr lang="en-AU" sz="1200" i="1" dirty="0"/>
              <a:t>#StopRansomware: ALPHV Blackcat</a:t>
            </a:r>
            <a:r>
              <a:rPr lang="en-AU" sz="1200" dirty="0"/>
              <a:t>, Cybersecurity Advisory AA23-353A, revised 27 February, viewed 24 August 2026, </a:t>
            </a:r>
            <a:r>
              <a:rPr lang="en-AU" sz="1200" dirty="0">
                <a:hlinkClick r:id="rId3"/>
              </a:rPr>
              <a:t>https://www.cisa.gov/news-events/cybersecurity-advisories/aa23-353a</a:t>
            </a:r>
            <a:r>
              <a:rPr lang="en-AU" sz="1200" dirty="0"/>
              <a:t>.</a:t>
            </a:r>
          </a:p>
          <a:p>
            <a:endParaRPr lang="en-AU" sz="1200" dirty="0"/>
          </a:p>
          <a:p>
            <a:pPr algn="ctr"/>
            <a:r>
              <a:rPr lang="en-AU" sz="1200" dirty="0"/>
              <a:t>Mahn, A., Marron, J., Quinn, S. and Topper, D. 2021, </a:t>
            </a:r>
            <a:r>
              <a:rPr lang="en-AU" sz="1200" i="1" dirty="0"/>
              <a:t>Getting started with the NIST Cybersecurity Framework: a quick start guide</a:t>
            </a:r>
            <a:r>
              <a:rPr lang="en-AU" sz="1200" dirty="0"/>
              <a:t>, NIST Special Publication 1271, National Institute of Standards and Technology, viewed 24 August 2026, </a:t>
            </a:r>
            <a:r>
              <a:rPr lang="en-AU" sz="1200" dirty="0">
                <a:hlinkClick r:id="rId4"/>
              </a:rPr>
              <a:t>https://doi.org/10.6028/NIST.SP.1271</a:t>
            </a:r>
            <a:r>
              <a:rPr lang="en-AU" sz="1200" dirty="0"/>
              <a:t>.</a:t>
            </a:r>
          </a:p>
          <a:p>
            <a:endParaRPr lang="en-AU" sz="1200" dirty="0"/>
          </a:p>
          <a:p>
            <a:pPr algn="ctr"/>
            <a:r>
              <a:rPr lang="en-AU" sz="1200" dirty="0"/>
              <a:t>Schneier, B. 1999, ‘Attack trees’, </a:t>
            </a:r>
            <a:r>
              <a:rPr lang="en-AU" sz="1200" i="1" dirty="0"/>
              <a:t>Dr. Dobb’s Journal</a:t>
            </a:r>
            <a:r>
              <a:rPr lang="en-AU" sz="1200" dirty="0"/>
              <a:t>, vol. 24, no. 12, pp. 21–29, viewed 21 August 2026 </a:t>
            </a:r>
            <a:r>
              <a:rPr lang="en-AU" sz="1200" dirty="0">
                <a:hlinkClick r:id="rId5"/>
              </a:rPr>
              <a:t>https://www.schneier.com/academic/archives/1999/12/attack_trees.html</a:t>
            </a:r>
            <a:endParaRPr lang="en-AU" sz="1200" dirty="0"/>
          </a:p>
          <a:p>
            <a:pPr algn="ctr"/>
            <a:endParaRPr lang="en-AU" sz="1200" dirty="0"/>
          </a:p>
          <a:p>
            <a:endParaRPr lang="en-AU" dirty="0"/>
          </a:p>
        </p:txBody>
      </p:sp>
    </p:spTree>
    <p:extLst>
      <p:ext uri="{BB962C8B-B14F-4D97-AF65-F5344CB8AC3E}">
        <p14:creationId xmlns:p14="http://schemas.microsoft.com/office/powerpoint/2010/main" val="18103872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3D889-1FC5-A30F-E8E1-7792247DDF01}"/>
              </a:ext>
            </a:extLst>
          </p:cNvPr>
          <p:cNvSpPr>
            <a:spLocks noGrp="1"/>
          </p:cNvSpPr>
          <p:nvPr>
            <p:ph type="title"/>
          </p:nvPr>
        </p:nvSpPr>
        <p:spPr>
          <a:xfrm>
            <a:off x="3749705" y="120707"/>
            <a:ext cx="5378387" cy="685821"/>
          </a:xfrm>
        </p:spPr>
        <p:txBody>
          <a:bodyPr>
            <a:normAutofit fontScale="90000"/>
          </a:bodyPr>
          <a:lstStyle/>
          <a:p>
            <a:r>
              <a:rPr lang="en-US" b="1" dirty="0"/>
              <a:t>Appendix A: HSE Manual Attack Tree</a:t>
            </a:r>
            <a:endParaRPr lang="en-AU" b="1" dirty="0"/>
          </a:p>
        </p:txBody>
      </p:sp>
      <p:pic>
        <p:nvPicPr>
          <p:cNvPr id="5" name="Picture 4">
            <a:extLst>
              <a:ext uri="{FF2B5EF4-FFF2-40B4-BE49-F238E27FC236}">
                <a16:creationId xmlns:a16="http://schemas.microsoft.com/office/drawing/2014/main" id="{BAFB2A80-BF62-900E-EC5C-D5AB5D9334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73900"/>
            <a:ext cx="12191999" cy="5420482"/>
          </a:xfrm>
          <a:prstGeom prst="rect">
            <a:avLst/>
          </a:prstGeom>
        </p:spPr>
      </p:pic>
      <p:sp>
        <p:nvSpPr>
          <p:cNvPr id="6" name="TextBox 5">
            <a:extLst>
              <a:ext uri="{FF2B5EF4-FFF2-40B4-BE49-F238E27FC236}">
                <a16:creationId xmlns:a16="http://schemas.microsoft.com/office/drawing/2014/main" id="{E045E07D-FBAB-8C5B-89F6-A17C242B2ED5}"/>
              </a:ext>
            </a:extLst>
          </p:cNvPr>
          <p:cNvSpPr txBox="1"/>
          <p:nvPr/>
        </p:nvSpPr>
        <p:spPr>
          <a:xfrm>
            <a:off x="2959892" y="6446882"/>
            <a:ext cx="6958014" cy="261610"/>
          </a:xfrm>
          <a:prstGeom prst="rect">
            <a:avLst/>
          </a:prstGeom>
          <a:noFill/>
        </p:spPr>
        <p:txBody>
          <a:bodyPr wrap="square" rtlCol="0">
            <a:spAutoFit/>
          </a:bodyPr>
          <a:lstStyle/>
          <a:p>
            <a:pPr algn="ctr"/>
            <a:r>
              <a:rPr lang="en-AU" sz="1100" dirty="0">
                <a:hlinkClick r:id="rId3"/>
              </a:rPr>
              <a:t>https://drive.google.com/file/d/1iaB1qmiFjICW4IeoZkhvZikyxo0mil3d/view?usp=sharing</a:t>
            </a:r>
            <a:endParaRPr lang="en-AU" sz="1100" dirty="0"/>
          </a:p>
        </p:txBody>
      </p:sp>
    </p:spTree>
    <p:extLst>
      <p:ext uri="{BB962C8B-B14F-4D97-AF65-F5344CB8AC3E}">
        <p14:creationId xmlns:p14="http://schemas.microsoft.com/office/powerpoint/2010/main" val="14161402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1832A-901A-9892-7DCD-AA92E6C67427}"/>
              </a:ext>
            </a:extLst>
          </p:cNvPr>
          <p:cNvSpPr>
            <a:spLocks noGrp="1"/>
          </p:cNvSpPr>
          <p:nvPr>
            <p:ph type="title"/>
          </p:nvPr>
        </p:nvSpPr>
        <p:spPr>
          <a:xfrm>
            <a:off x="3257776" y="200024"/>
            <a:ext cx="5676448" cy="552471"/>
          </a:xfrm>
        </p:spPr>
        <p:txBody>
          <a:bodyPr/>
          <a:lstStyle/>
          <a:p>
            <a:pPr algn="ctr"/>
            <a:r>
              <a:rPr lang="en-US" b="1" dirty="0"/>
              <a:t>Appendix B: HSE LLM Output</a:t>
            </a:r>
            <a:endParaRPr lang="en-AU" b="1" dirty="0"/>
          </a:p>
        </p:txBody>
      </p:sp>
      <p:sp>
        <p:nvSpPr>
          <p:cNvPr id="4" name="TextBox 3">
            <a:extLst>
              <a:ext uri="{FF2B5EF4-FFF2-40B4-BE49-F238E27FC236}">
                <a16:creationId xmlns:a16="http://schemas.microsoft.com/office/drawing/2014/main" id="{0526ECFC-9493-F329-07CA-B9996E42972C}"/>
              </a:ext>
            </a:extLst>
          </p:cNvPr>
          <p:cNvSpPr txBox="1"/>
          <p:nvPr/>
        </p:nvSpPr>
        <p:spPr>
          <a:xfrm>
            <a:off x="247650" y="990600"/>
            <a:ext cx="6276975" cy="1569660"/>
          </a:xfrm>
          <a:prstGeom prst="rect">
            <a:avLst/>
          </a:prstGeom>
          <a:noFill/>
        </p:spPr>
        <p:txBody>
          <a:bodyPr wrap="square" rtlCol="0">
            <a:spAutoFit/>
          </a:bodyPr>
          <a:lstStyle/>
          <a:p>
            <a:r>
              <a:rPr lang="en-US" sz="1200" b="1" dirty="0"/>
              <a:t>Appendix B1: Prompt</a:t>
            </a:r>
            <a:br>
              <a:rPr lang="en-US" sz="1200" dirty="0"/>
            </a:br>
            <a:r>
              <a:rPr lang="en-AU" sz="1200" b="1" dirty="0"/>
              <a:t>Tool:</a:t>
            </a:r>
            <a:r>
              <a:rPr lang="en-AU" sz="1200" dirty="0"/>
              <a:t> ChatGPT</a:t>
            </a:r>
            <a:br>
              <a:rPr lang="en-AU" sz="1200" dirty="0"/>
            </a:br>
            <a:r>
              <a:rPr lang="en-AU" sz="1200" b="1" dirty="0"/>
              <a:t>Provider:</a:t>
            </a:r>
            <a:r>
              <a:rPr lang="en-AU" sz="1200" dirty="0"/>
              <a:t> OpenAI</a:t>
            </a:r>
            <a:br>
              <a:rPr lang="en-AU" sz="1200" dirty="0"/>
            </a:br>
            <a:r>
              <a:rPr lang="en-AU" sz="1200" b="1" dirty="0"/>
              <a:t>Date generated:</a:t>
            </a:r>
            <a:r>
              <a:rPr lang="en-AU" sz="1200" dirty="0"/>
              <a:t> 26 August 2026</a:t>
            </a:r>
            <a:br>
              <a:rPr lang="en-AU" sz="1200" dirty="0"/>
            </a:br>
            <a:r>
              <a:rPr lang="en-AU" sz="1200" b="1" dirty="0"/>
              <a:t>Approach:</a:t>
            </a:r>
            <a:r>
              <a:rPr lang="en-AU" sz="1200" dirty="0"/>
              <a:t> Single prompt and response</a:t>
            </a:r>
            <a:br>
              <a:rPr lang="en-AU" sz="1200" dirty="0"/>
            </a:br>
            <a:r>
              <a:rPr lang="en-AU" sz="1200" b="1" dirty="0"/>
              <a:t>Input:</a:t>
            </a:r>
            <a:r>
              <a:rPr lang="en-AU" sz="1200" dirty="0"/>
              <a:t> PwC HSE post-incident report</a:t>
            </a:r>
            <a:br>
              <a:rPr lang="en-AU" sz="1200" dirty="0"/>
            </a:br>
            <a:r>
              <a:rPr lang="en-AU" sz="1200" i="1" dirty="0"/>
              <a:t>“Based on the attached PwC report, create an attack tree for the 2021 Conti ransomware attack on the HSE. Show the root objective and use AND/OR branches.”</a:t>
            </a:r>
          </a:p>
        </p:txBody>
      </p:sp>
      <p:sp>
        <p:nvSpPr>
          <p:cNvPr id="5" name="TextBox 4">
            <a:extLst>
              <a:ext uri="{FF2B5EF4-FFF2-40B4-BE49-F238E27FC236}">
                <a16:creationId xmlns:a16="http://schemas.microsoft.com/office/drawing/2014/main" id="{9DA00500-8B0C-50D6-2AD3-2AC2894EA6FF}"/>
              </a:ext>
            </a:extLst>
          </p:cNvPr>
          <p:cNvSpPr txBox="1"/>
          <p:nvPr/>
        </p:nvSpPr>
        <p:spPr>
          <a:xfrm>
            <a:off x="247650" y="2560260"/>
            <a:ext cx="5848350" cy="553998"/>
          </a:xfrm>
          <a:prstGeom prst="rect">
            <a:avLst/>
          </a:prstGeom>
          <a:noFill/>
        </p:spPr>
        <p:txBody>
          <a:bodyPr wrap="square" rtlCol="0">
            <a:spAutoFit/>
          </a:bodyPr>
          <a:lstStyle/>
          <a:p>
            <a:r>
              <a:rPr lang="en-AU" sz="1200" b="1" dirty="0"/>
              <a:t>Appendix B2: HSE LLM Response</a:t>
            </a:r>
          </a:p>
          <a:p>
            <a:endParaRPr lang="en-AU" dirty="0"/>
          </a:p>
        </p:txBody>
      </p:sp>
      <p:pic>
        <p:nvPicPr>
          <p:cNvPr id="7" name="Picture 6">
            <a:extLst>
              <a:ext uri="{FF2B5EF4-FFF2-40B4-BE49-F238E27FC236}">
                <a16:creationId xmlns:a16="http://schemas.microsoft.com/office/drawing/2014/main" id="{37DDAA78-AAC2-941F-861F-DA34808FB7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343150"/>
            <a:ext cx="12192000" cy="3267171"/>
          </a:xfrm>
          <a:prstGeom prst="rect">
            <a:avLst/>
          </a:prstGeom>
        </p:spPr>
      </p:pic>
      <p:sp>
        <p:nvSpPr>
          <p:cNvPr id="8" name="TextBox 7">
            <a:extLst>
              <a:ext uri="{FF2B5EF4-FFF2-40B4-BE49-F238E27FC236}">
                <a16:creationId xmlns:a16="http://schemas.microsoft.com/office/drawing/2014/main" id="{761E0A6C-7D8D-36D6-5C1C-46C925AE06F9}"/>
              </a:ext>
            </a:extLst>
          </p:cNvPr>
          <p:cNvSpPr txBox="1"/>
          <p:nvPr/>
        </p:nvSpPr>
        <p:spPr>
          <a:xfrm>
            <a:off x="2610975" y="6153150"/>
            <a:ext cx="6970050" cy="307777"/>
          </a:xfrm>
          <a:prstGeom prst="rect">
            <a:avLst/>
          </a:prstGeom>
          <a:noFill/>
        </p:spPr>
        <p:txBody>
          <a:bodyPr wrap="none" rtlCol="0">
            <a:spAutoFit/>
          </a:bodyPr>
          <a:lstStyle/>
          <a:p>
            <a:pPr algn="ctr"/>
            <a:r>
              <a:rPr lang="en-AU" sz="1400" dirty="0"/>
              <a:t>https://drive.google.com/file/d/1CvcQLo2KiDT-reJvvr1AotKRfT42epE3/view?usp=sharing</a:t>
            </a:r>
          </a:p>
        </p:txBody>
      </p:sp>
    </p:spTree>
    <p:extLst>
      <p:ext uri="{BB962C8B-B14F-4D97-AF65-F5344CB8AC3E}">
        <p14:creationId xmlns:p14="http://schemas.microsoft.com/office/powerpoint/2010/main" val="21614735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AD7EC-1F8F-C1B8-2DE6-D62E16A6B4D5}"/>
              </a:ext>
            </a:extLst>
          </p:cNvPr>
          <p:cNvSpPr>
            <a:spLocks noGrp="1"/>
          </p:cNvSpPr>
          <p:nvPr>
            <p:ph type="title"/>
          </p:nvPr>
        </p:nvSpPr>
        <p:spPr>
          <a:xfrm>
            <a:off x="293977" y="-140510"/>
            <a:ext cx="11604046" cy="969206"/>
          </a:xfrm>
        </p:spPr>
        <p:txBody>
          <a:bodyPr/>
          <a:lstStyle/>
          <a:p>
            <a:pPr algn="ctr"/>
            <a:r>
              <a:rPr lang="en-US" b="1" dirty="0"/>
              <a:t>Appendix C: HSE Case Synthesis</a:t>
            </a:r>
            <a:endParaRPr lang="en-AU" b="1" dirty="0"/>
          </a:p>
        </p:txBody>
      </p:sp>
      <p:pic>
        <p:nvPicPr>
          <p:cNvPr id="5" name="Picture 4">
            <a:extLst>
              <a:ext uri="{FF2B5EF4-FFF2-40B4-BE49-F238E27FC236}">
                <a16:creationId xmlns:a16="http://schemas.microsoft.com/office/drawing/2014/main" id="{C4CFCABF-BF23-EABD-7921-496DBD11FF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59754"/>
            <a:ext cx="12192000" cy="5757545"/>
          </a:xfrm>
          <a:prstGeom prst="rect">
            <a:avLst/>
          </a:prstGeom>
        </p:spPr>
      </p:pic>
      <p:sp>
        <p:nvSpPr>
          <p:cNvPr id="7" name="TextBox 6">
            <a:extLst>
              <a:ext uri="{FF2B5EF4-FFF2-40B4-BE49-F238E27FC236}">
                <a16:creationId xmlns:a16="http://schemas.microsoft.com/office/drawing/2014/main" id="{34B3B163-1D8C-9408-A655-961CA5A00D52}"/>
              </a:ext>
            </a:extLst>
          </p:cNvPr>
          <p:cNvSpPr txBox="1"/>
          <p:nvPr/>
        </p:nvSpPr>
        <p:spPr>
          <a:xfrm>
            <a:off x="3023171" y="6517299"/>
            <a:ext cx="6145657" cy="276999"/>
          </a:xfrm>
          <a:prstGeom prst="rect">
            <a:avLst/>
          </a:prstGeom>
          <a:noFill/>
        </p:spPr>
        <p:txBody>
          <a:bodyPr wrap="none" rtlCol="0">
            <a:spAutoFit/>
          </a:bodyPr>
          <a:lstStyle/>
          <a:p>
            <a:r>
              <a:rPr lang="en-AU" sz="1200" dirty="0">
                <a:hlinkClick r:id="rId3"/>
              </a:rPr>
              <a:t>https://drive.google.com/file/d/1875WoYf3Tro06S6QO6Fxyfqzw98t4qC6/view?usp=sharing</a:t>
            </a:r>
            <a:endParaRPr lang="en-AU" sz="1200" dirty="0"/>
          </a:p>
        </p:txBody>
      </p:sp>
    </p:spTree>
    <p:extLst>
      <p:ext uri="{BB962C8B-B14F-4D97-AF65-F5344CB8AC3E}">
        <p14:creationId xmlns:p14="http://schemas.microsoft.com/office/powerpoint/2010/main" val="30278098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3BC08-5297-6E80-2015-CC97072E137B}"/>
              </a:ext>
            </a:extLst>
          </p:cNvPr>
          <p:cNvSpPr>
            <a:spLocks noGrp="1"/>
          </p:cNvSpPr>
          <p:nvPr>
            <p:ph type="title"/>
          </p:nvPr>
        </p:nvSpPr>
        <p:spPr>
          <a:xfrm>
            <a:off x="293977" y="171450"/>
            <a:ext cx="11604046" cy="619146"/>
          </a:xfrm>
        </p:spPr>
        <p:txBody>
          <a:bodyPr/>
          <a:lstStyle/>
          <a:p>
            <a:pPr algn="ctr"/>
            <a:r>
              <a:rPr lang="en-US" b="1" dirty="0"/>
              <a:t>Appendix D: Change Healthcare Manual Tree</a:t>
            </a:r>
            <a:endParaRPr lang="en-AU" b="1" dirty="0"/>
          </a:p>
        </p:txBody>
      </p:sp>
      <p:pic>
        <p:nvPicPr>
          <p:cNvPr id="5" name="Picture 4">
            <a:extLst>
              <a:ext uri="{FF2B5EF4-FFF2-40B4-BE49-F238E27FC236}">
                <a16:creationId xmlns:a16="http://schemas.microsoft.com/office/drawing/2014/main" id="{1DBA9D49-7479-B31E-3801-031383B64A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90596"/>
            <a:ext cx="12192000" cy="5782711"/>
          </a:xfrm>
          <a:prstGeom prst="rect">
            <a:avLst/>
          </a:prstGeom>
        </p:spPr>
      </p:pic>
      <p:sp>
        <p:nvSpPr>
          <p:cNvPr id="6" name="TextBox 5">
            <a:extLst>
              <a:ext uri="{FF2B5EF4-FFF2-40B4-BE49-F238E27FC236}">
                <a16:creationId xmlns:a16="http://schemas.microsoft.com/office/drawing/2014/main" id="{3E8DDD2B-0742-6D60-8237-660F2EAC3B8E}"/>
              </a:ext>
            </a:extLst>
          </p:cNvPr>
          <p:cNvSpPr txBox="1"/>
          <p:nvPr/>
        </p:nvSpPr>
        <p:spPr>
          <a:xfrm>
            <a:off x="2933820" y="6548050"/>
            <a:ext cx="6324360" cy="276999"/>
          </a:xfrm>
          <a:prstGeom prst="rect">
            <a:avLst/>
          </a:prstGeom>
          <a:noFill/>
        </p:spPr>
        <p:txBody>
          <a:bodyPr wrap="none" rtlCol="0">
            <a:spAutoFit/>
          </a:bodyPr>
          <a:lstStyle/>
          <a:p>
            <a:r>
              <a:rPr lang="en-AU" sz="1200" dirty="0">
                <a:hlinkClick r:id="rId3"/>
              </a:rPr>
              <a:t>https://drive.google.com/file/d/1aXDwO1SbzQEUkJPJ0-nw1iWgNPFZEdS6/view?usp=sharing</a:t>
            </a:r>
            <a:endParaRPr lang="en-AU" sz="1200" dirty="0"/>
          </a:p>
        </p:txBody>
      </p:sp>
    </p:spTree>
    <p:extLst>
      <p:ext uri="{BB962C8B-B14F-4D97-AF65-F5344CB8AC3E}">
        <p14:creationId xmlns:p14="http://schemas.microsoft.com/office/powerpoint/2010/main" val="33344018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1F1A6-FA9B-93C4-F830-4B1A65D2094E}"/>
              </a:ext>
            </a:extLst>
          </p:cNvPr>
          <p:cNvSpPr>
            <a:spLocks noGrp="1"/>
          </p:cNvSpPr>
          <p:nvPr>
            <p:ph type="title"/>
          </p:nvPr>
        </p:nvSpPr>
        <p:spPr>
          <a:xfrm>
            <a:off x="2346388" y="230965"/>
            <a:ext cx="7499223" cy="540560"/>
          </a:xfrm>
        </p:spPr>
        <p:txBody>
          <a:bodyPr/>
          <a:lstStyle/>
          <a:p>
            <a:pPr algn="ctr"/>
            <a:r>
              <a:rPr lang="en-US" b="1" dirty="0"/>
              <a:t>Appendix E: Change Healthcare LLM Output</a:t>
            </a:r>
            <a:endParaRPr lang="en-AU" b="1" dirty="0"/>
          </a:p>
        </p:txBody>
      </p:sp>
      <p:sp>
        <p:nvSpPr>
          <p:cNvPr id="4" name="TextBox 3">
            <a:extLst>
              <a:ext uri="{FF2B5EF4-FFF2-40B4-BE49-F238E27FC236}">
                <a16:creationId xmlns:a16="http://schemas.microsoft.com/office/drawing/2014/main" id="{A6847BE6-DCFA-EBE5-18A4-5A417F2152EB}"/>
              </a:ext>
            </a:extLst>
          </p:cNvPr>
          <p:cNvSpPr txBox="1"/>
          <p:nvPr/>
        </p:nvSpPr>
        <p:spPr>
          <a:xfrm>
            <a:off x="295275" y="895349"/>
            <a:ext cx="3057525" cy="1661993"/>
          </a:xfrm>
          <a:prstGeom prst="rect">
            <a:avLst/>
          </a:prstGeom>
          <a:noFill/>
        </p:spPr>
        <p:txBody>
          <a:bodyPr wrap="square" rtlCol="0">
            <a:spAutoFit/>
          </a:bodyPr>
          <a:lstStyle/>
          <a:p>
            <a:r>
              <a:rPr lang="en-AU" sz="1400" b="1" dirty="0"/>
              <a:t>Appendix E1: Prompt</a:t>
            </a:r>
          </a:p>
          <a:p>
            <a:r>
              <a:rPr lang="en-AU" sz="1400" b="1" dirty="0"/>
              <a:t>Tool:</a:t>
            </a:r>
            <a:r>
              <a:rPr lang="en-AU" sz="1400" dirty="0"/>
              <a:t> ChatGPT</a:t>
            </a:r>
            <a:br>
              <a:rPr lang="en-AU" sz="1400" dirty="0"/>
            </a:br>
            <a:r>
              <a:rPr lang="en-AU" sz="1400" b="1" dirty="0"/>
              <a:t>Provider:</a:t>
            </a:r>
            <a:r>
              <a:rPr lang="en-AU" sz="1400" dirty="0"/>
              <a:t> OpenAI</a:t>
            </a:r>
            <a:br>
              <a:rPr lang="en-AU" sz="1400" dirty="0"/>
            </a:br>
            <a:r>
              <a:rPr lang="en-AU" sz="1400" b="1" dirty="0"/>
              <a:t>Date generated:</a:t>
            </a:r>
            <a:r>
              <a:rPr lang="en-AU" sz="1400" dirty="0"/>
              <a:t> 26 September 2026</a:t>
            </a:r>
            <a:br>
              <a:rPr lang="en-AU" sz="1400" dirty="0"/>
            </a:br>
            <a:r>
              <a:rPr lang="en-AU" sz="1400" b="1" dirty="0"/>
              <a:t>Approach:</a:t>
            </a:r>
            <a:r>
              <a:rPr lang="en-AU" sz="1400" dirty="0"/>
              <a:t> Single prompt and response</a:t>
            </a:r>
          </a:p>
          <a:p>
            <a:endParaRPr lang="en-AU" dirty="0"/>
          </a:p>
        </p:txBody>
      </p:sp>
      <p:sp>
        <p:nvSpPr>
          <p:cNvPr id="5" name="TextBox 4">
            <a:extLst>
              <a:ext uri="{FF2B5EF4-FFF2-40B4-BE49-F238E27FC236}">
                <a16:creationId xmlns:a16="http://schemas.microsoft.com/office/drawing/2014/main" id="{0EEFF77C-8E97-84FD-2D3E-2B02ED0582B0}"/>
              </a:ext>
            </a:extLst>
          </p:cNvPr>
          <p:cNvSpPr txBox="1"/>
          <p:nvPr/>
        </p:nvSpPr>
        <p:spPr>
          <a:xfrm>
            <a:off x="3476625" y="895349"/>
            <a:ext cx="3362325" cy="1169551"/>
          </a:xfrm>
          <a:prstGeom prst="rect">
            <a:avLst/>
          </a:prstGeom>
          <a:noFill/>
        </p:spPr>
        <p:txBody>
          <a:bodyPr wrap="square" rtlCol="0">
            <a:spAutoFit/>
          </a:bodyPr>
          <a:lstStyle/>
          <a:p>
            <a:r>
              <a:rPr lang="en-US" sz="1400" dirty="0"/>
              <a:t>Prompt used:</a:t>
            </a:r>
            <a:br>
              <a:rPr lang="en-US" sz="1400" dirty="0"/>
            </a:br>
            <a:r>
              <a:rPr lang="en-AU" sz="1400" i="1" dirty="0"/>
              <a:t>“Create an attack tree for the Change Healthcare, United States (2024) attack. Show the root objective and use AND/OR branches.”</a:t>
            </a:r>
          </a:p>
        </p:txBody>
      </p:sp>
      <p:sp>
        <p:nvSpPr>
          <p:cNvPr id="6" name="TextBox 5">
            <a:extLst>
              <a:ext uri="{FF2B5EF4-FFF2-40B4-BE49-F238E27FC236}">
                <a16:creationId xmlns:a16="http://schemas.microsoft.com/office/drawing/2014/main" id="{F62A832B-20A9-B23F-9A00-602D42B1109F}"/>
              </a:ext>
            </a:extLst>
          </p:cNvPr>
          <p:cNvSpPr txBox="1"/>
          <p:nvPr/>
        </p:nvSpPr>
        <p:spPr>
          <a:xfrm>
            <a:off x="4126581" y="2339518"/>
            <a:ext cx="3938835" cy="307777"/>
          </a:xfrm>
          <a:prstGeom prst="rect">
            <a:avLst/>
          </a:prstGeom>
          <a:noFill/>
        </p:spPr>
        <p:txBody>
          <a:bodyPr wrap="none" rtlCol="0">
            <a:spAutoFit/>
          </a:bodyPr>
          <a:lstStyle/>
          <a:p>
            <a:r>
              <a:rPr lang="en-US" sz="1400" dirty="0"/>
              <a:t>Appendix E3: Change Healthcare LLM response </a:t>
            </a:r>
            <a:endParaRPr lang="en-AU" sz="1400" dirty="0"/>
          </a:p>
        </p:txBody>
      </p:sp>
      <p:pic>
        <p:nvPicPr>
          <p:cNvPr id="8" name="Picture 7">
            <a:extLst>
              <a:ext uri="{FF2B5EF4-FFF2-40B4-BE49-F238E27FC236}">
                <a16:creationId xmlns:a16="http://schemas.microsoft.com/office/drawing/2014/main" id="{9A848EDE-C8FC-DB09-9BE9-3388CC9A30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9279" y="2681166"/>
            <a:ext cx="8853441" cy="3355062"/>
          </a:xfrm>
          <a:prstGeom prst="rect">
            <a:avLst/>
          </a:prstGeom>
        </p:spPr>
      </p:pic>
      <p:sp>
        <p:nvSpPr>
          <p:cNvPr id="9" name="TextBox 8">
            <a:extLst>
              <a:ext uri="{FF2B5EF4-FFF2-40B4-BE49-F238E27FC236}">
                <a16:creationId xmlns:a16="http://schemas.microsoft.com/office/drawing/2014/main" id="{EC5F29BD-8B48-95F0-7959-BE2E296AE919}"/>
              </a:ext>
            </a:extLst>
          </p:cNvPr>
          <p:cNvSpPr txBox="1"/>
          <p:nvPr/>
        </p:nvSpPr>
        <p:spPr>
          <a:xfrm>
            <a:off x="2905733" y="6190829"/>
            <a:ext cx="6380529" cy="461665"/>
          </a:xfrm>
          <a:prstGeom prst="rect">
            <a:avLst/>
          </a:prstGeom>
          <a:noFill/>
        </p:spPr>
        <p:txBody>
          <a:bodyPr wrap="none" rtlCol="0">
            <a:spAutoFit/>
          </a:bodyPr>
          <a:lstStyle/>
          <a:p>
            <a:r>
              <a:rPr lang="en-AU" sz="1200" dirty="0">
                <a:hlinkClick r:id="rId3"/>
              </a:rPr>
              <a:t>https://drive.google.com/file/d/1QLfK1tXubo2P9SCv_tKxIS2CBG5WJXOY/view?usp=drive_link</a:t>
            </a:r>
            <a:br>
              <a:rPr lang="en-AU" sz="1200" dirty="0"/>
            </a:br>
            <a:endParaRPr lang="en-AU" sz="1200" dirty="0"/>
          </a:p>
        </p:txBody>
      </p:sp>
    </p:spTree>
    <p:extLst>
      <p:ext uri="{BB962C8B-B14F-4D97-AF65-F5344CB8AC3E}">
        <p14:creationId xmlns:p14="http://schemas.microsoft.com/office/powerpoint/2010/main" val="8388234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C2F0F-546A-0FBC-DF3B-B13AADB613F0}"/>
              </a:ext>
            </a:extLst>
          </p:cNvPr>
          <p:cNvSpPr>
            <a:spLocks noGrp="1"/>
          </p:cNvSpPr>
          <p:nvPr>
            <p:ph type="title"/>
          </p:nvPr>
        </p:nvSpPr>
        <p:spPr>
          <a:xfrm>
            <a:off x="1203388" y="123825"/>
            <a:ext cx="9785223" cy="619146"/>
          </a:xfrm>
        </p:spPr>
        <p:txBody>
          <a:bodyPr/>
          <a:lstStyle/>
          <a:p>
            <a:pPr algn="ctr"/>
            <a:r>
              <a:rPr lang="en-US" b="1" dirty="0"/>
              <a:t>Appendix F: Change Healthcare Case </a:t>
            </a:r>
            <a:r>
              <a:rPr lang="en-US" b="1" dirty="0" err="1"/>
              <a:t>Synthesised</a:t>
            </a:r>
            <a:r>
              <a:rPr lang="en-US" b="1" dirty="0"/>
              <a:t> Attack Tree</a:t>
            </a:r>
            <a:endParaRPr lang="en-AU" b="1" dirty="0"/>
          </a:p>
        </p:txBody>
      </p:sp>
      <p:pic>
        <p:nvPicPr>
          <p:cNvPr id="5" name="Picture 4">
            <a:extLst>
              <a:ext uri="{FF2B5EF4-FFF2-40B4-BE49-F238E27FC236}">
                <a16:creationId xmlns:a16="http://schemas.microsoft.com/office/drawing/2014/main" id="{C08BE145-4E03-D0DF-2A2D-06309D5849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42971"/>
            <a:ext cx="12192000" cy="5848329"/>
          </a:xfrm>
          <a:prstGeom prst="rect">
            <a:avLst/>
          </a:prstGeom>
        </p:spPr>
      </p:pic>
      <p:sp>
        <p:nvSpPr>
          <p:cNvPr id="6" name="TextBox 5">
            <a:extLst>
              <a:ext uri="{FF2B5EF4-FFF2-40B4-BE49-F238E27FC236}">
                <a16:creationId xmlns:a16="http://schemas.microsoft.com/office/drawing/2014/main" id="{14C2D953-EBFF-59F1-4FCA-A14C48CFA6BE}"/>
              </a:ext>
            </a:extLst>
          </p:cNvPr>
          <p:cNvSpPr txBox="1"/>
          <p:nvPr/>
        </p:nvSpPr>
        <p:spPr>
          <a:xfrm>
            <a:off x="2447564" y="6580286"/>
            <a:ext cx="7296869" cy="307777"/>
          </a:xfrm>
          <a:prstGeom prst="rect">
            <a:avLst/>
          </a:prstGeom>
          <a:noFill/>
        </p:spPr>
        <p:txBody>
          <a:bodyPr wrap="none" rtlCol="0">
            <a:spAutoFit/>
          </a:bodyPr>
          <a:lstStyle/>
          <a:p>
            <a:r>
              <a:rPr lang="en-AU" sz="1400" dirty="0">
                <a:hlinkClick r:id="rId3"/>
              </a:rPr>
              <a:t>https://drive.google.com/file/d/1Uv3Xc6BV9VGHMZ_LIEB1tR5tuOBkDhXa/view?usp=sharing</a:t>
            </a:r>
            <a:endParaRPr lang="en-AU" sz="1400" dirty="0"/>
          </a:p>
        </p:txBody>
      </p:sp>
    </p:spTree>
    <p:extLst>
      <p:ext uri="{BB962C8B-B14F-4D97-AF65-F5344CB8AC3E}">
        <p14:creationId xmlns:p14="http://schemas.microsoft.com/office/powerpoint/2010/main" val="2515040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431D0-47AD-5F67-9850-A2F367B7033D}"/>
              </a:ext>
            </a:extLst>
          </p:cNvPr>
          <p:cNvSpPr>
            <a:spLocks noGrp="1"/>
          </p:cNvSpPr>
          <p:nvPr>
            <p:ph type="title"/>
          </p:nvPr>
        </p:nvSpPr>
        <p:spPr>
          <a:xfrm>
            <a:off x="3260788" y="219074"/>
            <a:ext cx="5670423" cy="571521"/>
          </a:xfrm>
        </p:spPr>
        <p:txBody>
          <a:bodyPr/>
          <a:lstStyle/>
          <a:p>
            <a:pPr algn="ctr"/>
            <a:r>
              <a:rPr lang="en-AU" b="1" dirty="0"/>
              <a:t>Appendix G: Final Synthesised Tree</a:t>
            </a:r>
          </a:p>
        </p:txBody>
      </p:sp>
      <p:pic>
        <p:nvPicPr>
          <p:cNvPr id="5" name="Picture 4">
            <a:extLst>
              <a:ext uri="{FF2B5EF4-FFF2-40B4-BE49-F238E27FC236}">
                <a16:creationId xmlns:a16="http://schemas.microsoft.com/office/drawing/2014/main" id="{E22883C6-A4DD-F3C5-2494-2BCFD87DA3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74262"/>
            <a:ext cx="12191999" cy="5740838"/>
          </a:xfrm>
          <a:prstGeom prst="rect">
            <a:avLst/>
          </a:prstGeom>
        </p:spPr>
      </p:pic>
      <p:sp>
        <p:nvSpPr>
          <p:cNvPr id="6" name="TextBox 5">
            <a:extLst>
              <a:ext uri="{FF2B5EF4-FFF2-40B4-BE49-F238E27FC236}">
                <a16:creationId xmlns:a16="http://schemas.microsoft.com/office/drawing/2014/main" id="{F3076D45-075B-686E-9024-761E92EB868A}"/>
              </a:ext>
            </a:extLst>
          </p:cNvPr>
          <p:cNvSpPr txBox="1"/>
          <p:nvPr/>
        </p:nvSpPr>
        <p:spPr>
          <a:xfrm>
            <a:off x="2991431" y="6581001"/>
            <a:ext cx="6209136" cy="276999"/>
          </a:xfrm>
          <a:prstGeom prst="rect">
            <a:avLst/>
          </a:prstGeom>
          <a:noFill/>
        </p:spPr>
        <p:txBody>
          <a:bodyPr wrap="none" rtlCol="0">
            <a:spAutoFit/>
          </a:bodyPr>
          <a:lstStyle/>
          <a:p>
            <a:r>
              <a:rPr lang="en-AU" sz="1200" dirty="0">
                <a:hlinkClick r:id="rId3"/>
              </a:rPr>
              <a:t>https://drive.google.com/file/d/17Wx9up6d5auY9A5wpFIFoIOaSzseZXvO/view?usp=sharing</a:t>
            </a:r>
            <a:endParaRPr lang="en-AU" sz="1200" dirty="0"/>
          </a:p>
        </p:txBody>
      </p:sp>
    </p:spTree>
    <p:extLst>
      <p:ext uri="{BB962C8B-B14F-4D97-AF65-F5344CB8AC3E}">
        <p14:creationId xmlns:p14="http://schemas.microsoft.com/office/powerpoint/2010/main" val="1708172254"/>
      </p:ext>
    </p:extLst>
  </p:cSld>
  <p:clrMapOvr>
    <a:masterClrMapping/>
  </p:clrMapOvr>
</p:sld>
</file>

<file path=ppt/theme/theme1.xml><?xml version="1.0" encoding="utf-8"?>
<a:theme xmlns:a="http://schemas.openxmlformats.org/drawingml/2006/main" name="Dark Gradien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 id="{E11C298A-C952-4C7C-AD82-FDE632A020A2}" vid="{C429265E-EED5-40F2-8F51-E02F8E47A7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Dark Gradient</Template>
  <TotalTime>701</TotalTime>
  <Words>6038</Words>
  <Application>Microsoft Office PowerPoint</Application>
  <PresentationFormat>Widescreen</PresentationFormat>
  <Paragraphs>500</Paragraphs>
  <Slides>29</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Aptos</vt:lpstr>
      <vt:lpstr>Arial</vt:lpstr>
      <vt:lpstr>Arial Nova Light</vt:lpstr>
      <vt:lpstr>Dark Gradient</vt:lpstr>
      <vt:lpstr>Ransomware Extortion in Healthcare</vt:lpstr>
      <vt:lpstr>Investigation Scope and Preliminary Finding</vt:lpstr>
      <vt:lpstr>Healthcare Ransomware Extortion</vt:lpstr>
      <vt:lpstr>Investigation and Evidence Method</vt:lpstr>
      <vt:lpstr>HSE Conti Ransomware Incident, 2021</vt:lpstr>
      <vt:lpstr>HSE Manual and LLM Attack Trees</vt:lpstr>
      <vt:lpstr>HSE Manual and LLM Attack Tree Comparison</vt:lpstr>
      <vt:lpstr>HSE Case Synthesised Attack Tree</vt:lpstr>
      <vt:lpstr>HSE Case Synthesised Attack Tree Analysis</vt:lpstr>
      <vt:lpstr>Change Healthcare Ransomware Incident, 2024</vt:lpstr>
      <vt:lpstr>Change Healthcare Ransomware Incident, 2024 Assets and Consequences</vt:lpstr>
      <vt:lpstr>Change Healthcare Manual and LLM Tree Comparison</vt:lpstr>
      <vt:lpstr>Change Healthcare Manual and LLM Attack Tree Comparison</vt:lpstr>
      <vt:lpstr>PowerPoint Presentation</vt:lpstr>
      <vt:lpstr>Change Healthcare Case-Synthesised Attack Tree Analysis</vt:lpstr>
      <vt:lpstr>Cross Incident Comparison</vt:lpstr>
      <vt:lpstr>Final Synthesised Healthcare Ransomware Attack Tree</vt:lpstr>
      <vt:lpstr>Priority Risks and Recommendations</vt:lpstr>
      <vt:lpstr>Priority Areas for Further Investigation</vt:lpstr>
      <vt:lpstr>Executive Conclusion</vt:lpstr>
      <vt:lpstr>References Incident Evidence</vt:lpstr>
      <vt:lpstr>References Framework, Guidance, and Tools</vt:lpstr>
      <vt:lpstr>Appendix A: HSE Manual Attack Tree</vt:lpstr>
      <vt:lpstr>Appendix B: HSE LLM Output</vt:lpstr>
      <vt:lpstr>Appendix C: HSE Case Synthesis</vt:lpstr>
      <vt:lpstr>Appendix D: Change Healthcare Manual Tree</vt:lpstr>
      <vt:lpstr>Appendix E: Change Healthcare LLM Output</vt:lpstr>
      <vt:lpstr>Appendix F: Change Healthcare Case Synthesised Attack Tree</vt:lpstr>
      <vt:lpstr>Appendix G: Final Synthesised Tree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Khalid Bakhshi</dc:creator>
  <cp:lastModifiedBy>Khalid Bakhshi</cp:lastModifiedBy>
  <cp:revision>2</cp:revision>
  <dcterms:created xsi:type="dcterms:W3CDTF">2026-09-15T00:35:02Z</dcterms:created>
  <dcterms:modified xsi:type="dcterms:W3CDTF">2026-09-21T09:10:55Z</dcterms:modified>
</cp:coreProperties>
</file>